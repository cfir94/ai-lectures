
<file path=[Content_Types].xml><?xml version="1.0" encoding="utf-8"?>
<Types xmlns="http://schemas.openxmlformats.org/package/2006/content-types">
  <Default Extension="bin" ContentType="image/webp"/>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המעבר מצ׳אט לסוכן" id="{1C159B35-C3DF-4B0B-A06A-DA8E0139013F}">
          <p14:sldIdLst>
            <p14:sldId id="256"/>
            <p14:sldId id="257"/>
            <p14:sldId id="258"/>
          </p14:sldIdLst>
        </p14:section>
        <p14:section name="מה זה צ׳אט" id="{154A06E6-A13D-4F05-932E-3CC6476F27BC}">
          <p14:sldIdLst>
            <p14:sldId id="259"/>
            <p14:sldId id="260"/>
          </p14:sldIdLst>
        </p14:section>
        <p14:section name="שימושים בצ׳אט ופרומפטים" id="{47609A11-4FBE-416D-B84D-1632A6E43A4E}">
          <p14:sldIdLst>
            <p14:sldId id="261"/>
            <p14:sldId id="262"/>
            <p14:sldId id="263"/>
            <p14:sldId id="264"/>
            <p14:sldId id="265"/>
            <p14:sldId id="266"/>
            <p14:sldId id="267"/>
            <p14:sldId id="268"/>
          </p14:sldIdLst>
        </p14:section>
        <p14:section name="חיפוש מידע עם פרפלקסיטי" id="{C857BDD2-A98D-48B7-A36C-08F03D3D0163}">
          <p14:sldIdLst>
            <p14:sldId id="269"/>
            <p14:sldId id="270"/>
            <p14:sldId id="271"/>
          </p14:sldIdLst>
        </p14:section>
        <p14:section name="ניתוח מקורות עם נוטבוק אל אם" id="{378339C3-84B5-487F-8A13-D2A5410B6FCA}">
          <p14:sldIdLst>
            <p14:sldId id="272"/>
            <p14:sldId id="273"/>
            <p14:sldId id="274"/>
            <p14:sldId id="275"/>
          </p14:sldIdLst>
        </p14:section>
        <p14:section name="עבודה עם סוכן" id="{150EDA0A-CDD6-4123-9A75-FC019E4028EF}">
          <p14:sldIdLst>
            <p14:sldId id="276"/>
            <p14:sldId id="277"/>
            <p14:sldId id="278"/>
            <p14:sldId id="279"/>
            <p14:sldId id="280"/>
            <p14:sldId id="281"/>
          </p14:sldIdLst>
        </p14:section>
        <p14:section name="דברים מעניינים וסיום" id="{AAF2BEA1-214A-4266-8854-FA4F3A495CF5}">
          <p14:sldIdLst>
            <p14:sldId id="282"/>
            <p14:sldId id="283"/>
            <p14:sldId id="284"/>
            <p14:sldId id="285"/>
            <p14:sldId id="286"/>
            <p14:sldId id="28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כפיר יעקובי" userId="8374c8db-8d40-48aa-9b65-9d75a8bb3258" providerId="ADAL" clId="{458EC885-B2EA-467D-853E-13557AE174ED}"/>
    <pc:docChg chg="custSel modSld">
      <pc:chgData name="כפיר יעקובי" userId="8374c8db-8d40-48aa-9b65-9d75a8bb3258" providerId="ADAL" clId="{458EC885-B2EA-467D-853E-13557AE174ED}" dt="2026-10-13T18:05:11.224" v="803"/>
      <pc:docMkLst>
        <pc:docMk/>
      </pc:docMkLst>
      <pc:sldChg chg="modTransition modAnim modNotes">
        <pc:chgData name="כפיר יעקובי" userId="8374c8db-8d40-48aa-9b65-9d75a8bb3258" providerId="ADAL" clId="{458EC885-B2EA-467D-853E-13557AE174ED}" dt="2026-10-13T17:59:38.454" v="26" actId="20577"/>
        <pc:sldMkLst>
          <pc:docMk/>
          <pc:sldMk cId="391470947" sldId="256"/>
        </pc:sldMkLst>
      </pc:sldChg>
      <pc:sldChg chg="modTransition modAnim modNotes">
        <pc:chgData name="כפיר יעקובי" userId="8374c8db-8d40-48aa-9b65-9d75a8bb3258" providerId="ADAL" clId="{458EC885-B2EA-467D-853E-13557AE174ED}" dt="2026-10-13T17:59:38.584" v="43" actId="20577"/>
        <pc:sldMkLst>
          <pc:docMk/>
          <pc:sldMk cId="1273110174" sldId="257"/>
        </pc:sldMkLst>
      </pc:sldChg>
      <pc:sldChg chg="modTransition modAnim modNotes">
        <pc:chgData name="כפיר יעקובי" userId="8374c8db-8d40-48aa-9b65-9d75a8bb3258" providerId="ADAL" clId="{458EC885-B2EA-467D-853E-13557AE174ED}" dt="2026-10-13T17:59:38.695" v="70" actId="20577"/>
        <pc:sldMkLst>
          <pc:docMk/>
          <pc:sldMk cId="675981289" sldId="258"/>
        </pc:sldMkLst>
      </pc:sldChg>
      <pc:sldChg chg="modTransition modAnim modNotes">
        <pc:chgData name="כפיר יעקובי" userId="8374c8db-8d40-48aa-9b65-9d75a8bb3258" providerId="ADAL" clId="{458EC885-B2EA-467D-853E-13557AE174ED}" dt="2026-10-13T17:59:38.832" v="87" actId="20577"/>
        <pc:sldMkLst>
          <pc:docMk/>
          <pc:sldMk cId="30334148" sldId="259"/>
        </pc:sldMkLst>
      </pc:sldChg>
      <pc:sldChg chg="modTransition modAnim modNotes">
        <pc:chgData name="כפיר יעקובי" userId="8374c8db-8d40-48aa-9b65-9d75a8bb3258" providerId="ADAL" clId="{458EC885-B2EA-467D-853E-13557AE174ED}" dt="2026-10-13T17:59:38.983" v="104" actId="20577"/>
        <pc:sldMkLst>
          <pc:docMk/>
          <pc:sldMk cId="1683092378" sldId="260"/>
        </pc:sldMkLst>
      </pc:sldChg>
      <pc:sldChg chg="modTransition modAnim modNotes">
        <pc:chgData name="כפיר יעקובי" userId="8374c8db-8d40-48aa-9b65-9d75a8bb3258" providerId="ADAL" clId="{458EC885-B2EA-467D-853E-13557AE174ED}" dt="2026-10-13T17:59:39.204" v="141" actId="20577"/>
        <pc:sldMkLst>
          <pc:docMk/>
          <pc:sldMk cId="722356636" sldId="261"/>
        </pc:sldMkLst>
      </pc:sldChg>
      <pc:sldChg chg="modTransition modAnim modNotes">
        <pc:chgData name="כפיר יעקובי" userId="8374c8db-8d40-48aa-9b65-9d75a8bb3258" providerId="ADAL" clId="{458EC885-B2EA-467D-853E-13557AE174ED}" dt="2026-10-13T17:59:39.312" v="168" actId="20577"/>
        <pc:sldMkLst>
          <pc:docMk/>
          <pc:sldMk cId="1205228560" sldId="262"/>
        </pc:sldMkLst>
      </pc:sldChg>
      <pc:sldChg chg="modTransition modAnim modNotes">
        <pc:chgData name="כפיר יעקובי" userId="8374c8db-8d40-48aa-9b65-9d75a8bb3258" providerId="ADAL" clId="{458EC885-B2EA-467D-853E-13557AE174ED}" dt="2026-10-13T17:59:39.596" v="195" actId="20577"/>
        <pc:sldMkLst>
          <pc:docMk/>
          <pc:sldMk cId="1009713313" sldId="263"/>
        </pc:sldMkLst>
      </pc:sldChg>
      <pc:sldChg chg="modTransition modAnim modNotes">
        <pc:chgData name="כפיר יעקובי" userId="8374c8db-8d40-48aa-9b65-9d75a8bb3258" providerId="ADAL" clId="{458EC885-B2EA-467D-853E-13557AE174ED}" dt="2026-10-13T17:59:39.869" v="222" actId="20577"/>
        <pc:sldMkLst>
          <pc:docMk/>
          <pc:sldMk cId="1229355876" sldId="264"/>
        </pc:sldMkLst>
      </pc:sldChg>
      <pc:sldChg chg="modTransition modAnim modNotes">
        <pc:chgData name="כפיר יעקובי" userId="8374c8db-8d40-48aa-9b65-9d75a8bb3258" providerId="ADAL" clId="{458EC885-B2EA-467D-853E-13557AE174ED}" dt="2026-10-13T17:59:40.174" v="249" actId="20577"/>
        <pc:sldMkLst>
          <pc:docMk/>
          <pc:sldMk cId="86274016" sldId="265"/>
        </pc:sldMkLst>
      </pc:sldChg>
      <pc:sldChg chg="modTransition modAnim modNotes">
        <pc:chgData name="כפיר יעקובי" userId="8374c8db-8d40-48aa-9b65-9d75a8bb3258" providerId="ADAL" clId="{458EC885-B2EA-467D-853E-13557AE174ED}" dt="2026-10-13T17:59:40.811" v="276" actId="20577"/>
        <pc:sldMkLst>
          <pc:docMk/>
          <pc:sldMk cId="206917248" sldId="266"/>
        </pc:sldMkLst>
      </pc:sldChg>
      <pc:sldChg chg="modTransition modAnim modNotes">
        <pc:chgData name="כפיר יעקובי" userId="8374c8db-8d40-48aa-9b65-9d75a8bb3258" providerId="ADAL" clId="{458EC885-B2EA-467D-853E-13557AE174ED}" dt="2026-10-13T17:59:40.936" v="303" actId="20577"/>
        <pc:sldMkLst>
          <pc:docMk/>
          <pc:sldMk cId="960350304" sldId="267"/>
        </pc:sldMkLst>
      </pc:sldChg>
      <pc:sldChg chg="modTransition modAnim modNotes">
        <pc:chgData name="כפיר יעקובי" userId="8374c8db-8d40-48aa-9b65-9d75a8bb3258" providerId="ADAL" clId="{458EC885-B2EA-467D-853E-13557AE174ED}" dt="2026-10-13T17:59:41.011" v="325" actId="20577"/>
        <pc:sldMkLst>
          <pc:docMk/>
          <pc:sldMk cId="130916965" sldId="268"/>
        </pc:sldMkLst>
      </pc:sldChg>
      <pc:sldChg chg="modTransition modAnim modNotes">
        <pc:chgData name="כפיר יעקובי" userId="8374c8db-8d40-48aa-9b65-9d75a8bb3258" providerId="ADAL" clId="{458EC885-B2EA-467D-853E-13557AE174ED}" dt="2026-10-13T17:59:41.140" v="352" actId="20577"/>
        <pc:sldMkLst>
          <pc:docMk/>
          <pc:sldMk cId="1741467057" sldId="269"/>
        </pc:sldMkLst>
      </pc:sldChg>
      <pc:sldChg chg="modTransition modAnim modNotes">
        <pc:chgData name="כפיר יעקובי" userId="8374c8db-8d40-48aa-9b65-9d75a8bb3258" providerId="ADAL" clId="{458EC885-B2EA-467D-853E-13557AE174ED}" dt="2026-10-13T17:59:41.378" v="379" actId="20577"/>
        <pc:sldMkLst>
          <pc:docMk/>
          <pc:sldMk cId="1862729501" sldId="270"/>
        </pc:sldMkLst>
      </pc:sldChg>
      <pc:sldChg chg="modTransition modAnim modNotes">
        <pc:chgData name="כפיר יעקובי" userId="8374c8db-8d40-48aa-9b65-9d75a8bb3258" providerId="ADAL" clId="{458EC885-B2EA-467D-853E-13557AE174ED}" dt="2026-10-13T17:59:41.644" v="406" actId="20577"/>
        <pc:sldMkLst>
          <pc:docMk/>
          <pc:sldMk cId="97334033" sldId="271"/>
        </pc:sldMkLst>
      </pc:sldChg>
      <pc:sldChg chg="modTransition modAnim modNotes">
        <pc:chgData name="כפיר יעקובי" userId="8374c8db-8d40-48aa-9b65-9d75a8bb3258" providerId="ADAL" clId="{458EC885-B2EA-467D-853E-13557AE174ED}" dt="2026-10-13T17:59:41.781" v="433" actId="20577"/>
        <pc:sldMkLst>
          <pc:docMk/>
          <pc:sldMk cId="582509159" sldId="272"/>
        </pc:sldMkLst>
      </pc:sldChg>
      <pc:sldChg chg="modTransition modAnim modNotes">
        <pc:chgData name="כפיר יעקובי" userId="8374c8db-8d40-48aa-9b65-9d75a8bb3258" providerId="ADAL" clId="{458EC885-B2EA-467D-853E-13557AE174ED}" dt="2026-10-13T17:59:41.907" v="475" actId="20577"/>
        <pc:sldMkLst>
          <pc:docMk/>
          <pc:sldMk cId="951320127" sldId="273"/>
        </pc:sldMkLst>
      </pc:sldChg>
      <pc:sldChg chg="modTransition modAnim modNotes">
        <pc:chgData name="כפיר יעקובי" userId="8374c8db-8d40-48aa-9b65-9d75a8bb3258" providerId="ADAL" clId="{458EC885-B2EA-467D-853E-13557AE174ED}" dt="2026-10-13T17:59:42.078" v="502" actId="20577"/>
        <pc:sldMkLst>
          <pc:docMk/>
          <pc:sldMk cId="1208538019" sldId="274"/>
        </pc:sldMkLst>
      </pc:sldChg>
      <pc:sldChg chg="modTransition modAnim modNotes">
        <pc:chgData name="כפיר יעקובי" userId="8374c8db-8d40-48aa-9b65-9d75a8bb3258" providerId="ADAL" clId="{458EC885-B2EA-467D-853E-13557AE174ED}" dt="2026-10-13T17:59:42.343" v="529" actId="20577"/>
        <pc:sldMkLst>
          <pc:docMk/>
          <pc:sldMk cId="650675372" sldId="275"/>
        </pc:sldMkLst>
      </pc:sldChg>
      <pc:sldChg chg="modTransition modAnim modNotes">
        <pc:chgData name="כפיר יעקובי" userId="8374c8db-8d40-48aa-9b65-9d75a8bb3258" providerId="ADAL" clId="{458EC885-B2EA-467D-853E-13557AE174ED}" dt="2026-10-13T17:59:42.442" v="546" actId="20577"/>
        <pc:sldMkLst>
          <pc:docMk/>
          <pc:sldMk cId="2135440162" sldId="276"/>
        </pc:sldMkLst>
      </pc:sldChg>
      <pc:sldChg chg="modTransition modAnim modNotes">
        <pc:chgData name="כפיר יעקובי" userId="8374c8db-8d40-48aa-9b65-9d75a8bb3258" providerId="ADAL" clId="{458EC885-B2EA-467D-853E-13557AE174ED}" dt="2026-10-13T17:59:42.804" v="573" actId="20577"/>
        <pc:sldMkLst>
          <pc:docMk/>
          <pc:sldMk cId="1397377556" sldId="277"/>
        </pc:sldMkLst>
      </pc:sldChg>
      <pc:sldChg chg="modTransition modAnim modNotes">
        <pc:chgData name="כפיר יעקובי" userId="8374c8db-8d40-48aa-9b65-9d75a8bb3258" providerId="ADAL" clId="{458EC885-B2EA-467D-853E-13557AE174ED}" dt="2026-10-13T17:59:43.178" v="600" actId="20577"/>
        <pc:sldMkLst>
          <pc:docMk/>
          <pc:sldMk cId="1940686014" sldId="278"/>
        </pc:sldMkLst>
      </pc:sldChg>
      <pc:sldChg chg="modTransition modAnim modNotes">
        <pc:chgData name="כפיר יעקובי" userId="8374c8db-8d40-48aa-9b65-9d75a8bb3258" providerId="ADAL" clId="{458EC885-B2EA-467D-853E-13557AE174ED}" dt="2026-10-13T17:59:43.595" v="627" actId="20577"/>
        <pc:sldMkLst>
          <pc:docMk/>
          <pc:sldMk cId="1288955351" sldId="279"/>
        </pc:sldMkLst>
      </pc:sldChg>
      <pc:sldChg chg="modTransition modAnim modNotes">
        <pc:chgData name="כפיר יעקובי" userId="8374c8db-8d40-48aa-9b65-9d75a8bb3258" providerId="ADAL" clId="{458EC885-B2EA-467D-853E-13557AE174ED}" dt="2026-10-13T17:59:43.678" v="644" actId="20577"/>
        <pc:sldMkLst>
          <pc:docMk/>
          <pc:sldMk cId="808298526" sldId="280"/>
        </pc:sldMkLst>
      </pc:sldChg>
      <pc:sldChg chg="modTransition modAnim modNotes">
        <pc:chgData name="כפיר יעקובי" userId="8374c8db-8d40-48aa-9b65-9d75a8bb3258" providerId="ADAL" clId="{458EC885-B2EA-467D-853E-13557AE174ED}" dt="2026-10-13T17:59:44.315" v="671" actId="20577"/>
        <pc:sldMkLst>
          <pc:docMk/>
          <pc:sldMk cId="2086143488" sldId="281"/>
        </pc:sldMkLst>
      </pc:sldChg>
      <pc:sldChg chg="modTransition modAnim modNotes">
        <pc:chgData name="כפיר יעקובי" userId="8374c8db-8d40-48aa-9b65-9d75a8bb3258" providerId="ADAL" clId="{458EC885-B2EA-467D-853E-13557AE174ED}" dt="2026-10-13T17:59:44.408" v="688" actId="20577"/>
        <pc:sldMkLst>
          <pc:docMk/>
          <pc:sldMk cId="1187226900" sldId="282"/>
        </pc:sldMkLst>
      </pc:sldChg>
      <pc:sldChg chg="modTransition modAnim modNotes">
        <pc:chgData name="כפיר יעקובי" userId="8374c8db-8d40-48aa-9b65-9d75a8bb3258" providerId="ADAL" clId="{458EC885-B2EA-467D-853E-13557AE174ED}" dt="2026-10-13T17:59:44.632" v="710" actId="20577"/>
        <pc:sldMkLst>
          <pc:docMk/>
          <pc:sldMk cId="200671330" sldId="283"/>
        </pc:sldMkLst>
      </pc:sldChg>
      <pc:sldChg chg="modSp mod modTransition modAnim modNotes">
        <pc:chgData name="כפיר יעקובי" userId="8374c8db-8d40-48aa-9b65-9d75a8bb3258" providerId="ADAL" clId="{458EC885-B2EA-467D-853E-13557AE174ED}" dt="2026-10-13T18:05:11.224" v="803"/>
        <pc:sldMkLst>
          <pc:docMk/>
          <pc:sldMk cId="1331047172" sldId="284"/>
        </pc:sldMkLst>
        <pc:spChg chg="mod">
          <ac:chgData name="כפיר יעקובי" userId="8374c8db-8d40-48aa-9b65-9d75a8bb3258" providerId="ADAL" clId="{458EC885-B2EA-467D-853E-13557AE174ED}" dt="2026-10-13T18:05:11.214" v="799"/>
          <ac:spMkLst>
            <pc:docMk/>
            <pc:sldMk cId="1331047172" sldId="284"/>
            <ac:spMk id="2" creationId="{E70029B5-BDCD-4F7D-BD85-9657985A355A}"/>
          </ac:spMkLst>
        </pc:spChg>
        <pc:spChg chg="mod">
          <ac:chgData name="כפיר יעקובי" userId="8374c8db-8d40-48aa-9b65-9d75a8bb3258" providerId="ADAL" clId="{458EC885-B2EA-467D-853E-13557AE174ED}" dt="2026-10-13T18:05:11.224" v="803"/>
          <ac:spMkLst>
            <pc:docMk/>
            <pc:sldMk cId="1331047172" sldId="284"/>
            <ac:spMk id="4" creationId="{A9499B7C-496B-4147-9C13-CAA369C374DD}"/>
          </ac:spMkLst>
        </pc:spChg>
      </pc:sldChg>
      <pc:sldChg chg="modTransition modAnim modNotes">
        <pc:chgData name="כפיר יעקובי" userId="8374c8db-8d40-48aa-9b65-9d75a8bb3258" providerId="ADAL" clId="{458EC885-B2EA-467D-853E-13557AE174ED}" dt="2026-10-13T17:59:44.903" v="754" actId="20577"/>
        <pc:sldMkLst>
          <pc:docMk/>
          <pc:sldMk cId="1061180407" sldId="285"/>
        </pc:sldMkLst>
      </pc:sldChg>
      <pc:sldChg chg="modTransition modAnim modNotes">
        <pc:chgData name="כפיר יעקובי" userId="8374c8db-8d40-48aa-9b65-9d75a8bb3258" providerId="ADAL" clId="{458EC885-B2EA-467D-853E-13557AE174ED}" dt="2026-10-13T17:59:44.995" v="771" actId="20577"/>
        <pc:sldMkLst>
          <pc:docMk/>
          <pc:sldMk cId="1455433036" sldId="286"/>
        </pc:sldMkLst>
      </pc:sldChg>
      <pc:sldChg chg="modTransition modAnim modNotes">
        <pc:chgData name="כפיר יעקובי" userId="8374c8db-8d40-48aa-9b65-9d75a8bb3258" providerId="ADAL" clId="{458EC885-B2EA-467D-853E-13557AE174ED}" dt="2026-10-13T17:59:45.106" v="798" actId="20577"/>
        <pc:sldMkLst>
          <pc:docMk/>
          <pc:sldMk cId="1093091920" sldId="28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00:00–00:02 | פתיחה. להציג את ההקשר: קורס לצוות בית הספר האקדמי לסיעוד בני ציון, משתתפים מרפואה, סיעוד, הוראה ואדמיניסטרציה. המטרה היום היא תוצר קטן ושימושי שכל אחד יודע לבדוק.</a:t>
            </a:r>
          </a:p>
          <a:p>
            <a:pPr rtl="1"/>
            <a:endParaRPr lang="he-IL"/>
          </a:p>
          <a:p>
            <a:pPr rtl="1"/>
            <a:r>
              <a:rPr lang="he-IL"/>
              <a:t>קהל: 11 משתתפים מרפואה ואדמיניסטרציה, מחשבים אישיים וללא מנוי בתשלום.</a:t>
            </a:r>
          </a:p>
          <a:p>
            <a:pPr rtl="1"/>
            <a:endParaRPr lang="he-IL"/>
          </a:p>
          <a:p>
            <a:pPr rtl="1"/>
            <a:r>
              <a:rPr lang="he-IL"/>
              <a:t>איור או צילום: אסט מתוך המצגת הקיימת של המרצה, שסופק על ידו.</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00:02–00:05 | סבב מהיר, עד 15 שניות לכל משתתף: תפקיד, ניסיון קודם ומשימה חוזרת. לרשום שלוש דוגמאות ולחזור אליהן בזמן התרגול. אין לשתף שמות מטופלים או פרטי מקרה.</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00:05–00:06 | הצגה אישית קצרה. להסביר שתוצר </a:t>
            </a:r>
            <a:r>
              <a:rPr lang="en-US"/>
              <a:t>AI </a:t>
            </a:r>
            <a:r>
              <a:rPr lang="he-IL"/>
              <a:t>הוא טיוטה, וששיקול הדעת המקצועי נשאר אצל המשתתף.</a:t>
            </a:r>
          </a:p>
          <a:p>
            <a:pPr rtl="1"/>
            <a:endParaRPr lang="he-IL"/>
          </a:p>
          <a:p>
            <a:pPr rtl="1"/>
            <a:r>
              <a:rPr lang="he-IL"/>
              <a:t>קהל: 11 משתתפים מרפואה ואדמיניסטרציה, מחשבים אישיים וללא מנוי בתשלום.</a:t>
            </a:r>
          </a:p>
          <a:p>
            <a:pPr rtl="1"/>
            <a:endParaRPr lang="he-IL"/>
          </a:p>
          <a:p>
            <a:pPr rtl="1"/>
            <a:r>
              <a:rPr lang="he-IL"/>
              <a:t>איור או צילום: אסט מתוך המצגת הקיימת של המרצה, שסופק על ידו.</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00:08–00:14 | מודל שפה מייצר המשך לפי הקשר ודפוסים. השיחה היא ממשק לעבודה עם המודל; היא אינה אדם ולא מקור סמכות. אפשר לנסח, להסביר ולסכם. להראות שאלה אחת ולהמשיך בשיחה במקום לפתוח חדשה.</a:t>
            </a:r>
          </a:p>
          <a:p>
            <a:pPr rtl="1"/>
            <a:endParaRPr lang="he-IL"/>
          </a:p>
          <a:p>
            <a:pPr rtl="1"/>
            <a:r>
              <a:rPr lang="he-IL"/>
              <a:t>קהל: 11 משתתפים מרפואה ואדמיניסטרציה, מחשבים אישיים וללא מנוי בתשלום.</a:t>
            </a:r>
          </a:p>
          <a:p>
            <a:pPr rtl="1"/>
            <a:endParaRPr lang="he-IL"/>
          </a:p>
          <a:p>
            <a:pPr rtl="1"/>
            <a:r>
              <a:rPr lang="he-IL"/>
              <a:t>איור או צילום: אסט מתוך המצגת הקיימת של המרצה, שסופק על ידו.</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00:14–00:20 | גם ניסוח משכנע יכול להיות שגוי. אין להזין שמות, תיקים, פרטים אישיים או מידע ארגוני רגיש. משתמשים רק בשלושת מסמכי התרגול שסופקו. אין לקבל החלטות קליניות באמצעות התרגילים.</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https://www.who.int/news/item/18-01-2024-who-releases-ai-ethics-and-governance-guidance-for-large-multi-modal-models</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00:20–00:25 | ארבעה כלים חלופיים. בוחרים אחד בחשבון חינמי, לא נדרשת הרשמה למנוי. להיכנס עכשיו לכלי אחד; לעבוד בזוג אם חסום. לא לסקור ארבעה ממשקים במלואם.</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https://help.openai.com/en/articles/8555545-file-uploads-faq</a:t>
            </a:r>
          </a:p>
          <a:p>
            <a:pPr rtl="1"/>
            <a:r>
              <a:rPr lang="en-US"/>
              <a:t>https://support.claude.com/en/articles/11049762-choose-a-claude-plan</a:t>
            </a:r>
          </a:p>
          <a:p>
            <a:pPr rtl="1"/>
            <a:r>
              <a:rPr lang="en-US"/>
              <a:t>https://support.microsoft.com/en-gb/microsoft-365-copilot/what-s-the-difference-between-microsoft-copilot-free-and-copilot-in-microsoft-365</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00:25–00:30 | מסגרת קצרה. להראות את המסמך הפיקטיבי א, לבחור קהל ותוצר ולהגדיר גבולות. אלה כלי עבודה, לא נוסחה שמבטיחה תשובה נכונה.</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00:30–00:38 | הדגמה: </a:t>
            </a:r>
            <a:r>
              <a:rPr lang="en-US"/>
              <a:t>P02 </a:t>
            </a:r>
            <a:r>
              <a:rPr lang="he-IL"/>
              <a:t>כולל כבר את מסמך א בדף ההעתקה. לקרוא את התוצר מול המקור. להמשיך עם </a:t>
            </a:r>
            <a:r>
              <a:rPr lang="en-US"/>
              <a:t>P05 </a:t>
            </a:r>
            <a:r>
              <a:rPr lang="he-IL"/>
              <a:t>כדי לשפר ניסוח ו־</a:t>
            </a:r>
            <a:r>
              <a:rPr lang="en-US"/>
              <a:t>P06 </a:t>
            </a:r>
            <a:r>
              <a:rPr lang="he-IL"/>
              <a:t>לבדיקת פרטים. המעבר לשיפור נעשה באותה שיחה.</a:t>
            </a:r>
          </a:p>
          <a:p>
            <a:pPr rtl="1"/>
            <a:endParaRPr lang="he-IL"/>
          </a:p>
          <a:p>
            <a:pPr rtl="1"/>
            <a:r>
              <a:rPr lang="he-IL"/>
              <a:t>פרומפטים להעתקה</a:t>
            </a:r>
          </a:p>
          <a:p>
            <a:pPr rtl="1"/>
            <a:r>
              <a:rPr lang="en-US"/>
              <a:t>P02 — </a:t>
            </a:r>
            <a:r>
              <a:rPr lang="he-IL"/>
              <a:t>הודעה למטופלים ולמלווים</a:t>
            </a:r>
          </a:p>
          <a:p>
            <a:pPr rtl="1"/>
            <a:r>
              <a:rPr lang="he-IL"/>
              <a:t>אני מכין טיוטת הודעה למטופלים ולמלווים על מפגש הדרכה כללי. כתוב בעברית פשוטה ומכבדת, עד 90 מילים. כלול מטרה, שעה, מקום, מועד הגעה ומה להביא. הפרד בין עובדות המקור לבין פרטים חסרים.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בדיקה: 09:00, חדר 2, הגעה 08:45, 45 דקות. אין צום, תרופות או טלפון מומצא.</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00:38–00:43 | דוגמה מנהלית. הפרומפט המלא עם המקור נמצא ב־</a:t>
            </a:r>
            <a:r>
              <a:rPr lang="en-US"/>
              <a:t>P03. </a:t>
            </a:r>
            <a:r>
              <a:rPr lang="he-IL"/>
              <a:t>לבדוק 11 משתתפים, מחשבים, מקרן, הפסקה ותפקידים. אפשר לבצע בכל כלי צ׳אט; הלוגו מסמן כלי הדגמה בלבד.</a:t>
            </a:r>
          </a:p>
          <a:p>
            <a:pPr rtl="1"/>
            <a:endParaRPr lang="he-IL"/>
          </a:p>
          <a:p>
            <a:pPr rtl="1"/>
            <a:r>
              <a:rPr lang="he-IL"/>
              <a:t>פרומפטים להעתקה</a:t>
            </a:r>
          </a:p>
          <a:p>
            <a:pPr rtl="1"/>
            <a:r>
              <a:rPr lang="en-US"/>
              <a:t>P03 — </a:t>
            </a:r>
            <a:r>
              <a:rPr lang="he-IL"/>
              <a:t>תדרוך צוות מנהלי</a:t>
            </a:r>
          </a:p>
          <a:p>
            <a:pPr rtl="1"/>
            <a:r>
              <a:rPr lang="he-IL"/>
              <a:t>הכן טיוטת תדרוך קצר לרכזת הדרכה מתוך המסמך. הצג בטבלה: מתי, הפעולה, האחראי, ומה לא מוגדר. השתמש רק בתפקידים שבמקור.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11 משתתפים; רכזת, מחשוב ומרצה בתפקידים הנכונים. אין </a:t>
            </a:r>
            <a:r>
              <a:rPr lang="en-US"/>
              <a:t>SLA </a:t>
            </a:r>
            <a:r>
              <a:rPr lang="he-IL"/>
              <a:t>או תקציב מומצאים.</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00:43–00:48 | דוגמה להוראה. אין ליצור שאלות קליניות שלא נמצאות במקור. להראות תשובה אחת עם הסעיף ושאלה חסרה. דף ההעתקה כולל כבר את המסמך.</a:t>
            </a:r>
          </a:p>
          <a:p>
            <a:pPr rtl="1"/>
            <a:endParaRPr lang="he-IL"/>
          </a:p>
          <a:p>
            <a:pPr rtl="1"/>
            <a:r>
              <a:rPr lang="he-IL"/>
              <a:t>פרומפטים להעתקה</a:t>
            </a:r>
          </a:p>
          <a:p>
            <a:pPr rtl="1"/>
            <a:r>
              <a:rPr lang="en-US"/>
              <a:t>P04 — </a:t>
            </a:r>
            <a:r>
              <a:rPr lang="he-IL"/>
              <a:t>תרגיל לסגל הוראה</a:t>
            </a:r>
          </a:p>
          <a:p>
            <a:pPr rtl="1"/>
            <a:r>
              <a:rPr lang="he-IL"/>
              <a:t>אני מלמד צוות חדש לקרוא מסמך ולזהות מידע חסר. בנה שלוש שאלות על המסמך המצורף, עם תשובה קצרה והסעיף שעליו היא מבוססת. הוסף שאלה אחת שאין לה תשובה במקור וציין זאת.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כל תשובה נתמכת בסעיף אמיתי. השאלה החסרה אינה מקבלת תשובה מומצאת.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00:48–01:03 | 15 דקות. </a:t>
            </a:r>
            <a:r>
              <a:rPr lang="en-US"/>
              <a:t>P02 </a:t>
            </a:r>
            <a:r>
              <a:rPr lang="he-IL"/>
              <a:t>לרפואה וסיעוד, </a:t>
            </a:r>
            <a:r>
              <a:rPr lang="en-US"/>
              <a:t>P03 </a:t>
            </a:r>
            <a:r>
              <a:rPr lang="he-IL"/>
              <a:t>למנהלה, </a:t>
            </a:r>
            <a:r>
              <a:rPr lang="en-US"/>
              <a:t>P04 </a:t>
            </a:r>
            <a:r>
              <a:rPr lang="he-IL"/>
              <a:t>להוראה; אחר כך </a:t>
            </a:r>
            <a:r>
              <a:rPr lang="en-US"/>
              <a:t>P05 </a:t>
            </a:r>
            <a:r>
              <a:rPr lang="he-IL"/>
              <a:t>ו־</a:t>
            </a:r>
            <a:r>
              <a:rPr lang="en-US"/>
              <a:t>P06 </a:t>
            </a:r>
            <a:r>
              <a:rPr lang="he-IL"/>
              <a:t>באותה שיחה. לא לרוץ על שלוש הדוגמאות. שומרים את הטיוטה, הפרומפט ושני פרטים שבדקתם.</a:t>
            </a:r>
          </a:p>
          <a:p>
            <a:pPr rtl="1"/>
            <a:endParaRPr lang="he-IL"/>
          </a:p>
          <a:p>
            <a:pPr rtl="1"/>
            <a:r>
              <a:rPr lang="he-IL"/>
              <a:t>פרומפטים להעתקה</a:t>
            </a:r>
          </a:p>
          <a:p>
            <a:pPr rtl="1"/>
            <a:r>
              <a:rPr lang="en-US"/>
              <a:t>P02 — </a:t>
            </a:r>
            <a:r>
              <a:rPr lang="he-IL"/>
              <a:t>הודעה למטופלים ולמלווים</a:t>
            </a:r>
          </a:p>
          <a:p>
            <a:pPr rtl="1"/>
            <a:r>
              <a:rPr lang="he-IL"/>
              <a:t>אני מכין טיוטת הודעה למטופלים ולמלווים על מפגש הדרכה כללי. כתוב בעברית פשוטה ומכבדת, עד 90 מילים. כלול מטרה, שעה, מקום, מועד הגעה ומה להביא. הפרד בין עובדות המקור לבין פרטים חסרים.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בדיקה: 09:00, חדר 2, הגעה 08:45, 45 דקות. אין צום, תרופות או טלפון מומצא.</a:t>
            </a:r>
          </a:p>
          <a:p>
            <a:pPr rtl="1"/>
            <a:endParaRPr lang="he-IL"/>
          </a:p>
          <a:p>
            <a:pPr rtl="1"/>
            <a:r>
              <a:rPr lang="en-US"/>
              <a:t>P03 — </a:t>
            </a:r>
            <a:r>
              <a:rPr lang="he-IL"/>
              <a:t>תדרוך צוות מנהלי</a:t>
            </a:r>
          </a:p>
          <a:p>
            <a:pPr rtl="1"/>
            <a:r>
              <a:rPr lang="he-IL"/>
              <a:t>הכן טיוטת תדרוך קצר לרכזת הדרכה מתוך המסמך. הצג בטבלה: מתי, הפעולה, האחראי, ומה לא מוגדר. השתמש רק בתפקידים שבמקור.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11 משתתפים; רכזת, מחשוב ומרצה בתפקידים הנכונים. אין </a:t>
            </a:r>
            <a:r>
              <a:rPr lang="en-US"/>
              <a:t>SLA </a:t>
            </a:r>
            <a:r>
              <a:rPr lang="he-IL"/>
              <a:t>או תקציב מומצאים.</a:t>
            </a:r>
          </a:p>
          <a:p>
            <a:pPr rtl="1"/>
            <a:endParaRPr lang="he-IL"/>
          </a:p>
          <a:p>
            <a:pPr rtl="1"/>
            <a:r>
              <a:rPr lang="en-US"/>
              <a:t>P04 — </a:t>
            </a:r>
            <a:r>
              <a:rPr lang="he-IL"/>
              <a:t>תרגיל לסגל הוראה</a:t>
            </a:r>
          </a:p>
          <a:p>
            <a:pPr rtl="1"/>
            <a:r>
              <a:rPr lang="he-IL"/>
              <a:t>אני מלמד צוות חדש לקרוא מסמך ולזהות מידע חסר. בנה שלוש שאלות על המסמך המצורף, עם תשובה קצרה והסעיף שעליו היא מבוססת. הוסף שאלה אחת שאין לה תשובה במקור וציין זאת.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כל תשובה נתמכת בסעיף אמיתי. השאלה החסרה אינה מקבלת תשובה מומצאת.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01:03–01:20 | בדיקת עמית בזוגות, שתי דוגמאות קצרות ושאלות. להראות לפי הצורך הוספת קובץ והעתקה ל־</a:t>
            </a:r>
            <a:r>
              <a:rPr lang="en-US"/>
              <a:t>Word. </a:t>
            </a:r>
            <a:r>
              <a:rPr lang="he-IL"/>
              <a:t>אם מסיימים מוקדם, משפרים טיוטה ולא מוסיפים כלי. לשמור על הפסקה אחרי 80 דקות.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01:20–01:35 | 15 דקות בדיוק. מי שרוצה יכול להיכנס ל־</a:t>
            </a:r>
            <a:r>
              <a:rPr lang="en-US"/>
              <a:t>Perplexity </a:t>
            </a:r>
            <a:r>
              <a:rPr lang="he-IL"/>
              <a:t>ול־</a:t>
            </a:r>
            <a:r>
              <a:rPr lang="en-US"/>
              <a:t>NotebookLM, </a:t>
            </a:r>
            <a:r>
              <a:rPr lang="he-IL"/>
              <a:t>אבל זו אינה מטלה בזמן ההפסקה. אין להתחיל הרשמה לתשלום.</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01:35–01:40 | חלק 3: </a:t>
            </a:r>
            <a:r>
              <a:rPr lang="en-US"/>
              <a:t>Perplexity. </a:t>
            </a:r>
            <a:r>
              <a:rPr lang="he-IL"/>
              <a:t>חיפוש רגיל בחשבון חינמי, לא מצב שדורש תשלום. לפתוח קישורים בפועל. בחלופה משתמשים בחיפוש רגיל בדפדפן. מקור ישן אינו הופך לעדכון מהשנה.</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https://www.perplexity.ai/hub</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en-US"/>
              <a:t>01:40–01:45 | P08 </a:t>
            </a:r>
            <a:r>
              <a:rPr lang="he-IL"/>
              <a:t>המלא בתחום רפואה וסיעוד; </a:t>
            </a:r>
            <a:r>
              <a:rPr lang="en-US"/>
              <a:t>P09 </a:t>
            </a:r>
            <a:r>
              <a:rPr lang="he-IL"/>
              <a:t>למנהלה והוראה עוסק במצגת </a:t>
            </a:r>
            <a:r>
              <a:rPr lang="en-US"/>
              <a:t>PowerPoint </a:t>
            </a:r>
            <a:r>
              <a:rPr lang="he-IL"/>
              <a:t>נגישה. אלה מסלולים חלופיים. להדגים מקור רשמי אחד ולפתוח אותו. דף </a:t>
            </a:r>
            <a:r>
              <a:rPr lang="en-US"/>
              <a:t>WHO </a:t>
            </a:r>
            <a:r>
              <a:rPr lang="he-IL"/>
              <a:t>המקורי מ־2009 אינו מידע חדש.</a:t>
            </a:r>
          </a:p>
          <a:p>
            <a:pPr rtl="1"/>
            <a:endParaRPr lang="he-IL"/>
          </a:p>
          <a:p>
            <a:pPr rtl="1"/>
            <a:r>
              <a:rPr lang="he-IL"/>
              <a:t>פרומפטים להעתקה</a:t>
            </a:r>
          </a:p>
          <a:p>
            <a:pPr rtl="1"/>
            <a:r>
              <a:rPr lang="en-US"/>
              <a:t>P08 — </a:t>
            </a:r>
            <a:r>
              <a:rPr lang="he-IL"/>
              <a:t>חיפוש מקצועי לרפואה ולסיעוד</a:t>
            </a:r>
          </a:p>
          <a:p>
            <a:pPr rtl="1"/>
            <a:r>
              <a:rPr lang="he-IL"/>
              <a:t>אתר שני מקורות רשמיים של </a:t>
            </a:r>
            <a:r>
              <a:rPr lang="en-US"/>
              <a:t>WHO </a:t>
            </a:r>
            <a:r>
              <a:rPr lang="he-IL"/>
              <a:t>או </a:t>
            </a:r>
            <a:r>
              <a:rPr lang="en-US"/>
              <a:t>CDC </a:t>
            </a:r>
            <a:r>
              <a:rPr lang="he-IL"/>
              <a:t>בנושא היגיינת ידיים בסביבת בריאות. לכל מקור ציין שם גוף, כותרת, קישור ישיר ותאריך פרסום או עדכון אם הוא מוצג. הבחֵן בין שנת פרסום לשנת עדכון ובין הנחיה מקצועית לכתבת חדשות. אל תציג מסמך ישן כחדש. אם תאריך לא מופיע, כתוב שלא נמצא. הצג תמצית של הנושא, ללא המלצה קלינית אישית.</a:t>
            </a:r>
          </a:p>
          <a:p>
            <a:pPr rtl="1"/>
            <a:r>
              <a:rPr lang="he-IL"/>
              <a:t>בדיקה: פותחים שני קישורים. בודקים גוף, סוג מקור ותאריך בדף המקורי.</a:t>
            </a:r>
          </a:p>
          <a:p>
            <a:pPr rtl="1"/>
            <a:endParaRPr lang="he-IL"/>
          </a:p>
          <a:p>
            <a:pPr rtl="1"/>
            <a:r>
              <a:rPr lang="en-US"/>
              <a:t>P09 — </a:t>
            </a:r>
            <a:r>
              <a:rPr lang="he-IL"/>
              <a:t>חיפוש לאדמיניסטרציה ולהוראה</a:t>
            </a:r>
          </a:p>
          <a:p>
            <a:pPr rtl="1"/>
            <a:r>
              <a:rPr lang="he-IL"/>
              <a:t>אתר שני דפי עזרה רשמיים של </a:t>
            </a:r>
            <a:r>
              <a:rPr lang="en-US"/>
              <a:t>Microsoft </a:t>
            </a:r>
            <a:r>
              <a:rPr lang="he-IL"/>
              <a:t>על יצירת מצגת </a:t>
            </a:r>
            <a:r>
              <a:rPr lang="en-US"/>
              <a:t>PowerPoint </a:t>
            </a:r>
            <a:r>
              <a:rPr lang="he-IL"/>
              <a:t>נגישה ובדיקת נגישות. לכל דף ציין כותרת, קישור ישיר, למי ההנחיות מתאימות והאם הן מתייחסות לגרסת מחשב או דפדפן. אל תמציא תאריך עדכון. הצג שלוש פעולות שאוכל לבדוק בעצמי במצגת.</a:t>
            </a:r>
          </a:p>
          <a:p>
            <a:pPr rtl="1"/>
            <a:r>
              <a:rPr lang="he-IL"/>
              <a:t>בדיקה: שני קישורי </a:t>
            </a:r>
            <a:r>
              <a:rPr lang="en-US"/>
              <a:t>Microsoft </a:t>
            </a:r>
            <a:r>
              <a:rPr lang="he-IL"/>
              <a:t>אמיתיים. בודקים שהפעולות מתאימות לגרסה שלנו.</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01:45–01:55 | 6 דקות עבודה ועוד 4 דקות שיתוף. </a:t>
            </a:r>
            <a:r>
              <a:rPr lang="en-US"/>
              <a:t>P08 </a:t>
            </a:r>
            <a:r>
              <a:rPr lang="he-IL"/>
              <a:t>או </a:t>
            </a:r>
            <a:r>
              <a:rPr lang="en-US"/>
              <a:t>P09. </a:t>
            </a:r>
            <a:r>
              <a:rPr lang="he-IL"/>
              <a:t>פותחים שני קישורים, מזהים גוף ותאריך או העדרו ובודקים משפט אחד במקור. אין החלטת טיפול. חלופה: חיפוש רגיל; קישורי </a:t>
            </a:r>
            <a:r>
              <a:rPr lang="en-US"/>
              <a:t>WHO </a:t>
            </a:r>
            <a:r>
              <a:rPr lang="he-IL"/>
              <a:t>ו־</a:t>
            </a:r>
            <a:r>
              <a:rPr lang="en-US"/>
              <a:t>Microsoft </a:t>
            </a:r>
            <a:r>
              <a:rPr lang="he-IL"/>
              <a:t>מוכנים בדף התרגול.</a:t>
            </a:r>
          </a:p>
          <a:p>
            <a:pPr rtl="1"/>
            <a:endParaRPr lang="he-IL"/>
          </a:p>
          <a:p>
            <a:pPr rtl="1"/>
            <a:r>
              <a:rPr lang="he-IL"/>
              <a:t>פרומפטים להעתקה</a:t>
            </a:r>
          </a:p>
          <a:p>
            <a:pPr rtl="1"/>
            <a:r>
              <a:rPr lang="en-US"/>
              <a:t>P08 — </a:t>
            </a:r>
            <a:r>
              <a:rPr lang="he-IL"/>
              <a:t>חיפוש מקצועי לרפואה ולסיעוד</a:t>
            </a:r>
          </a:p>
          <a:p>
            <a:pPr rtl="1"/>
            <a:r>
              <a:rPr lang="he-IL"/>
              <a:t>אתר שני מקורות רשמיים של </a:t>
            </a:r>
            <a:r>
              <a:rPr lang="en-US"/>
              <a:t>WHO </a:t>
            </a:r>
            <a:r>
              <a:rPr lang="he-IL"/>
              <a:t>או </a:t>
            </a:r>
            <a:r>
              <a:rPr lang="en-US"/>
              <a:t>CDC </a:t>
            </a:r>
            <a:r>
              <a:rPr lang="he-IL"/>
              <a:t>בנושא היגיינת ידיים בסביבת בריאות. לכל מקור ציין שם גוף, כותרת, קישור ישיר ותאריך פרסום או עדכון אם הוא מוצג. הבחֵן בין שנת פרסום לשנת עדכון ובין הנחיה מקצועית לכתבת חדשות. אל תציג מסמך ישן כחדש. אם תאריך לא מופיע, כתוב שלא נמצא. הצג תמצית של הנושא, ללא המלצה קלינית אישית.</a:t>
            </a:r>
          </a:p>
          <a:p>
            <a:pPr rtl="1"/>
            <a:r>
              <a:rPr lang="he-IL"/>
              <a:t>בדיקה: פותחים שני קישורים. בודקים גוף, סוג מקור ותאריך בדף המקורי.</a:t>
            </a:r>
          </a:p>
          <a:p>
            <a:pPr rtl="1"/>
            <a:endParaRPr lang="he-IL"/>
          </a:p>
          <a:p>
            <a:pPr rtl="1"/>
            <a:r>
              <a:rPr lang="en-US"/>
              <a:t>P09 — </a:t>
            </a:r>
            <a:r>
              <a:rPr lang="he-IL"/>
              <a:t>חיפוש לאדמיניסטרציה ולהוראה</a:t>
            </a:r>
          </a:p>
          <a:p>
            <a:pPr rtl="1"/>
            <a:r>
              <a:rPr lang="he-IL"/>
              <a:t>אתר שני דפי עזרה רשמיים של </a:t>
            </a:r>
            <a:r>
              <a:rPr lang="en-US"/>
              <a:t>Microsoft </a:t>
            </a:r>
            <a:r>
              <a:rPr lang="he-IL"/>
              <a:t>על יצירת מצגת </a:t>
            </a:r>
            <a:r>
              <a:rPr lang="en-US"/>
              <a:t>PowerPoint </a:t>
            </a:r>
            <a:r>
              <a:rPr lang="he-IL"/>
              <a:t>נגישה ובדיקת נגישות. לכל דף ציין כותרת, קישור ישיר, למי ההנחיות מתאימות והאם הן מתייחסות לגרסת מחשב או דפדפן. אל תמציא תאריך עדכון. הצג שלוש פעולות שאוכל לבדוק בעצמי במצגת.</a:t>
            </a:r>
          </a:p>
          <a:p>
            <a:pPr rtl="1"/>
            <a:r>
              <a:rPr lang="he-IL"/>
              <a:t>בדיקה: שני קישורי </a:t>
            </a:r>
            <a:r>
              <a:rPr lang="en-US"/>
              <a:t>Microsoft </a:t>
            </a:r>
            <a:r>
              <a:rPr lang="he-IL"/>
              <a:t>אמיתיים. בודקים שהפעולות מתאימות לגרסה שלנו.</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01:55–02:00 | חלק 4: </a:t>
            </a:r>
            <a:r>
              <a:rPr lang="en-US"/>
              <a:t>NotebookLM. </a:t>
            </a:r>
            <a:r>
              <a:rPr lang="he-IL"/>
              <a:t>להוסיף מסמכים א וב, באמצעות </a:t>
            </a:r>
            <a:r>
              <a:rPr lang="en-US"/>
              <a:t>txt </a:t>
            </a:r>
            <a:r>
              <a:rPr lang="he-IL"/>
              <a:t>או הדבקת טקסט. בחשבון המשתתף עשוי להופיע שם אחר למוצר. אם אין גישה, מדביקים את המקורות בכלי צ׳אט ומבקשים שם מסמך וסעיף. אין תלות במנוי.</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https://support.google.com/gemininotebook/answer/16269187?hl=en</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02:00–02:03 | מסמך ב מחליף במפורש את סעיף 2 של א; לכן ניתן להכריע. השעה החדשה 09:30, חדר 3 והגעה 09:15. תאריך חדש לבדו אינו בהכרח מקור סמכות במסמך אמיתי.</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en-US"/>
              <a:t>02:03–02:07 | P10 </a:t>
            </a:r>
            <a:r>
              <a:rPr lang="he-IL"/>
              <a:t>להכרעה. אחריו </a:t>
            </a:r>
            <a:r>
              <a:rPr lang="en-US"/>
              <a:t>P11: </a:t>
            </a:r>
            <a:r>
              <a:rPr lang="he-IL"/>
              <a:t>האם יש טלפון או הוראות צום? לא נמצא אינו היתר לאכול ולא הנחיית צום. פותחים את הציטוט, לא מסתפקים במספר קטן ליד התשובה.</a:t>
            </a:r>
          </a:p>
          <a:p>
            <a:pPr rtl="1"/>
            <a:endParaRPr lang="he-IL"/>
          </a:p>
          <a:p>
            <a:pPr rtl="1"/>
            <a:r>
              <a:rPr lang="he-IL"/>
              <a:t>פרומפטים להעתקה</a:t>
            </a:r>
          </a:p>
          <a:p>
            <a:pPr rtl="1"/>
            <a:r>
              <a:rPr lang="en-US"/>
              <a:t>P10 — </a:t>
            </a:r>
            <a:r>
              <a:rPr lang="he-IL"/>
              <a:t>שאלה עם סתירה בין מסמכים</a:t>
            </a:r>
          </a:p>
          <a:p>
            <a:pPr rtl="1"/>
            <a:r>
              <a:rPr lang="he-IL"/>
              <a:t>בהסתמך על מסמך א ומסמך ב בלבד: מתי מתחיל מפגש ההדרכה, באיזה חדר ומתי צריך להגיע? ציין מאיזה מסמך וסעיף נלקח כל פרט. האם קיימת סתירה? הסבר בקצרה איזה מסמך מחליף את האחר ועל סמך איזה משפט במקור. אם אינך יכול לקבוע, ציין זאת.</a:t>
            </a:r>
          </a:p>
          <a:p>
            <a:pPr rtl="1"/>
            <a:r>
              <a:rPr lang="he-IL"/>
              <a:t>בדיקה: 09:30, חדר 3, הגעה 09:15. מסמך ב מחליף במפורש את סעיף 2 של א.</a:t>
            </a:r>
          </a:p>
          <a:p>
            <a:pPr rtl="1"/>
            <a:endParaRPr lang="he-IL"/>
          </a:p>
          <a:p>
            <a:pPr rtl="1"/>
            <a:r>
              <a:rPr lang="en-US"/>
              <a:t>P11 — </a:t>
            </a:r>
            <a:r>
              <a:rPr lang="he-IL"/>
              <a:t>מידע שאינו במקורות</a:t>
            </a:r>
          </a:p>
          <a:p>
            <a:pPr rtl="1"/>
            <a:r>
              <a:rPr lang="he-IL"/>
              <a:t>מה מספר הטלפון להרשמה למפגש, והאם צריך לצום לפניו? הסתמך רק על המסמכים שהעליתי. אם אין מידע, כתוב שלא נמצא. אל תסיק הוראות רפואיות ואל תשלים פרטי קשר.</a:t>
            </a:r>
          </a:p>
          <a:p>
            <a:pPr rtl="1"/>
            <a:r>
              <a:rPr lang="he-IL"/>
              <a:t>בדיקה: אין טלפון ואין הוראות צום במקור. אין להסיק מכך הוראת צום או היתר לאכול.</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02:07–02:20 | 9 דקות עבודה ועוד 4 דקות בדיקה. </a:t>
            </a:r>
            <a:r>
              <a:rPr lang="en-US"/>
              <a:t>P10 </a:t>
            </a:r>
            <a:r>
              <a:rPr lang="he-IL"/>
              <a:t>ו־</a:t>
            </a:r>
            <a:r>
              <a:rPr lang="en-US"/>
              <a:t>P11; P12 </a:t>
            </a:r>
            <a:r>
              <a:rPr lang="he-IL"/>
              <a:t>למי שמסיים. כל משתתף שומר פרט מעודכן, משפט תומך ומידע חסר. בחלופה בודקים את הסעיף ידנית בשיחה רגילה.</a:t>
            </a:r>
          </a:p>
          <a:p>
            <a:pPr rtl="1"/>
            <a:endParaRPr lang="he-IL"/>
          </a:p>
          <a:p>
            <a:pPr rtl="1"/>
            <a:r>
              <a:rPr lang="he-IL"/>
              <a:t>פרומפטים להעתקה</a:t>
            </a:r>
          </a:p>
          <a:p>
            <a:pPr rtl="1"/>
            <a:r>
              <a:rPr lang="en-US"/>
              <a:t>P10 — </a:t>
            </a:r>
            <a:r>
              <a:rPr lang="he-IL"/>
              <a:t>שאלה עם סתירה בין מסמכים</a:t>
            </a:r>
          </a:p>
          <a:p>
            <a:pPr rtl="1"/>
            <a:r>
              <a:rPr lang="he-IL"/>
              <a:t>בהסתמך על מסמך א ומסמך ב בלבד: מתי מתחיל מפגש ההדרכה, באיזה חדר ומתי צריך להגיע? ציין מאיזה מסמך וסעיף נלקח כל פרט. האם קיימת סתירה? הסבר בקצרה איזה מסמך מחליף את האחר ועל סמך איזה משפט במקור. אם אינך יכול לקבוע, ציין זאת.</a:t>
            </a:r>
          </a:p>
          <a:p>
            <a:pPr rtl="1"/>
            <a:r>
              <a:rPr lang="he-IL"/>
              <a:t>בדיקה: 09:30, חדר 3, הגעה 09:15. מסמך ב מחליף במפורש את סעיף 2 של א.</a:t>
            </a:r>
          </a:p>
          <a:p>
            <a:pPr rtl="1"/>
            <a:endParaRPr lang="he-IL"/>
          </a:p>
          <a:p>
            <a:pPr rtl="1"/>
            <a:r>
              <a:rPr lang="en-US"/>
              <a:t>P11 — </a:t>
            </a:r>
            <a:r>
              <a:rPr lang="he-IL"/>
              <a:t>מידע שאינו במקורות</a:t>
            </a:r>
          </a:p>
          <a:p>
            <a:pPr rtl="1"/>
            <a:r>
              <a:rPr lang="he-IL"/>
              <a:t>מה מספר הטלפון להרשמה למפגש, והאם צריך לצום לפניו? הסתמך רק על המסמכים שהעליתי. אם אין מידע, כתוב שלא נמצא. אל תסיק הוראות רפואיות ואל תשלים פרטי קשר.</a:t>
            </a:r>
          </a:p>
          <a:p>
            <a:pPr rtl="1"/>
            <a:r>
              <a:rPr lang="he-IL"/>
              <a:t>בדיקה: אין טלפון ואין הוראות צום במקור. אין להסיק מכך הוראת צום או היתר לאכול.</a:t>
            </a:r>
          </a:p>
          <a:p>
            <a:pPr rtl="1"/>
            <a:endParaRPr lang="he-IL"/>
          </a:p>
          <a:p>
            <a:pPr rtl="1"/>
            <a:r>
              <a:rPr lang="en-US"/>
              <a:t>P12 — </a:t>
            </a:r>
            <a:r>
              <a:rPr lang="he-IL"/>
              <a:t>שאלות נפוצות ממקורות</a:t>
            </a:r>
          </a:p>
          <a:p>
            <a:pPr rtl="1"/>
            <a:r>
              <a:rPr lang="he-IL"/>
              <a:t>צור ארבע שאלות נפוצות ותשובות קצרות על מפגש ההדרכה, על בסיס מסמך א ומסמך ב בלבד. בכל תשובה ציין את המקור. השתמש בפרטי הזמן המעודכנים. הוסף בנפרד שתי שאלות שאין להן תשובה במקורות וציין למי צריך לפנות כדי לברר, בלי להמציא פרטי קשר.</a:t>
            </a:r>
          </a:p>
          <a:p>
            <a:pPr rtl="1"/>
            <a:r>
              <a:rPr lang="he-IL"/>
              <a:t>בדיקה: המקורות נשמרים, השעה מעודכנת, החסר מופרד מהתשובות.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02:20–02:24 | חלק 5: סוכן מתכנן, משתמש בכלים ובודק תוצרים. כל צ׳אט יכול לתכנן; ההבדל הוא ביצוע צעדים וכלים, לא מספר המילים בתשובה. היקף היכולות תלוי מוצר והרשאה.</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en-US"/>
              <a:t>02:24–02:27 | Manus </a:t>
            </a:r>
            <a:r>
              <a:rPr lang="he-IL"/>
              <a:t>הוא כלי ההדגמה. להריץ פעם אחת בחשבון המרצה בהיקף קטן. לבדוק גישה מראש, אין הבטחה לקרדיטים או הצלחה בכל חשבון חינמי. חלופה מלאה: אותו פרומפט בכלי צ׳אט, תוצר אחד בכל פעם.</a:t>
            </a:r>
          </a:p>
          <a:p>
            <a:pPr rtl="1"/>
            <a:endParaRPr lang="he-IL"/>
          </a:p>
          <a:p>
            <a:pPr rtl="1"/>
            <a:r>
              <a:rPr lang="he-IL"/>
              <a:t>פרומפטים להעתקה</a:t>
            </a:r>
          </a:p>
          <a:p>
            <a:pPr rtl="1"/>
            <a:r>
              <a:rPr lang="en-US"/>
              <a:t>P13 — </a:t>
            </a:r>
            <a:r>
              <a:rPr lang="he-IL"/>
              <a:t>משימת סוכן קצרה</a:t>
            </a:r>
          </a:p>
          <a:p>
            <a:pPr rtl="1"/>
            <a:r>
              <a:rPr lang="he-IL"/>
              <a:t>הכן חבילת היערכות ליום הדרכה על בסיס המסמך המצורף בלבד. התוצרים: רשימת בדיקות לפני המפגש, חלוקת אחריות לפי התפקידים שבמקור, וטיוטת הודעה לצוות. הצג תוכנית קצרה לפני ביצוע. אל תשלח הודעות, אל תזמין שירותים ואל תבצע רכישה. השאר כל פרט חסר מסומן לבירור.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שלושה תוצרים מתואמים; אותם 11 משתתפים ואותן אחריות והפסקה. אין פעולות חיצוניות.</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https://help.manus.im/en/articles/11711111-what-is-the-current-membership-pricing-for-manus</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02:27–02:30 | דוגמה מנהלית קונקרטית. </a:t>
            </a:r>
            <a:r>
              <a:rPr lang="en-US"/>
              <a:t>P13 </a:t>
            </a:r>
            <a:r>
              <a:rPr lang="he-IL"/>
              <a:t>המלא כולל כבר את מסמך ג. להתבונן בתוכנית, בכלים שנבחרו ובתוצר שנוצר. בחלופה מבקשים בצ׳אט כל תוצר בנפרד ומבהירים שזו חלופת תרגול, לא ביצוע סוכן.</a:t>
            </a:r>
          </a:p>
          <a:p>
            <a:pPr rtl="1"/>
            <a:endParaRPr lang="he-IL"/>
          </a:p>
          <a:p>
            <a:pPr rtl="1"/>
            <a:r>
              <a:rPr lang="he-IL"/>
              <a:t>פרומפטים להעתקה</a:t>
            </a:r>
          </a:p>
          <a:p>
            <a:pPr rtl="1"/>
            <a:r>
              <a:rPr lang="en-US"/>
              <a:t>P13 — </a:t>
            </a:r>
            <a:r>
              <a:rPr lang="he-IL"/>
              <a:t>משימת סוכן קצרה</a:t>
            </a:r>
          </a:p>
          <a:p>
            <a:pPr rtl="1"/>
            <a:r>
              <a:rPr lang="he-IL"/>
              <a:t>הכן חבילת היערכות ליום הדרכה על בסיס המסמך המצורף בלבד. התוצרים: רשימת בדיקות לפני המפגש, חלוקת אחריות לפי התפקידים שבמקור, וטיוטת הודעה לצוות. הצג תוכנית קצרה לפני ביצוע. אל תשלח הודעות, אל תזמין שירותים ואל תבצע רכישה. השאר כל פרט חסר מסומן לבירור.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שלושה תוצרים מתואמים; אותם 11 משתתפים ואותן אחריות והפסקה. אין פעולות חיצוניות.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02:30–02:33 | דוגמה לרפואה, סיעוד והוראה. </a:t>
            </a:r>
            <a:r>
              <a:rPr lang="en-US"/>
              <a:t>P15 </a:t>
            </a:r>
            <a:r>
              <a:rPr lang="he-IL"/>
              <a:t>כולל את שני המסמכים. מטרת הסוכן להכין חבילת תוצרים ולא להכריע החלטה רפואית. לבדוק שהשעה והחדר מעודכנים בכל התוצרים; אין צום או טלפון שהומצאו.</a:t>
            </a:r>
          </a:p>
          <a:p>
            <a:pPr rtl="1"/>
            <a:endParaRPr lang="he-IL"/>
          </a:p>
          <a:p>
            <a:pPr rtl="1"/>
            <a:r>
              <a:rPr lang="he-IL"/>
              <a:t>פרומפטים להעתקה</a:t>
            </a:r>
          </a:p>
          <a:p>
            <a:pPr rtl="1"/>
            <a:r>
              <a:rPr lang="en-US"/>
              <a:t>P15 — </a:t>
            </a:r>
            <a:r>
              <a:rPr lang="he-IL"/>
              <a:t>סוכן: ערכת הדרכה עם בקרת גרסאות</a:t>
            </a:r>
          </a:p>
          <a:p>
            <a:pPr rtl="1"/>
            <a:r>
              <a:rPr lang="he-IL"/>
              <a:t>הכן ערכת הדרכה מתוך מסמך א ומסמך ב המצורפים בלבד. תחילה הצג תוכנית עבודה קצרה. הפק שלושה תוצרים: דף ארבע שאלות ותשובות למטופלים ולמלווים, רשימת בדיקות לרכזת לפני פרסום, וטיוטת הודעה עד 90 מילים. השתמש בשעה ובחדר המעודכנים. לכל פרט מעשי ציין מסמך וסעיף. בדוק בסיום שכל שלושת התוצרים מסכימים זה עם זה. סמן מידע חסר, אל תשלים הוראות רפואיות או פרטי קשר. אל תשלח, תפרסם או תרכוש דבר. עצור לאישור שלי לפני כל פעולה חיצונית.</a:t>
            </a:r>
          </a:p>
          <a:p>
            <a:pPr rtl="1"/>
            <a:endParaRPr lang="he-IL"/>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מסמך ב: עדכון מפגש ההדרכה — תרחיש פיקטיבי לתרגול בלבד</a:t>
            </a:r>
          </a:p>
          <a:p>
            <a:pPr rtl="1"/>
            <a:r>
              <a:rPr lang="he-IL"/>
              <a:t>גרסה 2, 12.10.2026. אין זה מסמך רשמי של בני ציון.</a:t>
            </a:r>
          </a:p>
          <a:p>
            <a:pPr rtl="1"/>
            <a:r>
              <a:rPr lang="he-IL"/>
              <a:t>1. הודעה זו מחליפה את סעיף 2 במסמך א: מפגש הדרכה למטופלים ולמלווים.</a:t>
            </a:r>
          </a:p>
          <a:p>
            <a:pPr rtl="1"/>
            <a:r>
              <a:rPr lang="he-IL"/>
              <a:t>2. המפגש ביום רביעי יתחיל בשעה 09:30 בחדר 3. יש להגיע בשעה 09:15.</a:t>
            </a:r>
          </a:p>
          <a:p>
            <a:pPr rtl="1"/>
            <a:r>
              <a:rPr lang="he-IL"/>
              <a:t>3. משך המפגש, קהל היעד, הנחיות הזימון והפנייה לסיוע נשארים כפי שנקבעו במסמך א.</a:t>
            </a:r>
          </a:p>
          <a:p>
            <a:pPr rtl="1"/>
            <a:r>
              <a:rPr lang="he-IL"/>
              <a:t>4. אין שינוי בהנחיות רפואיות, ואין במסמך הנחיות רפואיות חדשות.</a:t>
            </a:r>
          </a:p>
          <a:p>
            <a:pPr rtl="1"/>
            <a:r>
              <a:rPr lang="he-IL"/>
              <a:t>5. כאשר מציגים את פרטי המפגש, יש לציין שהשעה והחדר עודכנו ולבסס את ההכרעה על מסמך ב.</a:t>
            </a:r>
          </a:p>
          <a:p>
            <a:pPr rtl="1"/>
            <a:r>
              <a:rPr lang="he-IL"/>
              <a:t>6. אין במסמך כתובת דואר אלקטרוני, מספר טלפון או קישור להרשמה.</a:t>
            </a:r>
          </a:p>
          <a:p>
            <a:pPr rtl="1"/>
            <a:endParaRPr lang="he-IL"/>
          </a:p>
          <a:p>
            <a:pPr rtl="1"/>
            <a:r>
              <a:rPr lang="he-IL"/>
              <a:t>בדיקה: 09:30, חדר 3 והגעה 09:15 בכל התוצרים; ציטוט מתאים; בלי טלפון או הוראות צום. אישור אדם לפני פרסום.</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02:33–02:35 | האדם בודק מקור, עקביות והשלכות. הדגמה קצרה: הטיוטה מוכנה, אבל היא לא נשלחה. עצירה לפני פרסום, רכישה או פעולה חיצונית היא חלק מהמשימה. שום תרגיל כאן אינו שולח הודעה אמיתית.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02:35–02:43 | 6 דקות עבודה ועוד 2 דקות שיתוף. </a:t>
            </a:r>
            <a:r>
              <a:rPr lang="en-US"/>
              <a:t>P13 </a:t>
            </a:r>
            <a:r>
              <a:rPr lang="he-IL"/>
              <a:t>למנהלה או </a:t>
            </a:r>
            <a:r>
              <a:rPr lang="en-US"/>
              <a:t>P15 </a:t>
            </a:r>
            <a:r>
              <a:rPr lang="he-IL"/>
              <a:t>לרפואה, סיעוד והוראה. </a:t>
            </a:r>
            <a:r>
              <a:rPr lang="en-US"/>
              <a:t>Manus </a:t>
            </a:r>
            <a:r>
              <a:rPr lang="he-IL"/>
              <a:t>אם זמין; אחרת צ׳אט, צעד אחר צעד. בודקים עקביות ומידע חסר, לא רק מראה יפה. </a:t>
            </a:r>
            <a:r>
              <a:rPr lang="en-US"/>
              <a:t>P14 </a:t>
            </a:r>
            <a:r>
              <a:rPr lang="he-IL"/>
              <a:t>הוא תרגיל הרחבה או בית למי שרוצה.</a:t>
            </a:r>
          </a:p>
          <a:p>
            <a:pPr rtl="1"/>
            <a:endParaRPr lang="he-IL"/>
          </a:p>
          <a:p>
            <a:pPr rtl="1"/>
            <a:r>
              <a:rPr lang="he-IL"/>
              <a:t>פרומפטים להעתקה</a:t>
            </a:r>
          </a:p>
          <a:p>
            <a:pPr rtl="1"/>
            <a:r>
              <a:rPr lang="en-US"/>
              <a:t>P13 — </a:t>
            </a:r>
            <a:r>
              <a:rPr lang="he-IL"/>
              <a:t>משימת סוכן קצרה</a:t>
            </a:r>
          </a:p>
          <a:p>
            <a:pPr rtl="1"/>
            <a:r>
              <a:rPr lang="he-IL"/>
              <a:t>הכן חבילת היערכות ליום הדרכה על בסיס המסמך המצורף בלבד. התוצרים: רשימת בדיקות לפני המפגש, חלוקת אחריות לפי התפקידים שבמקור, וטיוטת הודעה לצוות. הצג תוכנית קצרה לפני ביצוע. אל תשלח הודעות, אל תזמין שירותים ואל תבצע רכישה. השאר כל פרט חסר מסומן לבירור.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שלושה תוצרים מתואמים; אותם 11 משתתפים ואותן אחריות והפסקה. אין פעולות חיצוניות.</a:t>
            </a:r>
          </a:p>
          <a:p>
            <a:pPr rtl="1"/>
            <a:endParaRPr lang="he-IL"/>
          </a:p>
          <a:p>
            <a:pPr rtl="1"/>
            <a:r>
              <a:rPr lang="en-US"/>
              <a:t>P15 — </a:t>
            </a:r>
            <a:r>
              <a:rPr lang="he-IL"/>
              <a:t>סוכן: ערכת הדרכה עם בקרת גרסאות</a:t>
            </a:r>
          </a:p>
          <a:p>
            <a:pPr rtl="1"/>
            <a:r>
              <a:rPr lang="he-IL"/>
              <a:t>הכן ערכת הדרכה מתוך מסמך א ומסמך ב המצורפים בלבד. תחילה הצג תוכנית עבודה קצרה. הפק שלושה תוצרים: דף ארבע שאלות ותשובות למטופלים ולמלווים, רשימת בדיקות לרכזת לפני פרסום, וטיוטת הודעה עד 90 מילים. השתמש בשעה ובחדר המעודכנים. לכל פרט מעשי ציין מסמך וסעיף. בדוק בסיום שכל שלושת התוצרים מסכימים זה עם זה. סמן מידע חסר, אל תשלים הוראות רפואיות או פרטי קשר. אל תשלח, תפרסם או תרכוש דבר. עצור לאישור שלי לפני כל פעולה חיצונית.</a:t>
            </a:r>
          </a:p>
          <a:p>
            <a:pPr rtl="1"/>
            <a:endParaRPr lang="he-IL"/>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מסמך ב: עדכון מפגש ההדרכה — תרחיש פיקטיבי לתרגול בלבד</a:t>
            </a:r>
          </a:p>
          <a:p>
            <a:pPr rtl="1"/>
            <a:r>
              <a:rPr lang="he-IL"/>
              <a:t>גרסה 2, 12.10.2026. אין זה מסמך רשמי של בני ציון.</a:t>
            </a:r>
          </a:p>
          <a:p>
            <a:pPr rtl="1"/>
            <a:r>
              <a:rPr lang="he-IL"/>
              <a:t>1. הודעה זו מחליפה את סעיף 2 במסמך א: מפגש הדרכה למטופלים ולמלווים.</a:t>
            </a:r>
          </a:p>
          <a:p>
            <a:pPr rtl="1"/>
            <a:r>
              <a:rPr lang="he-IL"/>
              <a:t>2. המפגש ביום רביעי יתחיל בשעה 09:30 בחדר 3. יש להגיע בשעה 09:15.</a:t>
            </a:r>
          </a:p>
          <a:p>
            <a:pPr rtl="1"/>
            <a:r>
              <a:rPr lang="he-IL"/>
              <a:t>3. משך המפגש, קהל היעד, הנחיות הזימון והפנייה לסיוע נשארים כפי שנקבעו במסמך א.</a:t>
            </a:r>
          </a:p>
          <a:p>
            <a:pPr rtl="1"/>
            <a:r>
              <a:rPr lang="he-IL"/>
              <a:t>4. אין שינוי בהנחיות רפואיות, ואין במסמך הנחיות רפואיות חדשות.</a:t>
            </a:r>
          </a:p>
          <a:p>
            <a:pPr rtl="1"/>
            <a:r>
              <a:rPr lang="he-IL"/>
              <a:t>5. כאשר מציגים את פרטי המפגש, יש לציין שהשעה והחדר עודכנו ולבסס את ההכרעה על מסמך ב.</a:t>
            </a:r>
          </a:p>
          <a:p>
            <a:pPr rtl="1"/>
            <a:r>
              <a:rPr lang="he-IL"/>
              <a:t>6. אין במסמך כתובת דואר אלקטרוני, מספר טלפון או קישור להרשמה.</a:t>
            </a:r>
          </a:p>
          <a:p>
            <a:pPr rtl="1"/>
            <a:endParaRPr lang="he-IL"/>
          </a:p>
          <a:p>
            <a:pPr rtl="1"/>
            <a:r>
              <a:rPr lang="he-IL"/>
              <a:t>בדיקה: 09:30, חדר 3 והגעה 09:15 בכל התוצרים; ציטוט מתאים; בלי טלפון או הוראות צום. אישור אדם לפני פרסום.</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02:43–02:44 | חלק 6: המחשות קצרות, לא סקירת חדשות. שלוש תמונות של יכולות והשלכות. אין להסיק מהדגמת חברה שמוצר בטוח לשימוש קליני או זמין לכל אחד.</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02:44–02:46 | צילום השקף המקורי. להבחין בין חיזוי מבנה חלבון לבין טיפול רפואי. לקרוא את הכתבה או את המקור הרשמי, לא להציג תוצאה קלינית. מקור: </a:t>
            </a:r>
            <a:r>
              <a:rPr lang="en-US"/>
              <a:t>https://www.nobelprize.org/prizes/chemistry/2024/press-release/b/ ; https://www.ebi.ac.uk/about/news/alphafold-wins-nobel-prize-chemistry-2024/</a:t>
            </a:r>
          </a:p>
          <a:p>
            <a:pPr rtl="1"/>
            <a:endParaRPr lang="en-US"/>
          </a:p>
          <a:p>
            <a:pPr rtl="1"/>
            <a:r>
              <a:rPr lang="he-IL"/>
              <a:t>קהל: 11 משתתפים מרפואה ואדמיניסטרציה, מחשבים אישיים וללא מנוי בתשלום.</a:t>
            </a:r>
          </a:p>
          <a:p>
            <a:pPr rtl="1"/>
            <a:r>
              <a:rPr lang="he-IL"/>
              <a:t>מקורות:</a:t>
            </a:r>
          </a:p>
          <a:p>
            <a:pPr rtl="1"/>
            <a:r>
              <a:rPr lang="en-US"/>
              <a:t>https://www.nobelprize.org/prizes/chemistry/2024/press-release/b/</a:t>
            </a:r>
          </a:p>
          <a:p>
            <a:pPr rtl="1"/>
            <a:r>
              <a:rPr lang="en-US"/>
              <a:t>https://www.ebi.ac.uk/about/news/alphafold-wins-nobel-prize-chemistry-2024/</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02:46–02:48 | להפעיל 30–40 שניות מתוך סרטון </a:t>
            </a:r>
            <a:r>
              <a:rPr lang="en-US"/>
              <a:t>Figure </a:t>
            </a:r>
            <a:r>
              <a:rPr lang="he-IL"/>
              <a:t>הביתי שסופק להרצאה המקורית. זו הדגמת חברה, לא הוכחת התאמה לבית חולים. לבחור פעולה אחת ולהפסיק לדבר בזמן הקליפ. מקור: </a:t>
            </a:r>
            <a:r>
              <a:rPr lang="en-US"/>
              <a:t>https://www.figure.ai/news/introducing-figure-03</a:t>
            </a:r>
          </a:p>
          <a:p>
            <a:pPr rtl="1"/>
            <a:endParaRPr lang="en-US"/>
          </a:p>
          <a:p>
            <a:pPr rtl="1"/>
            <a:r>
              <a:rPr lang="he-IL"/>
              <a:t>קהל: 11 משתתפים מרפואה ואדמיניסטרציה, מחשבים אישיים וללא מנוי בתשלום.</a:t>
            </a:r>
          </a:p>
          <a:p>
            <a:pPr rtl="1"/>
            <a:r>
              <a:rPr lang="he-IL"/>
              <a:t>מקורות:</a:t>
            </a:r>
          </a:p>
          <a:p>
            <a:pPr rtl="1"/>
            <a:r>
              <a:rPr lang="en-US"/>
              <a:t>https://www.figure.ai/news/introducing-figure-03</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02:48–02:50 | תמונה מרצף המשחק בהרצאה המקורית. לשאול איך היו בודקים, לא לפסוק מהפיקסלים בלבד. אין כאן מפתח תשובות מאומת, לכן לא פוסקים איזו תמונה אמיתית. מבקשים ראיות מחוץ לתמונה: מקור, פרסום קודם והקשר. סיכום: אותה משמעת בדיקה חלה על טקסט, מקור, תמונה ופעולת סוכן.</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02:50–02:57 | אותה מטלת בית: משימה מקצועית לא רגישה, מקור שנפתח ותוצר ששופר. להביא פרומפט ושתי בדיקות. אפשר להשתמש במסמכים הפיקטיביים. אין חובה למנוי. </a:t>
            </a:r>
            <a:r>
              <a:rPr lang="en-US"/>
              <a:t>P14 </a:t>
            </a:r>
            <a:r>
              <a:rPr lang="he-IL"/>
              <a:t>הוא הרחבה אפשרית. להשאיר זמן לשאלות.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02:57–03:00 | הסיום הקודם נשמר. במפגש הבא: נתונים ועוזר אישי, בהתאם לסילבוס. תוצרים, פרומפטים ופרטי קשר נשארים זמינים.</a:t>
            </a:r>
          </a:p>
          <a:p>
            <a:pPr rtl="1"/>
            <a:endParaRPr lang="he-IL"/>
          </a:p>
          <a:p>
            <a:pPr rtl="1"/>
            <a:r>
              <a:rPr lang="he-IL"/>
              <a:t>קהל: 11 משתתפים מרפואה ואדמיניסטרציה, מחשבים אישיים וללא מנוי בתשלום.</a:t>
            </a:r>
          </a:p>
          <a:p>
            <a:pPr rtl="1"/>
            <a:endParaRPr lang="he-IL"/>
          </a:p>
          <a:p>
            <a:pPr rtl="1"/>
            <a:r>
              <a:rPr lang="he-IL"/>
              <a:t>איור או צילום: אסט מתוך המצגת הקיימת של המרצה, שסופק על ידו.</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A293410-F7C3-495D-B12D-E982D0519ED3}"/>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F4BFD3A4-ED7B-4202-9282-1A456C97EB47}"/>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AD54EF73-5C9F-43F9-B0BB-A34580B52B18}"/>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B1B6805-F54F-4A81-9A14-46086F7CBEE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F60FE3C7-123B-4C29-A635-636B540F7DD4}"/>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0C950837-A49F-4150-A951-21B43CBA561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A87AFBE0-F139-414A-A201-CE2F5E4C40B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BE7AA9AB-B8C0-4B04-8878-F22CA7B485F7}"/>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B40D392-A51A-4452-818A-2E5C43BA48D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2C2CE85D-E5D2-4F61-8337-0141B10F6C7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bin"/><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bin"/><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bin"/><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bin"/><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7.bin"/><Relationship Id="rId5" Type="http://schemas.openxmlformats.org/officeDocument/2006/relationships/image" Target="../media/image6.bin"/><Relationship Id="rId4" Type="http://schemas.openxmlformats.org/officeDocument/2006/relationships/image" Target="../media/image5.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bin"/><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6.bin"/><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bin"/><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hyperlink" Target="https://www.perplexity.ai/"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9.bin"/><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hyperlink" Target="https://notebooklm.google.com/"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9.bin"/><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0.bin"/><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hyperlink" Target="https://manus.im/"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0.bin"/><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0.bin"/><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1.bin"/><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hyperlink" Target="videos/figure-03-home.mp4"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13.bin"/><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4.bin"/><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7F8FC"/>
            </a:gs>
            <a:gs pos="100000">
              <a:srgbClr val="EDF0FA"/>
            </a:gs>
          </a:gsLst>
          <a:lin ang="8400000"/>
        </a:gradFill>
        <a:effectLst/>
      </p:bgPr>
    </p:bg>
    <p:spTree>
      <p:nvGrpSpPr>
        <p:cNvPr id="1" name=""/>
        <p:cNvGrpSpPr/>
        <p:nvPr/>
      </p:nvGrpSpPr>
      <p:grpSpPr>
        <a:xfrm>
          <a:off x="0" y="0"/>
          <a:ext cx="0" cy="0"/>
          <a:chOff x="0" y="0"/>
          <a:chExt cx="0" cy="0"/>
        </a:xfrm>
      </p:grpSpPr>
      <p:pic>
        <p:nvPicPr>
          <p:cNvPr id="7" name="תמונה 6">
            <a:extLst>
              <a:ext uri="{FF2B5EF4-FFF2-40B4-BE49-F238E27FC236}">
                <a16:creationId xmlns:a16="http://schemas.microsoft.com/office/drawing/2014/main" id="{555DC9CF-1F50-4075-92F1-886810E9515F}"/>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editable-בית הספר האקדמי לסיעוד בני ציון">
            <a:extLst>
              <a:ext uri="{FF2B5EF4-FFF2-40B4-BE49-F238E27FC236}">
                <a16:creationId xmlns:a16="http://schemas.microsoft.com/office/drawing/2014/main" id="{C8F085A2-5092-42D5-973F-F8E7477F5B7C}"/>
              </a:ext>
            </a:extLst>
          </p:cNvPr>
          <p:cNvSpPr>
            <a:spLocks noGrp="1"/>
          </p:cNvSpPr>
          <p:nvPr/>
        </p:nvSpPr>
        <p:spPr>
          <a:xfrm>
            <a:off x="6048375" y="952500"/>
            <a:ext cx="5286375" cy="5715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בית הספר האקדמי לסיעוד בני ציון</a:t>
            </a:r>
          </a:p>
        </p:txBody>
      </p:sp>
      <p:sp>
        <p:nvSpPr>
          <p:cNvPr id="3" name="editable-המעבר מצ׳אט&#10;לסוכן">
            <a:extLst>
              <a:ext uri="{FF2B5EF4-FFF2-40B4-BE49-F238E27FC236}">
                <a16:creationId xmlns:a16="http://schemas.microsoft.com/office/drawing/2014/main" id="{231C5667-12E3-40A5-9683-E555DBBAA33E}"/>
              </a:ext>
            </a:extLst>
          </p:cNvPr>
          <p:cNvSpPr>
            <a:spLocks noGrp="1"/>
          </p:cNvSpPr>
          <p:nvPr/>
        </p:nvSpPr>
        <p:spPr>
          <a:xfrm>
            <a:off x="6048375" y="2000250"/>
            <a:ext cx="5286375" cy="1905000"/>
          </a:xfrm>
          <a:prstGeom prst="rect">
            <a:avLst/>
          </a:prstGeom>
          <a:noFill/>
          <a:ln w="0">
            <a:noFill/>
          </a:ln>
        </p:spPr>
        <p:txBody>
          <a:bodyPr lIns="0" tIns="0" rIns="0" bIns="0" anchor="ctr">
            <a:noAutofit/>
          </a:bodyPr>
          <a:lstStyle>
            <a:defPPr algn="r">
              <a:defRPr sz="4800" b="1">
                <a:gradFill>
                  <a:gsLst>
                    <a:gs pos="0">
                      <a:srgbClr val="4378AB"/>
                    </a:gs>
                    <a:gs pos="100000">
                      <a:srgbClr val="7A59BC"/>
                    </a:gs>
                  </a:gsLst>
                  <a:lin ang="0"/>
                </a:gradFill>
                <a:latin typeface="Arial"/>
                <a:ea typeface="Arial"/>
                <a:cs typeface="Arial"/>
              </a:defRPr>
            </a:defPPr>
          </a:lstStyle>
          <a:p>
            <a:pPr algn="r" rtl="1">
              <a:defRPr sz="4800" b="1">
                <a:solidFill>
                  <a:srgbClr val="7A59BC"/>
                </a:solidFill>
                <a:latin typeface="Arial"/>
                <a:ea typeface="Arial"/>
                <a:cs typeface="Arial"/>
              </a:defRPr>
            </a:pPr>
            <a:r>
              <a:rPr sz="4800" b="1">
                <a:gradFill>
                  <a:gsLst>
                    <a:gs pos="0">
                      <a:srgbClr val="4378AB"/>
                    </a:gs>
                    <a:gs pos="100000">
                      <a:srgbClr val="7A59BC"/>
                    </a:gs>
                  </a:gsLst>
                  <a:lin ang="0"/>
                </a:gradFill>
                <a:latin typeface="Arial"/>
                <a:ea typeface="Arial"/>
                <a:cs typeface="Arial"/>
              </a:rPr>
              <a:t>המעבר מצ׳אט</a:t>
            </a:r>
          </a:p>
          <a:p>
            <a:pPr algn="r" rtl="1">
              <a:defRPr sz="4800" b="1">
                <a:solidFill>
                  <a:srgbClr val="7A59BC"/>
                </a:solidFill>
                <a:latin typeface="Arial"/>
                <a:ea typeface="Arial"/>
                <a:cs typeface="Arial"/>
              </a:defRPr>
            </a:pPr>
            <a:r>
              <a:rPr sz="4800" b="1">
                <a:gradFill>
                  <a:gsLst>
                    <a:gs pos="0">
                      <a:srgbClr val="4378AB"/>
                    </a:gs>
                    <a:gs pos="100000">
                      <a:srgbClr val="7A59BC"/>
                    </a:gs>
                  </a:gsLst>
                  <a:lin ang="0"/>
                </a:gradFill>
                <a:latin typeface="Arial"/>
                <a:ea typeface="Arial"/>
                <a:cs typeface="Arial"/>
              </a:rPr>
              <a:t>לסוכן</a:t>
            </a:r>
          </a:p>
        </p:txBody>
      </p:sp>
      <p:sp>
        <p:nvSpPr>
          <p:cNvPr id="4" name="editable-כלים מעשיים לעבודה שלכם&#10;מפגש ראשון">
            <a:extLst>
              <a:ext uri="{FF2B5EF4-FFF2-40B4-BE49-F238E27FC236}">
                <a16:creationId xmlns:a16="http://schemas.microsoft.com/office/drawing/2014/main" id="{E870A9C1-5942-4E10-88A5-3EA7B7ACF8CC}"/>
              </a:ext>
            </a:extLst>
          </p:cNvPr>
          <p:cNvSpPr>
            <a:spLocks noGrp="1"/>
          </p:cNvSpPr>
          <p:nvPr/>
        </p:nvSpPr>
        <p:spPr>
          <a:xfrm>
            <a:off x="6000750" y="4210050"/>
            <a:ext cx="5334000" cy="1143000"/>
          </a:xfrm>
          <a:prstGeom prst="rect">
            <a:avLst/>
          </a:prstGeom>
          <a:noFill/>
          <a:ln w="0">
            <a:noFill/>
          </a:ln>
        </p:spPr>
        <p: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כלים מעשיים לעבודה שלכם</a:t>
            </a:r>
          </a:p>
          <a:p>
            <a:pPr algn="r" rtl="1">
              <a:defRPr sz="2250" b="0">
                <a:solidFill>
                  <a:srgbClr val="191B2B"/>
                </a:solidFill>
                <a:latin typeface="Arial"/>
                <a:ea typeface="Arial"/>
                <a:cs typeface="Arial"/>
              </a:defRPr>
            </a:pPr>
            <a:r>
              <a:rPr sz="2250" b="0">
                <a:solidFill>
                  <a:srgbClr val="191B2B"/>
                </a:solidFill>
                <a:latin typeface="Arial"/>
                <a:ea typeface="Arial"/>
                <a:cs typeface="Arial"/>
              </a:rPr>
              <a:t>מפגש ראשון</a:t>
            </a:r>
          </a:p>
        </p:txBody>
      </p:sp>
      <p:sp>
        <p:nvSpPr>
          <p:cNvPr id="5" name="editable-כפיר משה יעקובי">
            <a:extLst>
              <a:ext uri="{FF2B5EF4-FFF2-40B4-BE49-F238E27FC236}">
                <a16:creationId xmlns:a16="http://schemas.microsoft.com/office/drawing/2014/main" id="{5FDFAE2E-6B8D-4ABC-A12F-BC1D2387AA3E}"/>
              </a:ext>
            </a:extLst>
          </p:cNvPr>
          <p:cNvSpPr>
            <a:spLocks noGrp="1"/>
          </p:cNvSpPr>
          <p:nvPr/>
        </p:nvSpPr>
        <p:spPr>
          <a:xfrm>
            <a:off x="6048375" y="5657850"/>
            <a:ext cx="5286375" cy="4572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כפיר משה יעקובי</a:t>
            </a:r>
          </a:p>
        </p:txBody>
      </p:sp>
      <p:sp>
        <p:nvSpPr>
          <p:cNvPr id="6" name="editable-01">
            <a:extLst>
              <a:ext uri="{FF2B5EF4-FFF2-40B4-BE49-F238E27FC236}">
                <a16:creationId xmlns:a16="http://schemas.microsoft.com/office/drawing/2014/main" id="{578C3B98-C311-45BE-8492-D5E86213114C}"/>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01</a:t>
            </a:r>
          </a:p>
        </p:txBody>
      </p:sp>
    </p:spTree>
    <p:extLst>
      <p:ext uri="{BB962C8B-B14F-4D97-AF65-F5344CB8AC3E}">
        <p14:creationId xmlns:p14="http://schemas.microsoft.com/office/powerpoint/2010/main" val="391470947"/>
      </p:ext>
    </p:extLst>
  </p:cSld>
  <p:clrMapOvr>
    <a:masterClrMapping/>
  </p:clrMapOvr>
  <mc:AlternateContent xmlns:mc="http://schemas.openxmlformats.org/markup-compatibility/2006" xmlns:p14="http://schemas.microsoft.com/office/powerpoint/2010/main">
    <mc:Choice Requires="p14">
      <p:transition p14:dur="35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20"/>
                                        <p:tgtEl>
                                          <p:spTgt spid="3"/>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20"/>
                                        <p:tgtEl>
                                          <p:spTgt spid="4"/>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42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4" name="editable-איזו משימה&#10;חוזרת אצלכם?">
            <a:extLst>
              <a:ext uri="{FF2B5EF4-FFF2-40B4-BE49-F238E27FC236}">
                <a16:creationId xmlns:a16="http://schemas.microsoft.com/office/drawing/2014/main" id="{DFCC5485-8F52-4F40-93E5-E2C25EE7EEDC}"/>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4378AB"/>
                    </a:gs>
                    <a:gs pos="100000">
                      <a:srgbClr val="7A59BC"/>
                    </a:gs>
                  </a:gsLst>
                  <a:lin ang="0"/>
                </a:gradFill>
                <a:latin typeface="Arial"/>
                <a:ea typeface="Arial"/>
                <a:cs typeface="Arial"/>
              </a:defRPr>
            </a:defPPr>
          </a:lstStyle>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איזו משימה</a:t>
            </a:r>
          </a:p>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חוזרת אצלכם?</a:t>
            </a:r>
          </a:p>
        </p:txBody>
      </p:sp>
      <p:sp>
        <p:nvSpPr>
          <p:cNvPr id="2" name="editable-הודעה, הסבר, סיכום או איתור מידע">
            <a:extLst>
              <a:ext uri="{FF2B5EF4-FFF2-40B4-BE49-F238E27FC236}">
                <a16:creationId xmlns:a16="http://schemas.microsoft.com/office/drawing/2014/main" id="{75DEA163-4D01-4FC8-BAAB-8DAFDDFD1F19}"/>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3000" b="0">
                <a:solidFill>
                  <a:srgbClr val="191B2B"/>
                </a:solidFill>
                <a:latin typeface="Arial"/>
                <a:ea typeface="Arial"/>
                <a:cs typeface="Arial"/>
              </a:defRPr>
            </a:defPPr>
          </a:lstStyle>
          <a:p>
            <a:pPr algn="ctr" rtl="1">
              <a:defRPr sz="3000" b="0">
                <a:solidFill>
                  <a:srgbClr val="191B2B"/>
                </a:solidFill>
                <a:latin typeface="Arial"/>
                <a:ea typeface="Arial"/>
                <a:cs typeface="Arial"/>
              </a:defRPr>
            </a:pPr>
            <a:r>
              <a:rPr sz="3000" b="0">
                <a:solidFill>
                  <a:srgbClr val="191B2B"/>
                </a:solidFill>
                <a:latin typeface="Arial"/>
                <a:ea typeface="Arial"/>
                <a:cs typeface="Arial"/>
              </a:rPr>
              <a:t>הודעה, הסבר, סיכום או איתור מידע</a:t>
            </a:r>
          </a:p>
        </p:txBody>
      </p:sp>
      <p:sp>
        <p:nvSpPr>
          <p:cNvPr id="3" name="editable-02">
            <a:extLst>
              <a:ext uri="{FF2B5EF4-FFF2-40B4-BE49-F238E27FC236}">
                <a16:creationId xmlns:a16="http://schemas.microsoft.com/office/drawing/2014/main" id="{EAE5DDD2-9138-42A6-9BE8-70BB00FB1961}"/>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02</a:t>
            </a:r>
          </a:p>
        </p:txBody>
      </p:sp>
    </p:spTree>
    <p:extLst>
      <p:ext uri="{BB962C8B-B14F-4D97-AF65-F5344CB8AC3E}">
        <p14:creationId xmlns:p14="http://schemas.microsoft.com/office/powerpoint/2010/main" val="1273110174"/>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pic>
        <p:nvPicPr>
          <p:cNvPr id="6" name="תמונה 5">
            <a:extLst>
              <a:ext uri="{FF2B5EF4-FFF2-40B4-BE49-F238E27FC236}">
                <a16:creationId xmlns:a16="http://schemas.microsoft.com/office/drawing/2014/main" id="{220ECE7A-A054-48C5-8102-9ADB616C48AD}"/>
              </a:ext>
            </a:extLst>
          </p:cNvPr>
          <p:cNvPicPr>
            <a:picLocks noChangeAspect="1"/>
          </p:cNvPicPr>
          <p:nvPr/>
        </p:nvPicPr>
        <p:blipFill>
          <a:blip r:embed="rId3"/>
          <a:srcRect l="13021" r="13021"/>
          <a:stretch>
            <a:fillRect/>
          </a:stretch>
        </p:blipFill>
        <p:spPr>
          <a:xfrm>
            <a:off x="1000125" y="1143000"/>
            <a:ext cx="3381375" cy="4572000"/>
          </a:xfrm>
          <a:prstGeom prst="rect">
            <a:avLst/>
          </a:prstGeom>
        </p:spPr>
      </p:pic>
      <p:sp>
        <p:nvSpPr>
          <p:cNvPr id="2" name="editable-נעים להכיר">
            <a:extLst>
              <a:ext uri="{FF2B5EF4-FFF2-40B4-BE49-F238E27FC236}">
                <a16:creationId xmlns:a16="http://schemas.microsoft.com/office/drawing/2014/main" id="{8D6B1A5D-DB7D-4188-9616-03F51BAD7710}"/>
              </a:ext>
            </a:extLst>
          </p:cNvPr>
          <p:cNvSpPr>
            <a:spLocks noGrp="1"/>
          </p:cNvSpPr>
          <p:nvPr/>
        </p:nvSpPr>
        <p:spPr>
          <a:xfrm>
            <a:off x="5286375" y="1476375"/>
            <a:ext cx="5953125" cy="619125"/>
          </a:xfrm>
          <a:prstGeom prst="rect">
            <a:avLst/>
          </a:prstGeom>
          <a:noFill/>
          <a:ln w="0">
            <a:noFill/>
          </a:ln>
        </p:spPr>
        <p:txBody>
          <a:bodyPr lIns="0" tIns="0" rIns="0" bIns="0" anchor="ctr">
            <a:noAutofit/>
          </a:bodyPr>
          <a:lstStyle>
            <a:defPPr algn="r">
              <a:defRPr sz="2400" b="1">
                <a:solidFill>
                  <a:srgbClr val="5D647C"/>
                </a:solidFill>
                <a:latin typeface="Arial"/>
                <a:ea typeface="Arial"/>
                <a:cs typeface="Arial"/>
              </a:defRPr>
            </a:defPPr>
          </a:lstStyle>
          <a:p>
            <a:pPr algn="r" rtl="1">
              <a:defRPr sz="2400" b="1">
                <a:solidFill>
                  <a:srgbClr val="5D647C"/>
                </a:solidFill>
                <a:latin typeface="Arial"/>
                <a:ea typeface="Arial"/>
                <a:cs typeface="Arial"/>
              </a:defRPr>
            </a:pPr>
            <a:r>
              <a:rPr sz="2400" b="1">
                <a:solidFill>
                  <a:srgbClr val="5D647C"/>
                </a:solidFill>
                <a:latin typeface="Arial"/>
                <a:ea typeface="Arial"/>
                <a:cs typeface="Arial"/>
              </a:rPr>
              <a:t>נעים להכיר</a:t>
            </a:r>
          </a:p>
        </p:txBody>
      </p:sp>
      <p:sp>
        <p:nvSpPr>
          <p:cNvPr id="3" name="editable-כפיר משה יעקובי">
            <a:extLst>
              <a:ext uri="{FF2B5EF4-FFF2-40B4-BE49-F238E27FC236}">
                <a16:creationId xmlns:a16="http://schemas.microsoft.com/office/drawing/2014/main" id="{C09C5A1B-7AF0-4304-B77B-D4E9A195E207}"/>
              </a:ext>
            </a:extLst>
          </p:cNvPr>
          <p:cNvSpPr>
            <a:spLocks noGrp="1"/>
          </p:cNvSpPr>
          <p:nvPr/>
        </p:nvSpPr>
        <p:spPr>
          <a:xfrm>
            <a:off x="5286375" y="2476500"/>
            <a:ext cx="5953125" cy="1428750"/>
          </a:xfrm>
          <a:prstGeom prst="rect">
            <a:avLst/>
          </a:prstGeom>
          <a:noFill/>
          <a:ln w="0">
            <a:noFill/>
          </a:ln>
        </p:spPr>
        <p:txBody>
          <a:bodyPr lIns="0" tIns="0" rIns="0" bIns="0" anchor="ctr">
            <a:noAutofit/>
          </a:bodyPr>
          <a:lstStyle>
            <a:defPPr algn="r">
              <a:defRPr sz="4200" b="1">
                <a:gradFill>
                  <a:gsLst>
                    <a:gs pos="0">
                      <a:srgbClr val="4378AB"/>
                    </a:gs>
                    <a:gs pos="100000">
                      <a:srgbClr val="7A59BC"/>
                    </a:gs>
                  </a:gsLst>
                  <a:lin ang="0"/>
                </a:gradFill>
                <a:latin typeface="Arial"/>
                <a:ea typeface="Arial"/>
                <a:cs typeface="Arial"/>
              </a:defRPr>
            </a:defPPr>
          </a:lstStyle>
          <a:p>
            <a:pPr algn="r" rtl="1">
              <a:defRPr sz="4200" b="1">
                <a:solidFill>
                  <a:srgbClr val="7A59BC"/>
                </a:solidFill>
                <a:latin typeface="Arial"/>
                <a:ea typeface="Arial"/>
                <a:cs typeface="Arial"/>
              </a:defRPr>
            </a:pPr>
            <a:r>
              <a:rPr sz="4200" b="1">
                <a:gradFill>
                  <a:gsLst>
                    <a:gs pos="0">
                      <a:srgbClr val="4378AB"/>
                    </a:gs>
                    <a:gs pos="100000">
                      <a:srgbClr val="7A59BC"/>
                    </a:gs>
                  </a:gsLst>
                  <a:lin ang="0"/>
                </a:gradFill>
                <a:latin typeface="Arial"/>
                <a:ea typeface="Arial"/>
                <a:cs typeface="Arial"/>
              </a:rPr>
              <a:t>כפיר משה יעקובי</a:t>
            </a:r>
          </a:p>
        </p:txBody>
      </p:sp>
      <p:sp>
        <p:nvSpPr>
          <p:cNvPr id="4" name="editable-מרצה לבינה מלאכותית ויועץ דיגיטלי ל">
            <a:extLst>
              <a:ext uri="{FF2B5EF4-FFF2-40B4-BE49-F238E27FC236}">
                <a16:creationId xmlns:a16="http://schemas.microsoft.com/office/drawing/2014/main" id="{D6554BB0-BBFB-4160-B78E-ABA92715DC30}"/>
              </a:ext>
            </a:extLst>
          </p:cNvPr>
          <p:cNvSpPr>
            <a:spLocks noGrp="1"/>
          </p:cNvSpPr>
          <p:nvPr/>
        </p:nvSpPr>
        <p:spPr>
          <a:xfrm>
            <a:off x="5286375" y="4305300"/>
            <a:ext cx="5953125" cy="1000125"/>
          </a:xfrm>
          <a:prstGeom prst="rect">
            <a:avLst/>
          </a:prstGeom>
          <a:noFill/>
          <a:ln w="0">
            <a:noFill/>
          </a:ln>
        </p:spPr>
        <p: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מרצה לבינה מלאכותית ויועץ דיגיטלי לעסקים</a:t>
            </a:r>
          </a:p>
        </p:txBody>
      </p:sp>
      <p:sp>
        <p:nvSpPr>
          <p:cNvPr id="5" name="editable-03">
            <a:extLst>
              <a:ext uri="{FF2B5EF4-FFF2-40B4-BE49-F238E27FC236}">
                <a16:creationId xmlns:a16="http://schemas.microsoft.com/office/drawing/2014/main" id="{474529B3-81E3-4DDC-904A-BB3D015C38C4}"/>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03</a:t>
            </a:r>
          </a:p>
        </p:txBody>
      </p:sp>
    </p:spTree>
    <p:extLst>
      <p:ext uri="{BB962C8B-B14F-4D97-AF65-F5344CB8AC3E}">
        <p14:creationId xmlns:p14="http://schemas.microsoft.com/office/powerpoint/2010/main" val="675981289"/>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18243D"/>
            </a:gs>
            <a:gs pos="100000">
              <a:srgbClr val="292940"/>
            </a:gs>
          </a:gsLst>
          <a:lin ang="8400000"/>
        </a:gradFill>
        <a:effectLst/>
      </p:bgPr>
    </p:bg>
    <p:spTree>
      <p:nvGrpSpPr>
        <p:cNvPr id="1" name=""/>
        <p:cNvGrpSpPr/>
        <p:nvPr/>
      </p:nvGrpSpPr>
      <p:grpSpPr>
        <a:xfrm>
          <a:off x="0" y="0"/>
          <a:ext cx="0" cy="0"/>
          <a:chOff x="0" y="0"/>
          <a:chExt cx="0" cy="0"/>
        </a:xfrm>
      </p:grpSpPr>
      <p:pic>
        <p:nvPicPr>
          <p:cNvPr id="5" name="תמונה 4">
            <a:extLst>
              <a:ext uri="{FF2B5EF4-FFF2-40B4-BE49-F238E27FC236}">
                <a16:creationId xmlns:a16="http://schemas.microsoft.com/office/drawing/2014/main" id="{4E5B124B-C1A3-4A54-9578-24A9A9CB7177}"/>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editable-מה זה צ׳אט?">
            <a:extLst>
              <a:ext uri="{FF2B5EF4-FFF2-40B4-BE49-F238E27FC236}">
                <a16:creationId xmlns:a16="http://schemas.microsoft.com/office/drawing/2014/main" id="{0D5A03D7-C846-4CB7-AD70-8E824DD1FAF1}"/>
              </a:ext>
            </a:extLst>
          </p:cNvPr>
          <p:cNvSpPr>
            <a:spLocks noGrp="1"/>
          </p:cNvSpPr>
          <p:nvPr/>
        </p:nvSpPr>
        <p:spPr>
          <a:xfrm>
            <a:off x="6858000" y="1905000"/>
            <a:ext cx="4524375" cy="1143000"/>
          </a:xfrm>
          <a:prstGeom prst="rect">
            <a:avLst/>
          </a:prstGeom>
          <a:noFill/>
          <a:ln w="0">
            <a:noFill/>
          </a:ln>
        </p:spPr>
        <p:txBody>
          <a:bodyPr lIns="0" tIns="0" rIns="0" bIns="0" anchor="ctr">
            <a:noAutofit/>
          </a:bodyPr>
          <a:lstStyle>
            <a:defPPr algn="r">
              <a:defRPr sz="3900" b="1">
                <a:solidFill>
                  <a:srgbClr val="191B2B"/>
                </a:solidFill>
                <a:latin typeface="Arial"/>
                <a:ea typeface="Arial"/>
                <a:cs typeface="Arial"/>
              </a:defRPr>
            </a:defPPr>
          </a:lstStyle>
          <a:p>
            <a:pPr algn="r" rtl="1">
              <a:defRPr sz="3900" b="1">
                <a:solidFill>
                  <a:srgbClr val="191B2B"/>
                </a:solidFill>
                <a:latin typeface="Arial"/>
                <a:ea typeface="Arial"/>
                <a:cs typeface="Arial"/>
              </a:defRPr>
            </a:pPr>
            <a:r>
              <a:rPr sz="3900" b="1">
                <a:solidFill>
                  <a:srgbClr val="191B2B"/>
                </a:solidFill>
                <a:latin typeface="Arial"/>
                <a:ea typeface="Arial"/>
                <a:cs typeface="Arial"/>
              </a:rPr>
              <a:t>מה זה צ׳אט?</a:t>
            </a:r>
          </a:p>
        </p:txBody>
      </p:sp>
      <p:sp>
        <p:nvSpPr>
          <p:cNvPr id="3" name="editable-שיחה שמייצרת טיוטה&#10;על בסיס ההקשר שנ">
            <a:extLst>
              <a:ext uri="{FF2B5EF4-FFF2-40B4-BE49-F238E27FC236}">
                <a16:creationId xmlns:a16="http://schemas.microsoft.com/office/drawing/2014/main" id="{C8B61D8A-8F3F-4C4E-99CE-2D85A935084D}"/>
              </a:ext>
            </a:extLst>
          </p:cNvPr>
          <p:cNvSpPr>
            <a:spLocks noGrp="1"/>
          </p:cNvSpPr>
          <p:nvPr/>
        </p:nvSpPr>
        <p:spPr>
          <a:xfrm>
            <a:off x="7048500" y="3476625"/>
            <a:ext cx="4333875" cy="1524000"/>
          </a:xfrm>
          <a:prstGeom prst="rect">
            <a:avLst/>
          </a:prstGeom>
          <a:noFill/>
          <a:ln w="0">
            <a:noFill/>
          </a:ln>
        </p:spPr>
        <p:txBody>
          <a:bodyPr lIns="0" tIns="0" rIns="0" bIns="0" anchor="ctr">
            <a:noAutofit/>
          </a:bodyPr>
          <a:lstStyle>
            <a:defPPr algn="r">
              <a:defRPr sz="2400" b="0">
                <a:solidFill>
                  <a:srgbClr val="7A59BC"/>
                </a:solidFill>
                <a:latin typeface="Arial"/>
                <a:ea typeface="Arial"/>
                <a:cs typeface="Arial"/>
              </a:defRPr>
            </a:defPPr>
          </a:lstStyle>
          <a:p>
            <a:pPr algn="r" rtl="1">
              <a:defRPr sz="2400" b="0">
                <a:solidFill>
                  <a:srgbClr val="7A59BC"/>
                </a:solidFill>
                <a:latin typeface="Arial"/>
                <a:ea typeface="Arial"/>
                <a:cs typeface="Arial"/>
              </a:defRPr>
            </a:pPr>
            <a:r>
              <a:rPr sz="2400" b="0">
                <a:solidFill>
                  <a:srgbClr val="7A59BC"/>
                </a:solidFill>
                <a:latin typeface="Arial"/>
                <a:ea typeface="Arial"/>
                <a:cs typeface="Arial"/>
              </a:rPr>
              <a:t>שיחה שמייצרת טיוטה</a:t>
            </a:r>
          </a:p>
          <a:p>
            <a:pPr algn="r" rtl="1">
              <a:defRPr sz="2400" b="0">
                <a:solidFill>
                  <a:srgbClr val="7A59BC"/>
                </a:solidFill>
                <a:latin typeface="Arial"/>
                <a:ea typeface="Arial"/>
                <a:cs typeface="Arial"/>
              </a:defRPr>
            </a:pPr>
            <a:r>
              <a:rPr sz="2400" b="0">
                <a:solidFill>
                  <a:srgbClr val="7A59BC"/>
                </a:solidFill>
                <a:latin typeface="Arial"/>
                <a:ea typeface="Arial"/>
                <a:cs typeface="Arial"/>
              </a:rPr>
              <a:t>על בסיס ההקשר שנתתם</a:t>
            </a:r>
          </a:p>
        </p:txBody>
      </p:sp>
      <p:sp>
        <p:nvSpPr>
          <p:cNvPr id="4" name="editable-04">
            <a:extLst>
              <a:ext uri="{FF2B5EF4-FFF2-40B4-BE49-F238E27FC236}">
                <a16:creationId xmlns:a16="http://schemas.microsoft.com/office/drawing/2014/main" id="{819853CE-861A-4028-A827-A7198ECF6778}"/>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6D9"/>
                </a:solidFill>
                <a:latin typeface="Arial"/>
                <a:ea typeface="Arial"/>
                <a:cs typeface="Arial"/>
              </a:defRPr>
            </a:defPPr>
          </a:lstStyle>
          <a:p>
            <a:pPr algn="r">
              <a:defRPr sz="1200" b="0">
                <a:solidFill>
                  <a:srgbClr val="B9C6D9"/>
                </a:solidFill>
                <a:latin typeface="Arial"/>
                <a:ea typeface="Arial"/>
                <a:cs typeface="Arial"/>
              </a:defRPr>
            </a:pPr>
            <a:r>
              <a:rPr sz="1200" b="0">
                <a:solidFill>
                  <a:srgbClr val="B9C6D9"/>
                </a:solidFill>
                <a:latin typeface="Arial"/>
                <a:ea typeface="Arial"/>
                <a:cs typeface="Arial"/>
              </a:rPr>
              <a:t>04</a:t>
            </a:r>
          </a:p>
        </p:txBody>
      </p:sp>
    </p:spTree>
    <p:extLst>
      <p:ext uri="{BB962C8B-B14F-4D97-AF65-F5344CB8AC3E}">
        <p14:creationId xmlns:p14="http://schemas.microsoft.com/office/powerpoint/2010/main" val="30334148"/>
      </p:ext>
    </p:extLst>
  </p:cSld>
  <p:clrMapOvr>
    <a:masterClrMapping/>
  </p:clrMapOvr>
  <mc:AlternateContent xmlns:mc="http://schemas.openxmlformats.org/markup-compatibility/2006" xmlns:p14="http://schemas.microsoft.com/office/powerpoint/2010/main">
    <mc:Choice Requires="p14">
      <p:transition p14:dur="35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71B22"/>
        </a:solidFill>
        <a:effectLst/>
      </p:bgPr>
    </p:bg>
    <p:spTree>
      <p:nvGrpSpPr>
        <p:cNvPr id="1" name=""/>
        <p:cNvGrpSpPr/>
        <p:nvPr/>
      </p:nvGrpSpPr>
      <p:grpSpPr>
        <a:xfrm>
          <a:off x="0" y="0"/>
          <a:ext cx="0" cy="0"/>
          <a:chOff x="0" y="0"/>
          <a:chExt cx="0" cy="0"/>
        </a:xfrm>
      </p:grpSpPr>
      <p:sp>
        <p:nvSpPr>
          <p:cNvPr id="4" name="editable-טיוטה, לא סמכות">
            <a:extLst>
              <a:ext uri="{FF2B5EF4-FFF2-40B4-BE49-F238E27FC236}">
                <a16:creationId xmlns:a16="http://schemas.microsoft.com/office/drawing/2014/main" id="{F06BE0B7-4E07-4EEC-880F-DC1252B63F35}"/>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טיוטה, לא סמכות</a:t>
            </a:r>
          </a:p>
        </p:txBody>
      </p:sp>
      <p:sp>
        <p:nvSpPr>
          <p:cNvPr id="2" name="editable-בודקים את המקור ואת הפרטים&#10;התרגול ה">
            <a:extLst>
              <a:ext uri="{FF2B5EF4-FFF2-40B4-BE49-F238E27FC236}">
                <a16:creationId xmlns:a16="http://schemas.microsoft.com/office/drawing/2014/main" id="{929CE976-B7DB-425B-A634-5AD98B5BFA7D}"/>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3000" b="0">
                <a:solidFill>
                  <a:srgbClr val="F7F8FC"/>
                </a:solidFill>
                <a:latin typeface="Arial"/>
                <a:ea typeface="Arial"/>
                <a:cs typeface="Arial"/>
              </a:defRPr>
            </a:defPPr>
          </a:lstStyle>
          <a:p>
            <a:pPr algn="ctr" rtl="1">
              <a:defRPr sz="3000" b="0">
                <a:solidFill>
                  <a:srgbClr val="F7F8FC"/>
                </a:solidFill>
                <a:latin typeface="Arial"/>
                <a:ea typeface="Arial"/>
                <a:cs typeface="Arial"/>
              </a:defRPr>
            </a:pPr>
            <a:r>
              <a:rPr sz="3000" b="0">
                <a:solidFill>
                  <a:srgbClr val="F7F8FC"/>
                </a:solidFill>
                <a:latin typeface="Arial"/>
                <a:ea typeface="Arial"/>
                <a:cs typeface="Arial"/>
              </a:rPr>
              <a:t>בודקים את המקור ואת הפרטים</a:t>
            </a:r>
          </a:p>
          <a:p>
            <a:pPr algn="ctr" rtl="1">
              <a:defRPr sz="3000" b="0">
                <a:solidFill>
                  <a:srgbClr val="F7F8FC"/>
                </a:solidFill>
                <a:latin typeface="Arial"/>
                <a:ea typeface="Arial"/>
                <a:cs typeface="Arial"/>
              </a:defRPr>
            </a:pPr>
            <a:r>
              <a:rPr sz="3000" b="0">
                <a:solidFill>
                  <a:srgbClr val="F7F8FC"/>
                </a:solidFill>
                <a:latin typeface="Arial"/>
                <a:ea typeface="Arial"/>
                <a:cs typeface="Arial"/>
              </a:rPr>
              <a:t>התרגול היום על מידע פיקטיבי בלבד</a:t>
            </a:r>
          </a:p>
        </p:txBody>
      </p:sp>
      <p:sp>
        <p:nvSpPr>
          <p:cNvPr id="3" name="editable-05">
            <a:extLst>
              <a:ext uri="{FF2B5EF4-FFF2-40B4-BE49-F238E27FC236}">
                <a16:creationId xmlns:a16="http://schemas.microsoft.com/office/drawing/2014/main" id="{1AAF931F-EE6A-44FE-998F-0BB405604097}"/>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3CE"/>
                </a:solidFill>
                <a:latin typeface="Arial"/>
                <a:ea typeface="Arial"/>
                <a:cs typeface="Arial"/>
              </a:defRPr>
            </a:defPPr>
          </a:lstStyle>
          <a:p>
            <a:pPr algn="r">
              <a:defRPr sz="1200" b="0">
                <a:solidFill>
                  <a:srgbClr val="B9C3CE"/>
                </a:solidFill>
                <a:latin typeface="Arial"/>
                <a:ea typeface="Arial"/>
                <a:cs typeface="Arial"/>
              </a:defRPr>
            </a:pPr>
            <a:r>
              <a:rPr sz="1200" b="0">
                <a:solidFill>
                  <a:srgbClr val="B9C3CE"/>
                </a:solidFill>
                <a:latin typeface="Arial"/>
                <a:ea typeface="Arial"/>
                <a:cs typeface="Arial"/>
              </a:rPr>
              <a:t>05</a:t>
            </a:r>
          </a:p>
        </p:txBody>
      </p:sp>
    </p:spTree>
    <p:extLst>
      <p:ext uri="{BB962C8B-B14F-4D97-AF65-F5344CB8AC3E}">
        <p14:creationId xmlns:p14="http://schemas.microsoft.com/office/powerpoint/2010/main" val="1683092378"/>
      </p:ext>
    </p:extLst>
  </p:cSld>
  <p:clrMapOvr>
    <a:masterClrMapping/>
  </p:clrMapOvr>
  <mc:AlternateContent xmlns:mc="http://schemas.openxmlformats.org/markup-compatibility/2006" xmlns:p14="http://schemas.microsoft.com/office/powerpoint/2010/main">
    <mc:Choice Requires="p14">
      <p:transition p14:dur="35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שימושים בצ׳אט">
            <a:extLst>
              <a:ext uri="{FF2B5EF4-FFF2-40B4-BE49-F238E27FC236}">
                <a16:creationId xmlns:a16="http://schemas.microsoft.com/office/drawing/2014/main" id="{95B149FA-3547-460A-98B1-AA7E50C69169}"/>
              </a:ext>
            </a:extLst>
          </p:cNvPr>
          <p:cNvSpPr>
            <a:spLocks noGrp="1"/>
          </p:cNvSpPr>
          <p:nvPr/>
        </p:nvSpPr>
        <p:spPr>
          <a:xfrm>
            <a:off x="762000" y="619125"/>
            <a:ext cx="10668000" cy="952500"/>
          </a:xfrm>
          <a:prstGeom prst="rect">
            <a:avLst/>
          </a:prstGeom>
          <a:noFill/>
          <a:ln w="0">
            <a:noFill/>
          </a:ln>
        </p:spPr>
        <p:txBody>
          <a:bodyPr lIns="0" tIns="0" rIns="0" bIns="0" anchor="ctr">
            <a:noAutofit/>
          </a:bodyPr>
          <a:lstStyle>
            <a:defPPr algn="r">
              <a:defRPr sz="4500" b="1">
                <a:solidFill>
                  <a:srgbClr val="191B2B"/>
                </a:solidFill>
                <a:latin typeface="Arial"/>
                <a:ea typeface="Arial"/>
                <a:cs typeface="Arial"/>
              </a:defRPr>
            </a:defPPr>
          </a:lstStyle>
          <a:p>
            <a:pPr algn="r" rtl="1">
              <a:defRPr sz="4500" b="1">
                <a:solidFill>
                  <a:srgbClr val="191B2B"/>
                </a:solidFill>
                <a:latin typeface="Arial"/>
                <a:ea typeface="Arial"/>
                <a:cs typeface="Arial"/>
              </a:defRPr>
            </a:pPr>
            <a:r>
              <a:rPr sz="4500" b="1">
                <a:solidFill>
                  <a:srgbClr val="191B2B"/>
                </a:solidFill>
                <a:latin typeface="Arial"/>
                <a:ea typeface="Arial"/>
                <a:cs typeface="Arial"/>
              </a:rPr>
              <a:t>שימושים בצ׳אט</a:t>
            </a:r>
          </a:p>
        </p:txBody>
      </p:sp>
      <p:pic>
        <p:nvPicPr>
          <p:cNvPr id="2" name="תמונה 1">
            <a:extLst>
              <a:ext uri="{FF2B5EF4-FFF2-40B4-BE49-F238E27FC236}">
                <a16:creationId xmlns:a16="http://schemas.microsoft.com/office/drawing/2014/main" id="{B4D23BDE-F4E4-46FB-9095-B1573E7F41B8}"/>
              </a:ext>
            </a:extLst>
          </p:cNvPr>
          <p:cNvPicPr>
            <a:picLocks noChangeAspect="1"/>
          </p:cNvPicPr>
          <p:nvPr/>
        </p:nvPicPr>
        <p:blipFill>
          <a:blip r:embed="rId3"/>
          <a:stretch/>
        </p:blipFill>
        <p:spPr>
          <a:xfrm>
            <a:off x="7448550" y="2381250"/>
            <a:ext cx="2914650" cy="857250"/>
          </a:xfrm>
          <a:prstGeom prst="rect">
            <a:avLst/>
          </a:prstGeom>
        </p:spPr>
      </p:pic>
      <p:pic>
        <p:nvPicPr>
          <p:cNvPr id="3" name="תמונה 2">
            <a:extLst>
              <a:ext uri="{FF2B5EF4-FFF2-40B4-BE49-F238E27FC236}">
                <a16:creationId xmlns:a16="http://schemas.microsoft.com/office/drawing/2014/main" id="{AF5AD98F-85AC-4E6D-8C88-A60409A84D1E}"/>
              </a:ext>
            </a:extLst>
          </p:cNvPr>
          <p:cNvPicPr>
            <a:picLocks noChangeAspect="1"/>
          </p:cNvPicPr>
          <p:nvPr/>
        </p:nvPicPr>
        <p:blipFill>
          <a:blip r:embed="rId4"/>
          <a:stretch/>
        </p:blipFill>
        <p:spPr>
          <a:xfrm>
            <a:off x="1195388" y="2381250"/>
            <a:ext cx="3800475" cy="857250"/>
          </a:xfrm>
          <a:prstGeom prst="rect">
            <a:avLst/>
          </a:prstGeom>
        </p:spPr>
      </p:pic>
      <p:pic>
        <p:nvPicPr>
          <p:cNvPr id="4" name="תמונה 3">
            <a:extLst>
              <a:ext uri="{FF2B5EF4-FFF2-40B4-BE49-F238E27FC236}">
                <a16:creationId xmlns:a16="http://schemas.microsoft.com/office/drawing/2014/main" id="{9678C512-7541-42BC-8A11-8C08DC6707CC}"/>
              </a:ext>
            </a:extLst>
          </p:cNvPr>
          <p:cNvPicPr>
            <a:picLocks noChangeAspect="1"/>
          </p:cNvPicPr>
          <p:nvPr/>
        </p:nvPicPr>
        <p:blipFill>
          <a:blip r:embed="rId5"/>
          <a:stretch/>
        </p:blipFill>
        <p:spPr>
          <a:xfrm>
            <a:off x="6927056" y="4048125"/>
            <a:ext cx="3957637" cy="857250"/>
          </a:xfrm>
          <a:prstGeom prst="rect">
            <a:avLst/>
          </a:prstGeom>
        </p:spPr>
      </p:pic>
      <p:pic>
        <p:nvPicPr>
          <p:cNvPr id="5" name="תמונה 4">
            <a:extLst>
              <a:ext uri="{FF2B5EF4-FFF2-40B4-BE49-F238E27FC236}">
                <a16:creationId xmlns:a16="http://schemas.microsoft.com/office/drawing/2014/main" id="{9EB637F2-0F32-464D-B1AC-5BAE3D035FDE}"/>
              </a:ext>
            </a:extLst>
          </p:cNvPr>
          <p:cNvPicPr>
            <a:picLocks noChangeAspect="1"/>
          </p:cNvPicPr>
          <p:nvPr/>
        </p:nvPicPr>
        <p:blipFill>
          <a:blip r:embed="rId6"/>
          <a:stretch/>
        </p:blipFill>
        <p:spPr>
          <a:xfrm>
            <a:off x="1054894" y="4048125"/>
            <a:ext cx="4081463" cy="857250"/>
          </a:xfrm>
          <a:prstGeom prst="rect">
            <a:avLst/>
          </a:prstGeom>
        </p:spPr>
      </p:pic>
      <p:sp>
        <p:nvSpPr>
          <p:cNvPr id="6" name="editable-ניסוח · הסבר · סיכום">
            <a:extLst>
              <a:ext uri="{FF2B5EF4-FFF2-40B4-BE49-F238E27FC236}">
                <a16:creationId xmlns:a16="http://schemas.microsoft.com/office/drawing/2014/main" id="{8060255F-9A81-4D05-B6DD-9170FA2BA469}"/>
              </a:ext>
            </a:extLst>
          </p:cNvPr>
          <p:cNvSpPr>
            <a:spLocks noGrp="1"/>
          </p:cNvSpPr>
          <p:nvPr/>
        </p:nvSpPr>
        <p:spPr>
          <a:xfrm>
            <a:off x="857250" y="5810250"/>
            <a:ext cx="10477500" cy="571500"/>
          </a:xfrm>
          <a:prstGeom prst="rect">
            <a:avLst/>
          </a:prstGeom>
          <a:noFill/>
          <a:ln w="0">
            <a:noFill/>
          </a:ln>
        </p:spPr>
        <p:txBody>
          <a:bodyPr lIns="0" tIns="0" rIns="0" bIns="0" anchor="ctr">
            <a:noAutofit/>
          </a:bodyPr>
          <a:lstStyle>
            <a:defPPr algn="ctr">
              <a:defRPr sz="2175" b="0">
                <a:solidFill>
                  <a:srgbClr val="5D647C"/>
                </a:solidFill>
                <a:latin typeface="Arial"/>
                <a:ea typeface="Arial"/>
                <a:cs typeface="Arial"/>
              </a:defRPr>
            </a:defPPr>
          </a:lstStyle>
          <a:p>
            <a:pPr algn="ctr" rtl="1">
              <a:defRPr sz="2175" b="0">
                <a:solidFill>
                  <a:srgbClr val="5D647C"/>
                </a:solidFill>
                <a:latin typeface="Arial"/>
                <a:ea typeface="Arial"/>
                <a:cs typeface="Arial"/>
              </a:defRPr>
            </a:pPr>
            <a:r>
              <a:rPr sz="2175" b="0">
                <a:solidFill>
                  <a:srgbClr val="5D647C"/>
                </a:solidFill>
                <a:latin typeface="Arial"/>
                <a:ea typeface="Arial"/>
                <a:cs typeface="Arial"/>
              </a:rPr>
              <a:t>ניסוח · הסבר · סיכום</a:t>
            </a:r>
          </a:p>
        </p:txBody>
      </p:sp>
      <p:sp>
        <p:nvSpPr>
          <p:cNvPr id="7" name="editable-06">
            <a:extLst>
              <a:ext uri="{FF2B5EF4-FFF2-40B4-BE49-F238E27FC236}">
                <a16:creationId xmlns:a16="http://schemas.microsoft.com/office/drawing/2014/main" id="{A9D38402-D8D0-4E48-B68E-4EB9C0B61CC5}"/>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06</a:t>
            </a:r>
          </a:p>
        </p:txBody>
      </p:sp>
    </p:spTree>
    <p:extLst>
      <p:ext uri="{BB962C8B-B14F-4D97-AF65-F5344CB8AC3E}">
        <p14:creationId xmlns:p14="http://schemas.microsoft.com/office/powerpoint/2010/main" val="722356636"/>
      </p:ext>
    </p:extLst>
  </p:cSld>
  <p:clrMapOvr>
    <a:masterClrMapping/>
  </p:clrMapOvr>
  <mc:AlternateContent xmlns:mc="http://schemas.openxmlformats.org/markup-compatibility/2006" xmlns:p14="http://schemas.microsoft.com/office/powerpoint/2010/main">
    <mc:Choice Requires="p14">
      <p:transition p14:dur="35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par>
                                <p:cTn id="17" presetID="10" presetClass="entr" presetSubtype="0" accel="50000" decel="5000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childTnLst>
                                </p:cTn>
                              </p:par>
                              <p:par>
                                <p:cTn id="20" presetID="10" presetClass="entr" presetSubtype="0" accel="50000" decel="5000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2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בקשה שאפשר לבדוק">
            <a:extLst>
              <a:ext uri="{FF2B5EF4-FFF2-40B4-BE49-F238E27FC236}">
                <a16:creationId xmlns:a16="http://schemas.microsoft.com/office/drawing/2014/main" id="{56210F21-62FB-4AC3-8327-20B9F2126C7D}"/>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בקשה שאפשר לבדוק</a:t>
            </a:r>
          </a:p>
        </p:txBody>
      </p:sp>
      <p:sp>
        <p:nvSpPr>
          <p:cNvPr id="2" name="editable-המקור והקהל">
            <a:extLst>
              <a:ext uri="{FF2B5EF4-FFF2-40B4-BE49-F238E27FC236}">
                <a16:creationId xmlns:a16="http://schemas.microsoft.com/office/drawing/2014/main" id="{2DC7F1C8-99D3-4258-818E-96ED6C7DD2EC}"/>
              </a:ext>
            </a:extLst>
          </p:cNvPr>
          <p:cNvSpPr>
            <a:spLocks noGrp="1"/>
          </p:cNvSpPr>
          <p:nvPr/>
        </p:nvSpPr>
        <p:spPr>
          <a:xfrm>
            <a:off x="857250" y="2143125"/>
            <a:ext cx="10477500" cy="723900"/>
          </a:xfrm>
          <a:prstGeom prst="rect">
            <a:avLst/>
          </a:prstGeom>
          <a:noFill/>
          <a:ln w="0">
            <a:noFill/>
          </a:ln>
        </p:spPr>
        <p:txBody>
          <a:bodyPr lIns="0" tIns="0" rIns="0" bIns="0" anchor="ctr">
            <a:noAutofit/>
          </a:bodyPr>
          <a:lstStyle>
            <a:defPPr algn="r">
              <a:defRPr sz="3150" b="0">
                <a:solidFill>
                  <a:srgbClr val="7A59BC"/>
                </a:solidFill>
                <a:latin typeface="Arial"/>
                <a:ea typeface="Arial"/>
                <a:cs typeface="Arial"/>
              </a:defRPr>
            </a:defPPr>
          </a:lstStyle>
          <a:p>
            <a:pPr algn="r" rtl="1">
              <a:defRPr sz="3150" b="0">
                <a:solidFill>
                  <a:srgbClr val="7A59BC"/>
                </a:solidFill>
                <a:latin typeface="Arial"/>
                <a:ea typeface="Arial"/>
                <a:cs typeface="Arial"/>
              </a:defRPr>
            </a:pPr>
            <a:r>
              <a:rPr sz="3150" b="0">
                <a:solidFill>
                  <a:srgbClr val="7A59BC"/>
                </a:solidFill>
                <a:latin typeface="Arial"/>
                <a:ea typeface="Arial"/>
                <a:cs typeface="Arial"/>
              </a:rPr>
              <a:t>המקור והקהל</a:t>
            </a:r>
          </a:p>
        </p:txBody>
      </p:sp>
      <p:sp>
        <p:nvSpPr>
          <p:cNvPr id="3" name="editable-התוצר והאורך">
            <a:extLst>
              <a:ext uri="{FF2B5EF4-FFF2-40B4-BE49-F238E27FC236}">
                <a16:creationId xmlns:a16="http://schemas.microsoft.com/office/drawing/2014/main" id="{3DDC58E8-9D2D-42A8-A731-27071EB4DCF9}"/>
              </a:ext>
            </a:extLst>
          </p:cNvPr>
          <p:cNvSpPr>
            <a:spLocks noGrp="1"/>
          </p:cNvSpPr>
          <p:nvPr/>
        </p:nvSpPr>
        <p:spPr>
          <a:xfrm>
            <a:off x="857250" y="3171825"/>
            <a:ext cx="10477500" cy="723900"/>
          </a:xfrm>
          <a:prstGeom prst="rect">
            <a:avLst/>
          </a:prstGeom>
          <a:noFill/>
          <a:ln w="0">
            <a:noFill/>
          </a:ln>
        </p:spPr>
        <p:txBody>
          <a:bodyPr lIns="0" tIns="0" rIns="0" bIns="0" anchor="ctr">
            <a:noAutofit/>
          </a:bodyPr>
          <a:lstStyle>
            <a:defPPr algn="r">
              <a:defRPr sz="3150" b="0">
                <a:solidFill>
                  <a:srgbClr val="191B2B"/>
                </a:solidFill>
                <a:latin typeface="Arial"/>
                <a:ea typeface="Arial"/>
                <a:cs typeface="Arial"/>
              </a:defRPr>
            </a:defPPr>
          </a:lstStyle>
          <a:p>
            <a:pPr algn="r" rtl="1">
              <a:defRPr sz="3150" b="0">
                <a:solidFill>
                  <a:srgbClr val="191B2B"/>
                </a:solidFill>
                <a:latin typeface="Arial"/>
                <a:ea typeface="Arial"/>
                <a:cs typeface="Arial"/>
              </a:defRPr>
            </a:pPr>
            <a:r>
              <a:rPr sz="3150" b="0">
                <a:solidFill>
                  <a:srgbClr val="191B2B"/>
                </a:solidFill>
                <a:latin typeface="Arial"/>
                <a:ea typeface="Arial"/>
                <a:cs typeface="Arial"/>
              </a:rPr>
              <a:t>התוצר והאורך</a:t>
            </a:r>
          </a:p>
        </p:txBody>
      </p:sp>
      <p:sp>
        <p:nvSpPr>
          <p:cNvPr id="4" name="editable-מה אסור להשלים">
            <a:extLst>
              <a:ext uri="{FF2B5EF4-FFF2-40B4-BE49-F238E27FC236}">
                <a16:creationId xmlns:a16="http://schemas.microsoft.com/office/drawing/2014/main" id="{7A9EA885-8BB3-4EB3-A3E2-455548AA8CD1}"/>
              </a:ext>
            </a:extLst>
          </p:cNvPr>
          <p:cNvSpPr>
            <a:spLocks noGrp="1"/>
          </p:cNvSpPr>
          <p:nvPr/>
        </p:nvSpPr>
        <p:spPr>
          <a:xfrm>
            <a:off x="857250" y="4200525"/>
            <a:ext cx="10477500" cy="723900"/>
          </a:xfrm>
          <a:prstGeom prst="rect">
            <a:avLst/>
          </a:prstGeom>
          <a:noFill/>
          <a:ln w="0">
            <a:noFill/>
          </a:ln>
        </p:spPr>
        <p:txBody>
          <a:bodyPr lIns="0" tIns="0" rIns="0" bIns="0" anchor="ctr">
            <a:noAutofit/>
          </a:bodyPr>
          <a:lstStyle>
            <a:defPPr algn="r">
              <a:defRPr sz="3150" b="0">
                <a:solidFill>
                  <a:srgbClr val="191B2B"/>
                </a:solidFill>
                <a:latin typeface="Arial"/>
                <a:ea typeface="Arial"/>
                <a:cs typeface="Arial"/>
              </a:defRPr>
            </a:defPPr>
          </a:lstStyle>
          <a:p>
            <a:pPr algn="r" rtl="1">
              <a:defRPr sz="3150" b="0">
                <a:solidFill>
                  <a:srgbClr val="191B2B"/>
                </a:solidFill>
                <a:latin typeface="Arial"/>
                <a:ea typeface="Arial"/>
                <a:cs typeface="Arial"/>
              </a:defRPr>
            </a:pPr>
            <a:r>
              <a:rPr sz="3150" b="0">
                <a:solidFill>
                  <a:srgbClr val="191B2B"/>
                </a:solidFill>
                <a:latin typeface="Arial"/>
                <a:ea typeface="Arial"/>
                <a:cs typeface="Arial"/>
              </a:rPr>
              <a:t>מה אסור להשלים</a:t>
            </a:r>
          </a:p>
        </p:txBody>
      </p:sp>
      <p:sp>
        <p:nvSpPr>
          <p:cNvPr id="5" name="editable-07">
            <a:extLst>
              <a:ext uri="{FF2B5EF4-FFF2-40B4-BE49-F238E27FC236}">
                <a16:creationId xmlns:a16="http://schemas.microsoft.com/office/drawing/2014/main" id="{30407A16-2175-455E-89A9-5F3A66A1D894}"/>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07</a:t>
            </a:r>
          </a:p>
        </p:txBody>
      </p:sp>
    </p:spTree>
    <p:extLst>
      <p:ext uri="{BB962C8B-B14F-4D97-AF65-F5344CB8AC3E}">
        <p14:creationId xmlns:p14="http://schemas.microsoft.com/office/powerpoint/2010/main" val="1205228560"/>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8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accel="50000" decel="5000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8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accel="50000" decel="5000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28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הודעה למטופלים">
            <a:extLst>
              <a:ext uri="{FF2B5EF4-FFF2-40B4-BE49-F238E27FC236}">
                <a16:creationId xmlns:a16="http://schemas.microsoft.com/office/drawing/2014/main" id="{1F37F71C-A0B0-4B58-A22A-4A6A03D260FF}"/>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הודעה למטופלים</a:t>
            </a:r>
          </a:p>
        </p:txBody>
      </p:sp>
      <p:pic>
        <p:nvPicPr>
          <p:cNvPr id="2" name="תמונה 1">
            <a:extLst>
              <a:ext uri="{FF2B5EF4-FFF2-40B4-BE49-F238E27FC236}">
                <a16:creationId xmlns:a16="http://schemas.microsoft.com/office/drawing/2014/main" id="{839499E1-246F-4086-87F6-B59CEA210B35}"/>
              </a:ext>
            </a:extLst>
          </p:cNvPr>
          <p:cNvPicPr>
            <a:picLocks noChangeAspect="1"/>
          </p:cNvPicPr>
          <p:nvPr/>
        </p:nvPicPr>
        <p:blipFill>
          <a:blip r:embed="rId3"/>
          <a:stretch/>
        </p:blipFill>
        <p:spPr>
          <a:xfrm>
            <a:off x="987743" y="914400"/>
            <a:ext cx="2072640" cy="609600"/>
          </a:xfrm>
          <a:prstGeom prst="rect">
            <a:avLst/>
          </a:prstGeom>
        </p:spPr>
      </p:pic>
      <p:sp>
        <p:nvSpPr>
          <p:cNvPr id="3" name="editable-מתוך מסמך א בלבד, נסח הודעה קצרה למ">
            <a:extLst>
              <a:ext uri="{FF2B5EF4-FFF2-40B4-BE49-F238E27FC236}">
                <a16:creationId xmlns:a16="http://schemas.microsoft.com/office/drawing/2014/main" id="{474D81B8-18D0-49D9-8915-2413FA598EEC}"/>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מתוך מסמך א בלבד, נסח הודעה קצרה למטופלים ולמלווים. כלול שעה, חדר, הגעה ומה להביא. השתמש בעברית פשוטה. סמן פרט חסר ואל תשלים הוראות רפואיות או פרטי קשר.</a:t>
            </a:r>
          </a:p>
        </p:txBody>
      </p:sp>
      <p:sp>
        <p:nvSpPr>
          <p:cNvPr id="4" name="editable-הפרומפט המלא עם המקור מוכן להעתקה ב">
            <a:extLst>
              <a:ext uri="{FF2B5EF4-FFF2-40B4-BE49-F238E27FC236}">
                <a16:creationId xmlns:a16="http://schemas.microsoft.com/office/drawing/2014/main" id="{4437125F-6869-41D3-86D9-9405EB4F70A5}"/>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02">
            <a:extLst>
              <a:ext uri="{FF2B5EF4-FFF2-40B4-BE49-F238E27FC236}">
                <a16:creationId xmlns:a16="http://schemas.microsoft.com/office/drawing/2014/main" id="{DF575AE9-9789-4683-8873-97F2A2AE2119}"/>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P02</a:t>
            </a:r>
          </a:p>
        </p:txBody>
      </p:sp>
      <p:sp>
        <p:nvSpPr>
          <p:cNvPr id="6" name="editable-08">
            <a:extLst>
              <a:ext uri="{FF2B5EF4-FFF2-40B4-BE49-F238E27FC236}">
                <a16:creationId xmlns:a16="http://schemas.microsoft.com/office/drawing/2014/main" id="{468815BF-6D87-47C9-B898-03186B4A48B3}"/>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08</a:t>
            </a:r>
          </a:p>
        </p:txBody>
      </p:sp>
    </p:spTree>
    <p:extLst>
      <p:ext uri="{BB962C8B-B14F-4D97-AF65-F5344CB8AC3E}">
        <p14:creationId xmlns:p14="http://schemas.microsoft.com/office/powerpoint/2010/main" val="1009713313"/>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רשימת בדיקות לצוות">
            <a:extLst>
              <a:ext uri="{FF2B5EF4-FFF2-40B4-BE49-F238E27FC236}">
                <a16:creationId xmlns:a16="http://schemas.microsoft.com/office/drawing/2014/main" id="{9B234356-1A67-4887-8D56-480930930EDF}"/>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רשימת בדיקות לצוות</a:t>
            </a:r>
          </a:p>
        </p:txBody>
      </p:sp>
      <p:pic>
        <p:nvPicPr>
          <p:cNvPr id="2" name="תמונה 1">
            <a:extLst>
              <a:ext uri="{FF2B5EF4-FFF2-40B4-BE49-F238E27FC236}">
                <a16:creationId xmlns:a16="http://schemas.microsoft.com/office/drawing/2014/main" id="{8F8C7DD5-8E48-4940-BCE4-3A3E9268C475}"/>
              </a:ext>
            </a:extLst>
          </p:cNvPr>
          <p:cNvPicPr>
            <a:picLocks noChangeAspect="1"/>
          </p:cNvPicPr>
          <p:nvPr/>
        </p:nvPicPr>
        <p:blipFill>
          <a:blip r:embed="rId3"/>
          <a:stretch/>
        </p:blipFill>
        <p:spPr>
          <a:xfrm>
            <a:off x="857250" y="966461"/>
            <a:ext cx="2333625" cy="505478"/>
          </a:xfrm>
          <a:prstGeom prst="rect">
            <a:avLst/>
          </a:prstGeom>
        </p:spPr>
      </p:pic>
      <p:sp>
        <p:nvSpPr>
          <p:cNvPr id="3" name="editable-מתוך מסמך ג בלבד, הפק רשימת בדיקות ">
            <a:extLst>
              <a:ext uri="{FF2B5EF4-FFF2-40B4-BE49-F238E27FC236}">
                <a16:creationId xmlns:a16="http://schemas.microsoft.com/office/drawing/2014/main" id="{56F82AD3-A8C6-4977-B6B6-F28BA1905AE0}"/>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מתוך מסמך ג בלבד, הפק רשימת בדיקות לקראת יום ההדרכה. לכל בדיקה ציין אחראי ועיתוי אם נכתבו במקור. הפרד פרטים שחסרים לבירור. אל תמציא תקציב או זמן תגובה.</a:t>
            </a:r>
          </a:p>
        </p:txBody>
      </p:sp>
      <p:sp>
        <p:nvSpPr>
          <p:cNvPr id="4" name="editable-הפרומפט המלא עם המקור מוכן להעתקה ב">
            <a:extLst>
              <a:ext uri="{FF2B5EF4-FFF2-40B4-BE49-F238E27FC236}">
                <a16:creationId xmlns:a16="http://schemas.microsoft.com/office/drawing/2014/main" id="{FDEC25DB-F9CC-47E1-9547-BF15F1B67B83}"/>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03">
            <a:extLst>
              <a:ext uri="{FF2B5EF4-FFF2-40B4-BE49-F238E27FC236}">
                <a16:creationId xmlns:a16="http://schemas.microsoft.com/office/drawing/2014/main" id="{5869EE49-6630-40FA-8673-608E5688F696}"/>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P03</a:t>
            </a:r>
          </a:p>
        </p:txBody>
      </p:sp>
      <p:sp>
        <p:nvSpPr>
          <p:cNvPr id="6" name="editable-09">
            <a:extLst>
              <a:ext uri="{FF2B5EF4-FFF2-40B4-BE49-F238E27FC236}">
                <a16:creationId xmlns:a16="http://schemas.microsoft.com/office/drawing/2014/main" id="{71B19803-236F-4CF4-BB62-917081117511}"/>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09</a:t>
            </a:r>
          </a:p>
        </p:txBody>
      </p:sp>
    </p:spTree>
    <p:extLst>
      <p:ext uri="{BB962C8B-B14F-4D97-AF65-F5344CB8AC3E}">
        <p14:creationId xmlns:p14="http://schemas.microsoft.com/office/powerpoint/2010/main" val="1229355876"/>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שאלות להבנת מסמך">
            <a:extLst>
              <a:ext uri="{FF2B5EF4-FFF2-40B4-BE49-F238E27FC236}">
                <a16:creationId xmlns:a16="http://schemas.microsoft.com/office/drawing/2014/main" id="{C635C5ED-68FB-47CD-9A20-5569AF0CDCEB}"/>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שאלות להבנת מסמך</a:t>
            </a:r>
          </a:p>
        </p:txBody>
      </p:sp>
      <p:pic>
        <p:nvPicPr>
          <p:cNvPr id="2" name="תמונה 1">
            <a:extLst>
              <a:ext uri="{FF2B5EF4-FFF2-40B4-BE49-F238E27FC236}">
                <a16:creationId xmlns:a16="http://schemas.microsoft.com/office/drawing/2014/main" id="{B7B1BF55-0D87-4315-BB3B-DAAA5C3396C1}"/>
              </a:ext>
            </a:extLst>
          </p:cNvPr>
          <p:cNvPicPr>
            <a:picLocks noChangeAspect="1"/>
          </p:cNvPicPr>
          <p:nvPr/>
        </p:nvPicPr>
        <p:blipFill>
          <a:blip r:embed="rId3"/>
          <a:stretch/>
        </p:blipFill>
        <p:spPr>
          <a:xfrm>
            <a:off x="857250" y="956009"/>
            <a:ext cx="2333625" cy="526382"/>
          </a:xfrm>
          <a:prstGeom prst="rect">
            <a:avLst/>
          </a:prstGeom>
        </p:spPr>
      </p:pic>
      <p:sp>
        <p:nvSpPr>
          <p:cNvPr id="3" name="editable-מתוך מסמך א בלבד, כתוב ארבע שאלות ה">
            <a:extLst>
              <a:ext uri="{FF2B5EF4-FFF2-40B4-BE49-F238E27FC236}">
                <a16:creationId xmlns:a16="http://schemas.microsoft.com/office/drawing/2014/main" id="{75A59F89-5159-4ABC-ACB0-3D32387F22C8}"/>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מתוך מסמך א בלבד, כתוב ארבע שאלות הבנה לצוות חדש. לכל שאלה צרף תשובה קצרה ואת סעיף המקור. הוסף שאלה אחת שאין עליה תשובה במסמך וסמן זאת במפורש.</a:t>
            </a:r>
          </a:p>
        </p:txBody>
      </p:sp>
      <p:sp>
        <p:nvSpPr>
          <p:cNvPr id="4" name="editable-הפרומפט המלא עם המקור מוכן להעתקה ב">
            <a:extLst>
              <a:ext uri="{FF2B5EF4-FFF2-40B4-BE49-F238E27FC236}">
                <a16:creationId xmlns:a16="http://schemas.microsoft.com/office/drawing/2014/main" id="{327289C2-C3F3-48CE-8573-AE61F7A7BA55}"/>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04">
            <a:extLst>
              <a:ext uri="{FF2B5EF4-FFF2-40B4-BE49-F238E27FC236}">
                <a16:creationId xmlns:a16="http://schemas.microsoft.com/office/drawing/2014/main" id="{CC62C1CA-4314-47EC-8310-8BD5E6EC8D12}"/>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P04</a:t>
            </a:r>
          </a:p>
        </p:txBody>
      </p:sp>
      <p:sp>
        <p:nvSpPr>
          <p:cNvPr id="6" name="editable-10">
            <a:extLst>
              <a:ext uri="{FF2B5EF4-FFF2-40B4-BE49-F238E27FC236}">
                <a16:creationId xmlns:a16="http://schemas.microsoft.com/office/drawing/2014/main" id="{8057C4D2-5FAF-4D1C-9148-15D3F7C50FF5}"/>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10</a:t>
            </a:r>
          </a:p>
        </p:txBody>
      </p:sp>
    </p:spTree>
    <p:extLst>
      <p:ext uri="{BB962C8B-B14F-4D97-AF65-F5344CB8AC3E}">
        <p14:creationId xmlns:p14="http://schemas.microsoft.com/office/powerpoint/2010/main" val="86274016"/>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15">
            <a:extLst>
              <a:ext uri="{FF2B5EF4-FFF2-40B4-BE49-F238E27FC236}">
                <a16:creationId xmlns:a16="http://schemas.microsoft.com/office/drawing/2014/main" id="{F7360124-D285-45D5-A139-6525DB1DE03C}"/>
              </a:ext>
            </a:extLst>
          </p:cNvPr>
          <p:cNvSpPr>
            <a:spLocks noGrp="1"/>
          </p:cNvSpPr>
          <p:nvPr/>
        </p:nvSpPr>
        <p:spPr>
          <a:xfrm>
            <a:off x="666750" y="1666875"/>
            <a:ext cx="2667000" cy="2047875"/>
          </a:xfrm>
          <a:prstGeom prst="rect">
            <a:avLst/>
          </a:prstGeom>
          <a:noFill/>
          <a:ln w="0">
            <a:noFill/>
          </a:ln>
        </p:spPr>
        <p: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15</a:t>
            </a:r>
          </a:p>
        </p:txBody>
      </p:sp>
      <p:sp>
        <p:nvSpPr>
          <p:cNvPr id="2" name="editable-דקות">
            <a:extLst>
              <a:ext uri="{FF2B5EF4-FFF2-40B4-BE49-F238E27FC236}">
                <a16:creationId xmlns:a16="http://schemas.microsoft.com/office/drawing/2014/main" id="{091D4236-BF40-428F-A40D-F7FFE31285C2}"/>
              </a:ext>
            </a:extLst>
          </p:cNvPr>
          <p:cNvSpPr>
            <a:spLocks noGrp="1"/>
          </p:cNvSpPr>
          <p:nvPr/>
        </p:nvSpPr>
        <p:spPr>
          <a:xfrm>
            <a:off x="952500" y="3714750"/>
            <a:ext cx="2095500" cy="619125"/>
          </a:xfrm>
          <a:prstGeom prst="rect">
            <a:avLst/>
          </a:prstGeom>
          <a:noFill/>
          <a:ln w="0">
            <a:noFill/>
          </a:ln>
        </p:spPr>
        <p: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p:txBody>
      </p:sp>
      <p:sp>
        <p:nvSpPr>
          <p:cNvPr id="3" name="editable-תרגיל 1&#10;טיוטה לעבודה שלכם">
            <a:extLst>
              <a:ext uri="{FF2B5EF4-FFF2-40B4-BE49-F238E27FC236}">
                <a16:creationId xmlns:a16="http://schemas.microsoft.com/office/drawing/2014/main" id="{C7A4736F-93C6-4321-ACD1-6BCAAB4BBC5D}"/>
              </a:ext>
            </a:extLst>
          </p:cNvPr>
          <p:cNvSpPr>
            <a:spLocks noGrp="1"/>
          </p:cNvSpPr>
          <p:nvPr/>
        </p:nvSpPr>
        <p:spPr>
          <a:xfrm>
            <a:off x="4191000" y="1000125"/>
            <a:ext cx="7048500" cy="1809750"/>
          </a:xfrm>
          <a:prstGeom prst="rect">
            <a:avLst/>
          </a:prstGeom>
          <a:noFill/>
          <a:ln w="0">
            <a:noFill/>
          </a:ln>
        </p:spPr>
        <p: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1</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טיוטה לעבודה שלכם</a:t>
            </a:r>
          </a:p>
        </p:txBody>
      </p:sp>
      <p:sp>
        <p:nvSpPr>
          <p:cNvPr id="4" name="editable-בחרו דוגמה אחת&#10;הפיקו טיוטה ושפרו או">
            <a:extLst>
              <a:ext uri="{FF2B5EF4-FFF2-40B4-BE49-F238E27FC236}">
                <a16:creationId xmlns:a16="http://schemas.microsoft.com/office/drawing/2014/main" id="{F732E855-AC25-461D-B0E7-FBB2E00D2E6F}"/>
              </a:ext>
            </a:extLst>
          </p:cNvPr>
          <p:cNvSpPr>
            <a:spLocks noGrp="1"/>
          </p:cNvSpPr>
          <p:nvPr/>
        </p:nvSpPr>
        <p:spPr>
          <a:xfrm>
            <a:off x="4191000" y="3162300"/>
            <a:ext cx="7048500" cy="21336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בחרו דוגמה אחת</a:t>
            </a:r>
          </a:p>
          <a:p>
            <a:pPr algn="r" rtl="1">
              <a:defRPr sz="2850" b="0">
                <a:solidFill>
                  <a:srgbClr val="7A59BC"/>
                </a:solidFill>
                <a:latin typeface="Arial"/>
                <a:ea typeface="Arial"/>
                <a:cs typeface="Arial"/>
              </a:defRPr>
            </a:pPr>
            <a:r>
              <a:rPr sz="2850" b="0">
                <a:solidFill>
                  <a:srgbClr val="7A59BC"/>
                </a:solidFill>
                <a:latin typeface="Arial"/>
                <a:ea typeface="Arial"/>
                <a:cs typeface="Arial"/>
              </a:rPr>
              <a:t>הפיקו טיוטה ושפרו אותה</a:t>
            </a:r>
          </a:p>
        </p:txBody>
      </p:sp>
      <p:sp>
        <p:nvSpPr>
          <p:cNvPr id="5" name="editable-הפרומפט המלא בדף התרגול">
            <a:extLst>
              <a:ext uri="{FF2B5EF4-FFF2-40B4-BE49-F238E27FC236}">
                <a16:creationId xmlns:a16="http://schemas.microsoft.com/office/drawing/2014/main" id="{8CC2FE0D-970C-4D2F-A930-AD07B0C65568}"/>
              </a:ext>
            </a:extLst>
          </p:cNvPr>
          <p:cNvSpPr>
            <a:spLocks noGrp="1"/>
          </p:cNvSpPr>
          <p:nvPr/>
        </p:nvSpPr>
        <p:spPr>
          <a:xfrm>
            <a:off x="4191000" y="5791200"/>
            <a:ext cx="7048500" cy="4191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p:txBody>
      </p:sp>
      <p:sp>
        <p:nvSpPr>
          <p:cNvPr id="6" name="editable-P02 / P03 / P04">
            <a:extLst>
              <a:ext uri="{FF2B5EF4-FFF2-40B4-BE49-F238E27FC236}">
                <a16:creationId xmlns:a16="http://schemas.microsoft.com/office/drawing/2014/main" id="{E8925668-B236-47F9-8B22-8642841372D2}"/>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P02 / P03 / P04</a:t>
            </a:r>
          </a:p>
        </p:txBody>
      </p:sp>
      <p:sp>
        <p:nvSpPr>
          <p:cNvPr id="7" name="editable-11">
            <a:extLst>
              <a:ext uri="{FF2B5EF4-FFF2-40B4-BE49-F238E27FC236}">
                <a16:creationId xmlns:a16="http://schemas.microsoft.com/office/drawing/2014/main" id="{FB1ABE57-E892-45BB-9EAE-C196FA743A4A}"/>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11</a:t>
            </a:r>
          </a:p>
        </p:txBody>
      </p:sp>
    </p:spTree>
    <p:extLst>
      <p:ext uri="{BB962C8B-B14F-4D97-AF65-F5344CB8AC3E}">
        <p14:creationId xmlns:p14="http://schemas.microsoft.com/office/powerpoint/2010/main" val="206917248"/>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בדיקת עמית">
            <a:extLst>
              <a:ext uri="{FF2B5EF4-FFF2-40B4-BE49-F238E27FC236}">
                <a16:creationId xmlns:a16="http://schemas.microsoft.com/office/drawing/2014/main" id="{ABBBA093-7448-43AB-8321-3407650E4176}"/>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בדיקת עמית</a:t>
            </a:r>
          </a:p>
        </p:txBody>
      </p:sp>
      <p:sp>
        <p:nvSpPr>
          <p:cNvPr id="2" name="editable-מה נתמך במקור?">
            <a:extLst>
              <a:ext uri="{FF2B5EF4-FFF2-40B4-BE49-F238E27FC236}">
                <a16:creationId xmlns:a16="http://schemas.microsoft.com/office/drawing/2014/main" id="{BB6653BD-2A59-4775-AAC7-0E5A5BAE1681}"/>
              </a:ext>
            </a:extLst>
          </p:cNvPr>
          <p:cNvSpPr>
            <a:spLocks noGrp="1"/>
          </p:cNvSpPr>
          <p:nvPr/>
        </p:nvSpPr>
        <p:spPr>
          <a:xfrm>
            <a:off x="857250" y="2143125"/>
            <a:ext cx="10477500" cy="723900"/>
          </a:xfrm>
          <a:prstGeom prst="rect">
            <a:avLst/>
          </a:prstGeom>
          <a:noFill/>
          <a:ln w="0">
            <a:noFill/>
          </a:ln>
        </p:spPr>
        <p:txBody>
          <a:bodyPr lIns="0" tIns="0" rIns="0" bIns="0" anchor="ctr">
            <a:noAutofit/>
          </a:bodyPr>
          <a:lstStyle>
            <a:defPPr algn="r">
              <a:defRPr sz="3150" b="0">
                <a:solidFill>
                  <a:srgbClr val="7A59BC"/>
                </a:solidFill>
                <a:latin typeface="Arial"/>
                <a:ea typeface="Arial"/>
                <a:cs typeface="Arial"/>
              </a:defRPr>
            </a:defPPr>
          </a:lstStyle>
          <a:p>
            <a:pPr algn="r" rtl="1">
              <a:defRPr sz="3150" b="0">
                <a:solidFill>
                  <a:srgbClr val="7A59BC"/>
                </a:solidFill>
                <a:latin typeface="Arial"/>
                <a:ea typeface="Arial"/>
                <a:cs typeface="Arial"/>
              </a:defRPr>
            </a:pPr>
            <a:r>
              <a:rPr sz="3150" b="0">
                <a:solidFill>
                  <a:srgbClr val="7A59BC"/>
                </a:solidFill>
                <a:latin typeface="Arial"/>
                <a:ea typeface="Arial"/>
                <a:cs typeface="Arial"/>
              </a:rPr>
              <a:t>מה נתמך במקור?</a:t>
            </a:r>
          </a:p>
        </p:txBody>
      </p:sp>
      <p:sp>
        <p:nvSpPr>
          <p:cNvPr id="3" name="editable-מה נוסף בלי מקור?">
            <a:extLst>
              <a:ext uri="{FF2B5EF4-FFF2-40B4-BE49-F238E27FC236}">
                <a16:creationId xmlns:a16="http://schemas.microsoft.com/office/drawing/2014/main" id="{7228FC1A-DE43-4D95-A4C6-733D75FD3759}"/>
              </a:ext>
            </a:extLst>
          </p:cNvPr>
          <p:cNvSpPr>
            <a:spLocks noGrp="1"/>
          </p:cNvSpPr>
          <p:nvPr/>
        </p:nvSpPr>
        <p:spPr>
          <a:xfrm>
            <a:off x="857250" y="3171825"/>
            <a:ext cx="10477500" cy="723900"/>
          </a:xfrm>
          <a:prstGeom prst="rect">
            <a:avLst/>
          </a:prstGeom>
          <a:noFill/>
          <a:ln w="0">
            <a:noFill/>
          </a:ln>
        </p:spPr>
        <p:txBody>
          <a:bodyPr lIns="0" tIns="0" rIns="0" bIns="0" anchor="ctr">
            <a:noAutofit/>
          </a:bodyPr>
          <a:lstStyle>
            <a:defPPr algn="r">
              <a:defRPr sz="3150" b="0">
                <a:solidFill>
                  <a:srgbClr val="191B2B"/>
                </a:solidFill>
                <a:latin typeface="Arial"/>
                <a:ea typeface="Arial"/>
                <a:cs typeface="Arial"/>
              </a:defRPr>
            </a:defPPr>
          </a:lstStyle>
          <a:p>
            <a:pPr algn="r" rtl="1">
              <a:defRPr sz="3150" b="0">
                <a:solidFill>
                  <a:srgbClr val="191B2B"/>
                </a:solidFill>
                <a:latin typeface="Arial"/>
                <a:ea typeface="Arial"/>
                <a:cs typeface="Arial"/>
              </a:defRPr>
            </a:pPr>
            <a:r>
              <a:rPr sz="3150" b="0">
                <a:solidFill>
                  <a:srgbClr val="191B2B"/>
                </a:solidFill>
                <a:latin typeface="Arial"/>
                <a:ea typeface="Arial"/>
                <a:cs typeface="Arial"/>
              </a:rPr>
              <a:t>מה נוסף בלי מקור?</a:t>
            </a:r>
          </a:p>
        </p:txBody>
      </p:sp>
      <p:sp>
        <p:nvSpPr>
          <p:cNvPr id="4" name="editable-מה תיקנתם?">
            <a:extLst>
              <a:ext uri="{FF2B5EF4-FFF2-40B4-BE49-F238E27FC236}">
                <a16:creationId xmlns:a16="http://schemas.microsoft.com/office/drawing/2014/main" id="{5EA57C3D-9F5B-407F-B8F2-93160D2A65DA}"/>
              </a:ext>
            </a:extLst>
          </p:cNvPr>
          <p:cNvSpPr>
            <a:spLocks noGrp="1"/>
          </p:cNvSpPr>
          <p:nvPr/>
        </p:nvSpPr>
        <p:spPr>
          <a:xfrm>
            <a:off x="857250" y="4200525"/>
            <a:ext cx="10477500" cy="723900"/>
          </a:xfrm>
          <a:prstGeom prst="rect">
            <a:avLst/>
          </a:prstGeom>
          <a:noFill/>
          <a:ln w="0">
            <a:noFill/>
          </a:ln>
        </p:spPr>
        <p:txBody>
          <a:bodyPr lIns="0" tIns="0" rIns="0" bIns="0" anchor="ctr">
            <a:noAutofit/>
          </a:bodyPr>
          <a:lstStyle>
            <a:defPPr algn="r">
              <a:defRPr sz="3150" b="0">
                <a:solidFill>
                  <a:srgbClr val="191B2B"/>
                </a:solidFill>
                <a:latin typeface="Arial"/>
                <a:ea typeface="Arial"/>
                <a:cs typeface="Arial"/>
              </a:defRPr>
            </a:defPPr>
          </a:lstStyle>
          <a:p>
            <a:pPr algn="r" rtl="1">
              <a:defRPr sz="3150" b="0">
                <a:solidFill>
                  <a:srgbClr val="191B2B"/>
                </a:solidFill>
                <a:latin typeface="Arial"/>
                <a:ea typeface="Arial"/>
                <a:cs typeface="Arial"/>
              </a:defRPr>
            </a:pPr>
            <a:r>
              <a:rPr sz="3150" b="0">
                <a:solidFill>
                  <a:srgbClr val="191B2B"/>
                </a:solidFill>
                <a:latin typeface="Arial"/>
                <a:ea typeface="Arial"/>
                <a:cs typeface="Arial"/>
              </a:rPr>
              <a:t>מה תיקנתם?</a:t>
            </a:r>
          </a:p>
        </p:txBody>
      </p:sp>
      <p:sp>
        <p:nvSpPr>
          <p:cNvPr id="5" name="editable-12">
            <a:extLst>
              <a:ext uri="{FF2B5EF4-FFF2-40B4-BE49-F238E27FC236}">
                <a16:creationId xmlns:a16="http://schemas.microsoft.com/office/drawing/2014/main" id="{47615737-5D80-410B-81C4-BEE4AB06D9CA}"/>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12</a:t>
            </a:r>
          </a:p>
        </p:txBody>
      </p:sp>
    </p:spTree>
    <p:extLst>
      <p:ext uri="{BB962C8B-B14F-4D97-AF65-F5344CB8AC3E}">
        <p14:creationId xmlns:p14="http://schemas.microsoft.com/office/powerpoint/2010/main" val="960350304"/>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8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accel="50000" decel="5000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8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accel="50000" decel="5000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28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5" name="editable-15">
            <a:extLst>
              <a:ext uri="{FF2B5EF4-FFF2-40B4-BE49-F238E27FC236}">
                <a16:creationId xmlns:a16="http://schemas.microsoft.com/office/drawing/2014/main" id="{30F0AB36-0474-4377-950F-30658CB9921B}"/>
              </a:ext>
            </a:extLst>
          </p:cNvPr>
          <p:cNvSpPr>
            <a:spLocks noGrp="1"/>
          </p:cNvSpPr>
          <p:nvPr/>
        </p:nvSpPr>
        <p:spPr>
          <a:xfrm>
            <a:off x="857250" y="1190625"/>
            <a:ext cx="10477500" cy="2190750"/>
          </a:xfrm>
          <a:prstGeom prst="rect">
            <a:avLst/>
          </a:prstGeom>
          <a:noFill/>
          <a:ln w="0">
            <a:noFill/>
          </a:ln>
        </p:spPr>
        <p:txBody>
          <a:bodyPr lIns="0" tIns="0" rIns="0" bIns="0" anchor="ctr">
            <a:noAutofit/>
          </a:bodyPr>
          <a:lstStyle>
            <a:defPPr algn="ctr">
              <a:defRPr sz="12600" b="0">
                <a:solidFill>
                  <a:srgbClr val="7A59BC"/>
                </a:solidFill>
                <a:latin typeface="Arial"/>
                <a:ea typeface="Arial"/>
                <a:cs typeface="Arial"/>
              </a:defRPr>
            </a:defPPr>
          </a:lstStyle>
          <a:p>
            <a:pPr algn="ctr">
              <a:defRPr sz="12600" b="0">
                <a:solidFill>
                  <a:srgbClr val="7A59BC"/>
                </a:solidFill>
                <a:latin typeface="Arial"/>
                <a:ea typeface="Arial"/>
                <a:cs typeface="Arial"/>
              </a:defRPr>
            </a:pPr>
            <a:r>
              <a:rPr sz="12600" b="0">
                <a:solidFill>
                  <a:srgbClr val="7A59BC"/>
                </a:solidFill>
                <a:latin typeface="Arial"/>
                <a:ea typeface="Arial"/>
                <a:cs typeface="Arial"/>
              </a:rPr>
              <a:t>15</a:t>
            </a:r>
          </a:p>
        </p:txBody>
      </p:sp>
      <p:sp>
        <p:nvSpPr>
          <p:cNvPr id="2" name="editable-הפסקה">
            <a:extLst>
              <a:ext uri="{FF2B5EF4-FFF2-40B4-BE49-F238E27FC236}">
                <a16:creationId xmlns:a16="http://schemas.microsoft.com/office/drawing/2014/main" id="{752F324B-CEEB-408B-A293-8DD13E690532}"/>
              </a:ext>
            </a:extLst>
          </p:cNvPr>
          <p:cNvSpPr>
            <a:spLocks noGrp="1"/>
          </p:cNvSpPr>
          <p:nvPr/>
        </p:nvSpPr>
        <p:spPr>
          <a:xfrm>
            <a:off x="857250" y="3667125"/>
            <a:ext cx="10477500" cy="1047750"/>
          </a:xfrm>
          <a:prstGeom prst="rect">
            <a:avLst/>
          </a:prstGeom>
          <a:noFill/>
          <a:ln w="0">
            <a:noFill/>
          </a:ln>
        </p:spPr>
        <p:txBody>
          <a:bodyPr lIns="0" tIns="0" rIns="0" bIns="0" anchor="ctr">
            <a:noAutofit/>
          </a:bodyPr>
          <a:lstStyle>
            <a:defPPr algn="ctr">
              <a:defRPr sz="4950" b="1">
                <a:solidFill>
                  <a:srgbClr val="191B2B"/>
                </a:solidFill>
                <a:latin typeface="Arial"/>
                <a:ea typeface="Arial"/>
                <a:cs typeface="Arial"/>
              </a:defRPr>
            </a:defPPr>
          </a:lstStyle>
          <a:p>
            <a:pPr algn="ctr" rtl="1">
              <a:defRPr sz="4950" b="1">
                <a:solidFill>
                  <a:srgbClr val="191B2B"/>
                </a:solidFill>
                <a:latin typeface="Arial"/>
                <a:ea typeface="Arial"/>
                <a:cs typeface="Arial"/>
              </a:defRPr>
            </a:pPr>
            <a:r>
              <a:rPr sz="4950" b="1">
                <a:solidFill>
                  <a:srgbClr val="191B2B"/>
                </a:solidFill>
                <a:latin typeface="Arial"/>
                <a:ea typeface="Arial"/>
                <a:cs typeface="Arial"/>
              </a:rPr>
              <a:t>הפסקה</a:t>
            </a:r>
          </a:p>
        </p:txBody>
      </p:sp>
      <p:sp>
        <p:nvSpPr>
          <p:cNvPr id="3" name="editable-חוזרים בעוד רבע שעה">
            <a:extLst>
              <a:ext uri="{FF2B5EF4-FFF2-40B4-BE49-F238E27FC236}">
                <a16:creationId xmlns:a16="http://schemas.microsoft.com/office/drawing/2014/main" id="{2C91FF8A-8403-4DFE-9674-7A1B65301476}"/>
              </a:ext>
            </a:extLst>
          </p:cNvPr>
          <p:cNvSpPr>
            <a:spLocks noGrp="1"/>
          </p:cNvSpPr>
          <p:nvPr/>
        </p:nvSpPr>
        <p:spPr>
          <a:xfrm>
            <a:off x="857250" y="5000625"/>
            <a:ext cx="10477500" cy="762000"/>
          </a:xfrm>
          <a:prstGeom prst="rect">
            <a:avLst/>
          </a:prstGeom>
          <a:noFill/>
          <a:ln w="0">
            <a:noFill/>
          </a:ln>
        </p:spPr>
        <p:txBody>
          <a:bodyPr lIns="0" tIns="0" rIns="0" bIns="0" anchor="ctr">
            <a:noAutofit/>
          </a:bodyPr>
          <a:lstStyle>
            <a:defPPr algn="ctr">
              <a:defRPr sz="2400" b="0">
                <a:solidFill>
                  <a:srgbClr val="5D647C"/>
                </a:solidFill>
                <a:latin typeface="Arial"/>
                <a:ea typeface="Arial"/>
                <a:cs typeface="Arial"/>
              </a:defRPr>
            </a:defPPr>
          </a:lstStyle>
          <a:p>
            <a:pPr algn="ctr" rtl="1">
              <a:defRPr sz="2400" b="0">
                <a:solidFill>
                  <a:srgbClr val="5D647C"/>
                </a:solidFill>
                <a:latin typeface="Arial"/>
                <a:ea typeface="Arial"/>
                <a:cs typeface="Arial"/>
              </a:defRPr>
            </a:pPr>
            <a:r>
              <a:rPr sz="2400" b="0">
                <a:solidFill>
                  <a:srgbClr val="5D647C"/>
                </a:solidFill>
                <a:latin typeface="Arial"/>
                <a:ea typeface="Arial"/>
                <a:cs typeface="Arial"/>
              </a:rPr>
              <a:t>חוזרים בעוד רבע שעה</a:t>
            </a:r>
          </a:p>
        </p:txBody>
      </p:sp>
      <p:sp>
        <p:nvSpPr>
          <p:cNvPr id="4" name="editable-13">
            <a:extLst>
              <a:ext uri="{FF2B5EF4-FFF2-40B4-BE49-F238E27FC236}">
                <a16:creationId xmlns:a16="http://schemas.microsoft.com/office/drawing/2014/main" id="{9A995581-E6C3-4219-B056-1F276968BB9F}"/>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13</a:t>
            </a:r>
          </a:p>
        </p:txBody>
      </p:sp>
    </p:spTree>
    <p:extLst>
      <p:ext uri="{BB962C8B-B14F-4D97-AF65-F5344CB8AC3E}">
        <p14:creationId xmlns:p14="http://schemas.microsoft.com/office/powerpoint/2010/main" val="130916965"/>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חיפוש מידע">
            <a:extLst>
              <a:ext uri="{FF2B5EF4-FFF2-40B4-BE49-F238E27FC236}">
                <a16:creationId xmlns:a16="http://schemas.microsoft.com/office/drawing/2014/main" id="{7BFA4BB8-E07F-453F-992E-8D4276EE19BC}"/>
              </a:ext>
            </a:extLst>
          </p:cNvPr>
          <p:cNvSpPr>
            <a:spLocks noGrp="1"/>
          </p:cNvSpPr>
          <p:nvPr/>
        </p:nvSpPr>
        <p:spPr>
          <a:xfrm>
            <a:off x="6286500" y="952500"/>
            <a:ext cx="5048250" cy="16192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חיפוש מידע</a:t>
            </a:r>
          </a:p>
        </p:txBody>
      </p:sp>
      <p:sp>
        <p:nvSpPr>
          <p:cNvPr id="2" name="editable-שאלה, תשובה וקישורים למקורות">
            <a:extLst>
              <a:ext uri="{FF2B5EF4-FFF2-40B4-BE49-F238E27FC236}">
                <a16:creationId xmlns:a16="http://schemas.microsoft.com/office/drawing/2014/main" id="{C2A74023-1580-4017-9864-B9C7E0919EC2}"/>
              </a:ext>
            </a:extLst>
          </p:cNvPr>
          <p:cNvSpPr>
            <a:spLocks noGrp="1"/>
          </p:cNvSpPr>
          <p:nvPr/>
        </p:nvSpPr>
        <p:spPr>
          <a:xfrm>
            <a:off x="6286500" y="2628900"/>
            <a:ext cx="5048250" cy="17145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שאלה, תשובה וקישורים למקורות</a:t>
            </a:r>
          </a:p>
        </p:txBody>
      </p:sp>
      <p:pic>
        <p:nvPicPr>
          <p:cNvPr id="3" name="גרפיקה 2">
            <a:extLst>
              <a:ext uri="{FF2B5EF4-FFF2-40B4-BE49-F238E27FC236}">
                <a16:creationId xmlns:a16="http://schemas.microsoft.com/office/drawing/2014/main" id="{4CB51FC2-B857-4F27-8388-ACD12835346C}"/>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857250" y="2286000"/>
            <a:ext cx="4524375" cy="1428750"/>
          </a:xfrm>
          <a:prstGeom prst="rect">
            <a:avLst/>
          </a:prstGeom>
        </p:spPr>
      </p:pic>
      <p:sp>
        <p:nvSpPr>
          <p:cNvPr id="4" name="editable-פתיחת Perplexity">
            <a:extLst>
              <a:ext uri="{FF2B5EF4-FFF2-40B4-BE49-F238E27FC236}">
                <a16:creationId xmlns:a16="http://schemas.microsoft.com/office/drawing/2014/main" id="{AE92D60E-A3C7-4880-9FD3-7BD67A14883A}"/>
              </a:ext>
            </a:extLst>
          </p:cNvPr>
          <p:cNvSpPr>
            <a:spLocks noGrp="1"/>
          </p:cNvSpPr>
          <p:nvPr/>
        </p:nvSpPr>
        <p:spPr>
          <a:xfrm>
            <a:off x="6572250" y="5238750"/>
            <a:ext cx="4762500" cy="476250"/>
          </a:xfrm>
          <a:prstGeom prst="rect">
            <a:avLst/>
          </a:prstGeom>
          <a:noFill/>
          <a:ln w="0">
            <a:noFill/>
          </a:ln>
        </p:spPr>
        <p:txBody>
          <a:bodyPr lIns="0" tIns="0" rIns="0" bIns="0" anchor="ctr">
            <a:noAutofit/>
          </a:bodyPr>
          <a:lstStyle>
            <a:defPPr algn="r">
              <a:defRPr sz="1950" b="0">
                <a:solidFill>
                  <a:srgbClr val="4378AB"/>
                </a:solidFill>
                <a:latin typeface="Arial"/>
                <a:ea typeface="Arial"/>
                <a:cs typeface="Arial"/>
              </a:defRPr>
            </a:defPPr>
          </a:lstStyle>
          <a:p>
            <a:pPr algn="r" rtl="1">
              <a:defRPr sz="1950" b="0">
                <a:solidFill>
                  <a:srgbClr val="4378AB"/>
                </a:solidFill>
                <a:latin typeface="Arial"/>
                <a:ea typeface="Arial"/>
                <a:cs typeface="Arial"/>
              </a:defRPr>
            </a:pPr>
            <a:r>
              <a:rPr sz="1950" b="0">
                <a:solidFill>
                  <a:srgbClr val="4378AB"/>
                </a:solidFill>
                <a:latin typeface="Arial"/>
                <a:ea typeface="Arial"/>
                <a:cs typeface="Arial"/>
                <a:hlinkClick r:id="rId4"/>
              </a:rPr>
              <a:t>פתיחת Perplexity</a:t>
            </a:r>
          </a:p>
        </p:txBody>
      </p:sp>
      <p:sp>
        <p:nvSpPr>
          <p:cNvPr id="5" name="editable-14">
            <a:extLst>
              <a:ext uri="{FF2B5EF4-FFF2-40B4-BE49-F238E27FC236}">
                <a16:creationId xmlns:a16="http://schemas.microsoft.com/office/drawing/2014/main" id="{752895CE-4A61-48BF-A38F-483B2E440057}"/>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14</a:t>
            </a:r>
          </a:p>
        </p:txBody>
      </p:sp>
    </p:spTree>
    <p:extLst>
      <p:ext uri="{BB962C8B-B14F-4D97-AF65-F5344CB8AC3E}">
        <p14:creationId xmlns:p14="http://schemas.microsoft.com/office/powerpoint/2010/main" val="1741467057"/>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שני מקורות שנפתחו">
            <a:extLst>
              <a:ext uri="{FF2B5EF4-FFF2-40B4-BE49-F238E27FC236}">
                <a16:creationId xmlns:a16="http://schemas.microsoft.com/office/drawing/2014/main" id="{05B92BB9-3269-4B69-825D-C97CB43933FB}"/>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שני מקורות שנפתחו</a:t>
            </a:r>
          </a:p>
        </p:txBody>
      </p:sp>
      <p:pic>
        <p:nvPicPr>
          <p:cNvPr id="2" name="גרפיקה 1">
            <a:extLst>
              <a:ext uri="{FF2B5EF4-FFF2-40B4-BE49-F238E27FC236}">
                <a16:creationId xmlns:a16="http://schemas.microsoft.com/office/drawing/2014/main" id="{A96A6069-13EC-4D48-8EA4-463D6C6FB8DD}"/>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857250" y="914400"/>
            <a:ext cx="2333625" cy="609600"/>
          </a:xfrm>
          <a:prstGeom prst="rect">
            <a:avLst/>
          </a:prstGeom>
        </p:spPr>
      </p:pic>
      <p:sp>
        <p:nvSpPr>
          <p:cNvPr id="3" name="editable-אתר שני מקורות רשמיים בנושא היגיינת">
            <a:extLst>
              <a:ext uri="{FF2B5EF4-FFF2-40B4-BE49-F238E27FC236}">
                <a16:creationId xmlns:a16="http://schemas.microsoft.com/office/drawing/2014/main" id="{0DEE90C5-BEE8-46F8-9B40-C2F906BF1EE4}"/>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אתר שני מקורות רשמיים בנושא היגיינת ידיים. לכל מקור ציין גוף מפרסם, תאריך וקישור ישיר. הבחֵן בין הנחיה, סקירה ותקציר. אל תמציא עדכון ואל תיתן המלצה טיפולית.</a:t>
            </a:r>
          </a:p>
        </p:txBody>
      </p:sp>
      <p:sp>
        <p:nvSpPr>
          <p:cNvPr id="4" name="editable-הפרומפט המלא עם המקור מוכן להעתקה ב">
            <a:extLst>
              <a:ext uri="{FF2B5EF4-FFF2-40B4-BE49-F238E27FC236}">
                <a16:creationId xmlns:a16="http://schemas.microsoft.com/office/drawing/2014/main" id="{E62C8497-482A-4DD5-BE6C-5DC3966DC157}"/>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08 / P09">
            <a:extLst>
              <a:ext uri="{FF2B5EF4-FFF2-40B4-BE49-F238E27FC236}">
                <a16:creationId xmlns:a16="http://schemas.microsoft.com/office/drawing/2014/main" id="{7C8AB788-6DAF-4D51-A69B-2851738CCCB9}"/>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P08 / P09</a:t>
            </a:r>
          </a:p>
        </p:txBody>
      </p:sp>
      <p:sp>
        <p:nvSpPr>
          <p:cNvPr id="6" name="editable-15">
            <a:extLst>
              <a:ext uri="{FF2B5EF4-FFF2-40B4-BE49-F238E27FC236}">
                <a16:creationId xmlns:a16="http://schemas.microsoft.com/office/drawing/2014/main" id="{FA575920-CB66-4933-899A-5C47FBE3B5ED}"/>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15</a:t>
            </a:r>
          </a:p>
        </p:txBody>
      </p:sp>
    </p:spTree>
    <p:extLst>
      <p:ext uri="{BB962C8B-B14F-4D97-AF65-F5344CB8AC3E}">
        <p14:creationId xmlns:p14="http://schemas.microsoft.com/office/powerpoint/2010/main" val="1862729501"/>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6">
            <a:extLst>
              <a:ext uri="{FF2B5EF4-FFF2-40B4-BE49-F238E27FC236}">
                <a16:creationId xmlns:a16="http://schemas.microsoft.com/office/drawing/2014/main" id="{9B26CFF6-DA02-4B86-B7CD-2C46D506731E}"/>
              </a:ext>
            </a:extLst>
          </p:cNvPr>
          <p:cNvSpPr>
            <a:spLocks noGrp="1"/>
          </p:cNvSpPr>
          <p:nvPr/>
        </p:nvSpPr>
        <p:spPr>
          <a:xfrm>
            <a:off x="666750" y="1666875"/>
            <a:ext cx="2667000" cy="2047875"/>
          </a:xfrm>
          <a:prstGeom prst="rect">
            <a:avLst/>
          </a:prstGeom>
          <a:noFill/>
          <a:ln w="0">
            <a:noFill/>
          </a:ln>
        </p:spPr>
        <p: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6</a:t>
            </a:r>
          </a:p>
        </p:txBody>
      </p:sp>
      <p:sp>
        <p:nvSpPr>
          <p:cNvPr id="2" name="editable-דקות">
            <a:extLst>
              <a:ext uri="{FF2B5EF4-FFF2-40B4-BE49-F238E27FC236}">
                <a16:creationId xmlns:a16="http://schemas.microsoft.com/office/drawing/2014/main" id="{93E7795F-7C2F-465C-A23A-6E4302ECB556}"/>
              </a:ext>
            </a:extLst>
          </p:cNvPr>
          <p:cNvSpPr>
            <a:spLocks noGrp="1"/>
          </p:cNvSpPr>
          <p:nvPr/>
        </p:nvSpPr>
        <p:spPr>
          <a:xfrm>
            <a:off x="952500" y="3714750"/>
            <a:ext cx="2095500" cy="619125"/>
          </a:xfrm>
          <a:prstGeom prst="rect">
            <a:avLst/>
          </a:prstGeom>
          <a:noFill/>
          <a:ln w="0">
            <a:noFill/>
          </a:ln>
        </p:spPr>
        <p: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p:txBody>
      </p:sp>
      <p:sp>
        <p:nvSpPr>
          <p:cNvPr id="3" name="editable-תרגיל 2&#10;שני מקורות שנפתחו">
            <a:extLst>
              <a:ext uri="{FF2B5EF4-FFF2-40B4-BE49-F238E27FC236}">
                <a16:creationId xmlns:a16="http://schemas.microsoft.com/office/drawing/2014/main" id="{4E45A71F-BBCB-4DFA-829C-AE8E6356C6F6}"/>
              </a:ext>
            </a:extLst>
          </p:cNvPr>
          <p:cNvSpPr>
            <a:spLocks noGrp="1"/>
          </p:cNvSpPr>
          <p:nvPr/>
        </p:nvSpPr>
        <p:spPr>
          <a:xfrm>
            <a:off x="4191000" y="1000125"/>
            <a:ext cx="7048500" cy="1809750"/>
          </a:xfrm>
          <a:prstGeom prst="rect">
            <a:avLst/>
          </a:prstGeom>
          <a:noFill/>
          <a:ln w="0">
            <a:noFill/>
          </a:ln>
        </p:spPr>
        <p: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2</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שני מקורות שנפתחו</a:t>
            </a:r>
          </a:p>
        </p:txBody>
      </p:sp>
      <p:sp>
        <p:nvSpPr>
          <p:cNvPr id="4" name="editable-רפואה וסיעוד: היגיינת ידיים&#10;אדמיניס">
            <a:extLst>
              <a:ext uri="{FF2B5EF4-FFF2-40B4-BE49-F238E27FC236}">
                <a16:creationId xmlns:a16="http://schemas.microsoft.com/office/drawing/2014/main" id="{5156E721-C19B-4895-A4DF-50AC3DFA13F4}"/>
              </a:ext>
            </a:extLst>
          </p:cNvPr>
          <p:cNvSpPr>
            <a:spLocks noGrp="1"/>
          </p:cNvSpPr>
          <p:nvPr/>
        </p:nvSpPr>
        <p:spPr>
          <a:xfrm>
            <a:off x="4191000" y="3162300"/>
            <a:ext cx="7048500" cy="21336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רפואה וסיעוד: היגיינת ידיים</a:t>
            </a:r>
          </a:p>
          <a:p>
            <a:pPr algn="r" rtl="1">
              <a:defRPr sz="2850" b="0">
                <a:solidFill>
                  <a:srgbClr val="7A59BC"/>
                </a:solidFill>
                <a:latin typeface="Arial"/>
                <a:ea typeface="Arial"/>
                <a:cs typeface="Arial"/>
              </a:defRPr>
            </a:pPr>
            <a:r>
              <a:rPr sz="2850" b="0">
                <a:solidFill>
                  <a:srgbClr val="7A59BC"/>
                </a:solidFill>
                <a:latin typeface="Arial"/>
                <a:ea typeface="Arial"/>
                <a:cs typeface="Arial"/>
              </a:rPr>
              <a:t>אדמיניסטרציה והוראה: מצגת נגישה</a:t>
            </a:r>
          </a:p>
        </p:txBody>
      </p:sp>
      <p:sp>
        <p:nvSpPr>
          <p:cNvPr id="5" name="editable-הפרומפט המלא בדף התרגול">
            <a:extLst>
              <a:ext uri="{FF2B5EF4-FFF2-40B4-BE49-F238E27FC236}">
                <a16:creationId xmlns:a16="http://schemas.microsoft.com/office/drawing/2014/main" id="{08079959-A3F3-476A-AF79-E96A4E0D1628}"/>
              </a:ext>
            </a:extLst>
          </p:cNvPr>
          <p:cNvSpPr>
            <a:spLocks noGrp="1"/>
          </p:cNvSpPr>
          <p:nvPr/>
        </p:nvSpPr>
        <p:spPr>
          <a:xfrm>
            <a:off x="4191000" y="5791200"/>
            <a:ext cx="7048500" cy="4191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p:txBody>
      </p:sp>
      <p:sp>
        <p:nvSpPr>
          <p:cNvPr id="6" name="editable-P08 / P09">
            <a:extLst>
              <a:ext uri="{FF2B5EF4-FFF2-40B4-BE49-F238E27FC236}">
                <a16:creationId xmlns:a16="http://schemas.microsoft.com/office/drawing/2014/main" id="{D88AF1D3-2BD4-42AA-9C6A-B17179B2FD78}"/>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P08 / P09</a:t>
            </a:r>
          </a:p>
        </p:txBody>
      </p:sp>
      <p:sp>
        <p:nvSpPr>
          <p:cNvPr id="7" name="editable-16">
            <a:extLst>
              <a:ext uri="{FF2B5EF4-FFF2-40B4-BE49-F238E27FC236}">
                <a16:creationId xmlns:a16="http://schemas.microsoft.com/office/drawing/2014/main" id="{A7C97F57-8F87-4AAF-8E6B-F8F3EEC6623E}"/>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16</a:t>
            </a:r>
          </a:p>
        </p:txBody>
      </p:sp>
    </p:spTree>
    <p:extLst>
      <p:ext uri="{BB962C8B-B14F-4D97-AF65-F5344CB8AC3E}">
        <p14:creationId xmlns:p14="http://schemas.microsoft.com/office/powerpoint/2010/main" val="97334033"/>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ניתוח המקורות שלכם">
            <a:extLst>
              <a:ext uri="{FF2B5EF4-FFF2-40B4-BE49-F238E27FC236}">
                <a16:creationId xmlns:a16="http://schemas.microsoft.com/office/drawing/2014/main" id="{F51C6235-EC6B-46B0-9187-CE2455942434}"/>
              </a:ext>
            </a:extLst>
          </p:cNvPr>
          <p:cNvSpPr>
            <a:spLocks noGrp="1"/>
          </p:cNvSpPr>
          <p:nvPr/>
        </p:nvSpPr>
        <p:spPr>
          <a:xfrm>
            <a:off x="6286500" y="952500"/>
            <a:ext cx="5048250" cy="16192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ניתוח המקורות שלכם</a:t>
            </a:r>
          </a:p>
        </p:txBody>
      </p:sp>
      <p:sp>
        <p:nvSpPr>
          <p:cNvPr id="2" name="editable-שאלות על המקורות שלכם">
            <a:extLst>
              <a:ext uri="{FF2B5EF4-FFF2-40B4-BE49-F238E27FC236}">
                <a16:creationId xmlns:a16="http://schemas.microsoft.com/office/drawing/2014/main" id="{E6F0F186-CDE5-4803-A520-F73014BCA9EE}"/>
              </a:ext>
            </a:extLst>
          </p:cNvPr>
          <p:cNvSpPr>
            <a:spLocks noGrp="1"/>
          </p:cNvSpPr>
          <p:nvPr/>
        </p:nvSpPr>
        <p:spPr>
          <a:xfrm>
            <a:off x="6286500" y="2628900"/>
            <a:ext cx="5048250" cy="17145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שאלות על המקורות שלכם</a:t>
            </a:r>
          </a:p>
        </p:txBody>
      </p:sp>
      <p:pic>
        <p:nvPicPr>
          <p:cNvPr id="3" name="תמונה 2">
            <a:extLst>
              <a:ext uri="{FF2B5EF4-FFF2-40B4-BE49-F238E27FC236}">
                <a16:creationId xmlns:a16="http://schemas.microsoft.com/office/drawing/2014/main" id="{F491C8C6-17C8-4FD8-97AE-F8AD067AA27D}"/>
              </a:ext>
            </a:extLst>
          </p:cNvPr>
          <p:cNvPicPr>
            <a:picLocks noChangeAspect="1"/>
          </p:cNvPicPr>
          <p:nvPr/>
        </p:nvPicPr>
        <p:blipFill>
          <a:blip r:embed="rId3"/>
          <a:stretch/>
        </p:blipFill>
        <p:spPr>
          <a:xfrm>
            <a:off x="857250" y="2759146"/>
            <a:ext cx="4524375" cy="482457"/>
          </a:xfrm>
          <a:prstGeom prst="rect">
            <a:avLst/>
          </a:prstGeom>
        </p:spPr>
      </p:pic>
      <p:sp>
        <p:nvSpPr>
          <p:cNvPr id="4" name="editable-פתיחת NotebookLM">
            <a:extLst>
              <a:ext uri="{FF2B5EF4-FFF2-40B4-BE49-F238E27FC236}">
                <a16:creationId xmlns:a16="http://schemas.microsoft.com/office/drawing/2014/main" id="{444E8712-9710-4951-9B8F-915E7C8787BA}"/>
              </a:ext>
            </a:extLst>
          </p:cNvPr>
          <p:cNvSpPr>
            <a:spLocks noGrp="1"/>
          </p:cNvSpPr>
          <p:nvPr/>
        </p:nvSpPr>
        <p:spPr>
          <a:xfrm>
            <a:off x="6572250" y="5238750"/>
            <a:ext cx="4762500" cy="476250"/>
          </a:xfrm>
          <a:prstGeom prst="rect">
            <a:avLst/>
          </a:prstGeom>
          <a:noFill/>
          <a:ln w="0">
            <a:noFill/>
          </a:ln>
        </p:spPr>
        <p:txBody>
          <a:bodyPr lIns="0" tIns="0" rIns="0" bIns="0" anchor="ctr">
            <a:noAutofit/>
          </a:bodyPr>
          <a:lstStyle>
            <a:defPPr algn="r">
              <a:defRPr sz="1950" b="0">
                <a:solidFill>
                  <a:srgbClr val="4378AB"/>
                </a:solidFill>
                <a:latin typeface="Arial"/>
                <a:ea typeface="Arial"/>
                <a:cs typeface="Arial"/>
              </a:defRPr>
            </a:defPPr>
          </a:lstStyle>
          <a:p>
            <a:pPr algn="r" rtl="1">
              <a:defRPr sz="1950" b="0">
                <a:solidFill>
                  <a:srgbClr val="4378AB"/>
                </a:solidFill>
                <a:latin typeface="Arial"/>
                <a:ea typeface="Arial"/>
                <a:cs typeface="Arial"/>
              </a:defRPr>
            </a:pPr>
            <a:r>
              <a:rPr sz="1950" b="0">
                <a:solidFill>
                  <a:srgbClr val="4378AB"/>
                </a:solidFill>
                <a:latin typeface="Arial"/>
                <a:ea typeface="Arial"/>
                <a:cs typeface="Arial"/>
                <a:hlinkClick r:id="rId4"/>
              </a:rPr>
              <a:t>פתיחת NotebookLM</a:t>
            </a:r>
          </a:p>
        </p:txBody>
      </p:sp>
      <p:sp>
        <p:nvSpPr>
          <p:cNvPr id="5" name="editable-17">
            <a:extLst>
              <a:ext uri="{FF2B5EF4-FFF2-40B4-BE49-F238E27FC236}">
                <a16:creationId xmlns:a16="http://schemas.microsoft.com/office/drawing/2014/main" id="{4FD49C37-B576-448B-8FDE-5679D6332C5A}"/>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17</a:t>
            </a:r>
          </a:p>
        </p:txBody>
      </p:sp>
    </p:spTree>
    <p:extLst>
      <p:ext uri="{BB962C8B-B14F-4D97-AF65-F5344CB8AC3E}">
        <p14:creationId xmlns:p14="http://schemas.microsoft.com/office/powerpoint/2010/main" val="582509159"/>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9" name="editable-שני מסמכים&#10;שתי שעות">
            <a:extLst>
              <a:ext uri="{FF2B5EF4-FFF2-40B4-BE49-F238E27FC236}">
                <a16:creationId xmlns:a16="http://schemas.microsoft.com/office/drawing/2014/main" id="{AB74ACA0-EEA0-46E9-B3FE-93BF68AF4687}"/>
              </a:ext>
            </a:extLst>
          </p:cNvPr>
          <p:cNvSpPr>
            <a:spLocks noGrp="1"/>
          </p:cNvSpPr>
          <p:nvPr/>
        </p:nvSpPr>
        <p:spPr>
          <a:xfrm>
            <a:off x="857250" y="762000"/>
            <a:ext cx="10477500" cy="152400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שני מסמכים</a:t>
            </a:r>
          </a:p>
          <a:p>
            <a:pPr algn="r" rtl="1">
              <a:defRPr sz="4350" b="1">
                <a:solidFill>
                  <a:srgbClr val="191B2B"/>
                </a:solidFill>
                <a:latin typeface="Arial"/>
                <a:ea typeface="Arial"/>
                <a:cs typeface="Arial"/>
              </a:defRPr>
            </a:pPr>
            <a:r>
              <a:rPr sz="4350" b="1">
                <a:solidFill>
                  <a:srgbClr val="191B2B"/>
                </a:solidFill>
                <a:latin typeface="Arial"/>
                <a:ea typeface="Arial"/>
                <a:cs typeface="Arial"/>
              </a:rPr>
              <a:t>שתי שעות</a:t>
            </a:r>
          </a:p>
        </p:txBody>
      </p:sp>
      <p:sp>
        <p:nvSpPr>
          <p:cNvPr id="2" name="editable-מסמך א">
            <a:extLst>
              <a:ext uri="{FF2B5EF4-FFF2-40B4-BE49-F238E27FC236}">
                <a16:creationId xmlns:a16="http://schemas.microsoft.com/office/drawing/2014/main" id="{5AD2251F-BD8D-4DF3-B0CB-5D5A858B9140}"/>
              </a:ext>
            </a:extLst>
          </p:cNvPr>
          <p:cNvSpPr>
            <a:spLocks noGrp="1"/>
          </p:cNvSpPr>
          <p:nvPr/>
        </p:nvSpPr>
        <p:spPr>
          <a:xfrm>
            <a:off x="6619875" y="2857500"/>
            <a:ext cx="4524375" cy="609600"/>
          </a:xfrm>
          <a:prstGeom prst="rect">
            <a:avLst/>
          </a:prstGeom>
          <a:noFill/>
          <a:ln w="0">
            <a:noFill/>
          </a:ln>
        </p:spPr>
        <p:txBody>
          <a:bodyPr lIns="0" tIns="0" rIns="0" bIns="0" anchor="ctr">
            <a:noAutofit/>
          </a:bodyPr>
          <a:lstStyle>
            <a:defPPr algn="ctr">
              <a:defRPr sz="2475" b="0">
                <a:solidFill>
                  <a:srgbClr val="5D647C"/>
                </a:solidFill>
                <a:latin typeface="Arial"/>
                <a:ea typeface="Arial"/>
                <a:cs typeface="Arial"/>
              </a:defRPr>
            </a:defPPr>
          </a:lstStyle>
          <a:p>
            <a:pPr algn="ctr" rtl="1">
              <a:defRPr sz="2475" b="0">
                <a:solidFill>
                  <a:srgbClr val="5D647C"/>
                </a:solidFill>
                <a:latin typeface="Arial"/>
                <a:ea typeface="Arial"/>
                <a:cs typeface="Arial"/>
              </a:defRPr>
            </a:pPr>
            <a:r>
              <a:rPr sz="2475" b="0">
                <a:solidFill>
                  <a:srgbClr val="5D647C"/>
                </a:solidFill>
                <a:latin typeface="Arial"/>
                <a:ea typeface="Arial"/>
                <a:cs typeface="Arial"/>
              </a:rPr>
              <a:t>מסמך א</a:t>
            </a:r>
          </a:p>
        </p:txBody>
      </p:sp>
      <p:sp>
        <p:nvSpPr>
          <p:cNvPr id="3" name="editable-09:00">
            <a:extLst>
              <a:ext uri="{FF2B5EF4-FFF2-40B4-BE49-F238E27FC236}">
                <a16:creationId xmlns:a16="http://schemas.microsoft.com/office/drawing/2014/main" id="{6206514C-8FB1-48D4-ACCC-6E7BE3D3DCFB}"/>
              </a:ext>
            </a:extLst>
          </p:cNvPr>
          <p:cNvSpPr>
            <a:spLocks noGrp="1"/>
          </p:cNvSpPr>
          <p:nvPr/>
        </p:nvSpPr>
        <p:spPr>
          <a:xfrm>
            <a:off x="6619875" y="3619500"/>
            <a:ext cx="4524375" cy="952500"/>
          </a:xfrm>
          <a:prstGeom prst="rect">
            <a:avLst/>
          </a:prstGeom>
          <a:noFill/>
          <a:ln w="0">
            <a:noFill/>
          </a:ln>
        </p:spPr>
        <p:txBody>
          <a:bodyPr lIns="0" tIns="0" rIns="0" bIns="0" anchor="ctr">
            <a:noAutofit/>
          </a:bodyPr>
          <a:lstStyle>
            <a:defPPr algn="ctr">
              <a:defRPr sz="5400" b="0">
                <a:solidFill>
                  <a:srgbClr val="7A59BC"/>
                </a:solidFill>
                <a:latin typeface="Arial"/>
                <a:ea typeface="Arial"/>
                <a:cs typeface="Arial"/>
              </a:defRPr>
            </a:defPPr>
          </a:lstStyle>
          <a:p>
            <a:pPr algn="ctr">
              <a:defRPr sz="5400" b="0">
                <a:solidFill>
                  <a:srgbClr val="7A59BC"/>
                </a:solidFill>
                <a:latin typeface="Arial"/>
                <a:ea typeface="Arial"/>
                <a:cs typeface="Arial"/>
              </a:defRPr>
            </a:pPr>
            <a:r>
              <a:rPr sz="5400" b="0">
                <a:solidFill>
                  <a:srgbClr val="7A59BC"/>
                </a:solidFill>
                <a:latin typeface="Arial"/>
                <a:ea typeface="Arial"/>
                <a:cs typeface="Arial"/>
              </a:rPr>
              <a:t>09:00</a:t>
            </a:r>
          </a:p>
        </p:txBody>
      </p:sp>
      <p:sp>
        <p:nvSpPr>
          <p:cNvPr id="4" name="editable-חדר 2">
            <a:extLst>
              <a:ext uri="{FF2B5EF4-FFF2-40B4-BE49-F238E27FC236}">
                <a16:creationId xmlns:a16="http://schemas.microsoft.com/office/drawing/2014/main" id="{0AF0A586-F7F2-4F64-A0BB-47FAD941A1D5}"/>
              </a:ext>
            </a:extLst>
          </p:cNvPr>
          <p:cNvSpPr>
            <a:spLocks noGrp="1"/>
          </p:cNvSpPr>
          <p:nvPr/>
        </p:nvSpPr>
        <p:spPr>
          <a:xfrm>
            <a:off x="6619875" y="4810125"/>
            <a:ext cx="4524375" cy="666750"/>
          </a:xfrm>
          <a:prstGeom prst="rect">
            <a:avLst/>
          </a:prstGeom>
          <a:noFill/>
          <a:ln w="0">
            <a:noFill/>
          </a:ln>
        </p:spPr>
        <p:txBody>
          <a:bodyPr lIns="0" tIns="0" rIns="0" bIns="0" anchor="ctr">
            <a:noAutofit/>
          </a:bodyPr>
          <a:lstStyle>
            <a:defPPr algn="ctr">
              <a:defRPr sz="2775" b="0">
                <a:solidFill>
                  <a:srgbClr val="191B2B"/>
                </a:solidFill>
                <a:latin typeface="Arial"/>
                <a:ea typeface="Arial"/>
                <a:cs typeface="Arial"/>
              </a:defRPr>
            </a:defPPr>
          </a:lstStyle>
          <a:p>
            <a:pPr algn="ctr" rtl="1">
              <a:defRPr sz="2775" b="0">
                <a:solidFill>
                  <a:srgbClr val="191B2B"/>
                </a:solidFill>
                <a:latin typeface="Arial"/>
                <a:ea typeface="Arial"/>
                <a:cs typeface="Arial"/>
              </a:defRPr>
            </a:pPr>
            <a:r>
              <a:rPr sz="2775" b="0">
                <a:solidFill>
                  <a:srgbClr val="191B2B"/>
                </a:solidFill>
                <a:latin typeface="Arial"/>
                <a:ea typeface="Arial"/>
                <a:cs typeface="Arial"/>
              </a:rPr>
              <a:t>חדר 2</a:t>
            </a:r>
          </a:p>
        </p:txBody>
      </p:sp>
      <p:sp>
        <p:nvSpPr>
          <p:cNvPr id="5" name="editable-מסמך ב">
            <a:extLst>
              <a:ext uri="{FF2B5EF4-FFF2-40B4-BE49-F238E27FC236}">
                <a16:creationId xmlns:a16="http://schemas.microsoft.com/office/drawing/2014/main" id="{AAF8C1F6-B710-4229-A2DA-84512C2B1C3B}"/>
              </a:ext>
            </a:extLst>
          </p:cNvPr>
          <p:cNvSpPr>
            <a:spLocks noGrp="1"/>
          </p:cNvSpPr>
          <p:nvPr/>
        </p:nvSpPr>
        <p:spPr>
          <a:xfrm>
            <a:off x="904875" y="2857500"/>
            <a:ext cx="4524375" cy="609600"/>
          </a:xfrm>
          <a:prstGeom prst="rect">
            <a:avLst/>
          </a:prstGeom>
          <a:noFill/>
          <a:ln w="0">
            <a:noFill/>
          </a:ln>
        </p:spPr>
        <p:txBody>
          <a:bodyPr lIns="0" tIns="0" rIns="0" bIns="0" anchor="ctr">
            <a:noAutofit/>
          </a:bodyPr>
          <a:lstStyle>
            <a:defPPr algn="ctr">
              <a:defRPr sz="2475" b="0">
                <a:solidFill>
                  <a:srgbClr val="5D647C"/>
                </a:solidFill>
                <a:latin typeface="Arial"/>
                <a:ea typeface="Arial"/>
                <a:cs typeface="Arial"/>
              </a:defRPr>
            </a:defPPr>
          </a:lstStyle>
          <a:p>
            <a:pPr algn="ctr" rtl="1">
              <a:defRPr sz="2475" b="0">
                <a:solidFill>
                  <a:srgbClr val="5D647C"/>
                </a:solidFill>
                <a:latin typeface="Arial"/>
                <a:ea typeface="Arial"/>
                <a:cs typeface="Arial"/>
              </a:defRPr>
            </a:pPr>
            <a:r>
              <a:rPr sz="2475" b="0">
                <a:solidFill>
                  <a:srgbClr val="5D647C"/>
                </a:solidFill>
                <a:latin typeface="Arial"/>
                <a:ea typeface="Arial"/>
                <a:cs typeface="Arial"/>
              </a:rPr>
              <a:t>מסמך ב</a:t>
            </a:r>
          </a:p>
        </p:txBody>
      </p:sp>
      <p:sp>
        <p:nvSpPr>
          <p:cNvPr id="6" name="editable-09:30">
            <a:extLst>
              <a:ext uri="{FF2B5EF4-FFF2-40B4-BE49-F238E27FC236}">
                <a16:creationId xmlns:a16="http://schemas.microsoft.com/office/drawing/2014/main" id="{F8C55D52-6942-4578-AD09-C24D12BCAD06}"/>
              </a:ext>
            </a:extLst>
          </p:cNvPr>
          <p:cNvSpPr>
            <a:spLocks noGrp="1"/>
          </p:cNvSpPr>
          <p:nvPr/>
        </p:nvSpPr>
        <p:spPr>
          <a:xfrm>
            <a:off x="904875" y="3619500"/>
            <a:ext cx="4524375" cy="952500"/>
          </a:xfrm>
          <a:prstGeom prst="rect">
            <a:avLst/>
          </a:prstGeom>
          <a:noFill/>
          <a:ln w="0">
            <a:noFill/>
          </a:ln>
        </p:spPr>
        <p:txBody>
          <a:bodyPr lIns="0" tIns="0" rIns="0" bIns="0" anchor="ctr">
            <a:noAutofit/>
          </a:bodyPr>
          <a:lstStyle>
            <a:defPPr algn="ctr">
              <a:defRPr sz="5400" b="0">
                <a:solidFill>
                  <a:srgbClr val="4378AB"/>
                </a:solidFill>
                <a:latin typeface="Arial"/>
                <a:ea typeface="Arial"/>
                <a:cs typeface="Arial"/>
              </a:defRPr>
            </a:defPPr>
          </a:lstStyle>
          <a:p>
            <a:pPr algn="ctr">
              <a:defRPr sz="5400" b="0">
                <a:solidFill>
                  <a:srgbClr val="4378AB"/>
                </a:solidFill>
                <a:latin typeface="Arial"/>
                <a:ea typeface="Arial"/>
                <a:cs typeface="Arial"/>
              </a:defRPr>
            </a:pPr>
            <a:r>
              <a:rPr sz="5400" b="0">
                <a:solidFill>
                  <a:srgbClr val="4378AB"/>
                </a:solidFill>
                <a:latin typeface="Arial"/>
                <a:ea typeface="Arial"/>
                <a:cs typeface="Arial"/>
              </a:rPr>
              <a:t>09:30</a:t>
            </a:r>
          </a:p>
        </p:txBody>
      </p:sp>
      <p:sp>
        <p:nvSpPr>
          <p:cNvPr id="7" name="editable-חדר 3">
            <a:extLst>
              <a:ext uri="{FF2B5EF4-FFF2-40B4-BE49-F238E27FC236}">
                <a16:creationId xmlns:a16="http://schemas.microsoft.com/office/drawing/2014/main" id="{00DA2779-00D7-419D-9B15-8529CF14FCC9}"/>
              </a:ext>
            </a:extLst>
          </p:cNvPr>
          <p:cNvSpPr>
            <a:spLocks noGrp="1"/>
          </p:cNvSpPr>
          <p:nvPr/>
        </p:nvSpPr>
        <p:spPr>
          <a:xfrm>
            <a:off x="904875" y="4810125"/>
            <a:ext cx="4524375" cy="666750"/>
          </a:xfrm>
          <a:prstGeom prst="rect">
            <a:avLst/>
          </a:prstGeom>
          <a:noFill/>
          <a:ln w="0">
            <a:noFill/>
          </a:ln>
        </p:spPr>
        <p:txBody>
          <a:bodyPr lIns="0" tIns="0" rIns="0" bIns="0" anchor="ctr">
            <a:noAutofit/>
          </a:bodyPr>
          <a:lstStyle>
            <a:defPPr algn="ctr">
              <a:defRPr sz="2775" b="0">
                <a:solidFill>
                  <a:srgbClr val="191B2B"/>
                </a:solidFill>
                <a:latin typeface="Arial"/>
                <a:ea typeface="Arial"/>
                <a:cs typeface="Arial"/>
              </a:defRPr>
            </a:defPPr>
          </a:lstStyle>
          <a:p>
            <a:pPr algn="ctr" rtl="1">
              <a:defRPr sz="2775" b="0">
                <a:solidFill>
                  <a:srgbClr val="191B2B"/>
                </a:solidFill>
                <a:latin typeface="Arial"/>
                <a:ea typeface="Arial"/>
                <a:cs typeface="Arial"/>
              </a:defRPr>
            </a:pPr>
            <a:r>
              <a:rPr sz="2775" b="0">
                <a:solidFill>
                  <a:srgbClr val="191B2B"/>
                </a:solidFill>
                <a:latin typeface="Arial"/>
                <a:ea typeface="Arial"/>
                <a:cs typeface="Arial"/>
              </a:rPr>
              <a:t>חדר 3</a:t>
            </a:r>
          </a:p>
        </p:txBody>
      </p:sp>
      <p:sp>
        <p:nvSpPr>
          <p:cNvPr id="8" name="editable-18">
            <a:extLst>
              <a:ext uri="{FF2B5EF4-FFF2-40B4-BE49-F238E27FC236}">
                <a16:creationId xmlns:a16="http://schemas.microsoft.com/office/drawing/2014/main" id="{2E436D77-0485-4577-936C-EBE1A8660BB2}"/>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18</a:t>
            </a:r>
          </a:p>
        </p:txBody>
      </p:sp>
    </p:spTree>
    <p:extLst>
      <p:ext uri="{BB962C8B-B14F-4D97-AF65-F5344CB8AC3E}">
        <p14:creationId xmlns:p14="http://schemas.microsoft.com/office/powerpoint/2010/main" val="951320127"/>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accel="50000" decel="5000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par>
                                <p:cTn id="17" presetID="10" presetClass="entr" presetSubtype="0" accel="50000" decel="5000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300"/>
                                        <p:tgtEl>
                                          <p:spTgt spid="5"/>
                                        </p:tgtEl>
                                      </p:cBhvr>
                                    </p:animEffect>
                                  </p:childTnLst>
                                </p:cTn>
                              </p:par>
                              <p:par>
                                <p:cTn id="20" presetID="10" presetClass="entr" presetSubtype="0" accel="50000" decel="5000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300"/>
                                        <p:tgtEl>
                                          <p:spTgt spid="6"/>
                                        </p:tgtEl>
                                      </p:cBhvr>
                                    </p:animEffect>
                                  </p:childTnLst>
                                </p:cTn>
                              </p:par>
                              <p:par>
                                <p:cTn id="23" presetID="10" presetClass="entr" presetSubtype="0" accel="50000" decel="5000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3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3" grpId="0"/>
      <p:bldP spid="4" grpId="0"/>
      <p:bldP spid="5" grpId="0"/>
      <p:bldP spid="6"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סתירה, ציטוט וחסר">
            <a:extLst>
              <a:ext uri="{FF2B5EF4-FFF2-40B4-BE49-F238E27FC236}">
                <a16:creationId xmlns:a16="http://schemas.microsoft.com/office/drawing/2014/main" id="{ED536D25-BA61-4584-885A-1D89790D1359}"/>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סתירה, ציטוט וחסר</a:t>
            </a:r>
          </a:p>
        </p:txBody>
      </p:sp>
      <p:pic>
        <p:nvPicPr>
          <p:cNvPr id="2" name="תמונה 1">
            <a:extLst>
              <a:ext uri="{FF2B5EF4-FFF2-40B4-BE49-F238E27FC236}">
                <a16:creationId xmlns:a16="http://schemas.microsoft.com/office/drawing/2014/main" id="{A9588ADF-6F13-46FE-8779-AD72800EE7E7}"/>
              </a:ext>
            </a:extLst>
          </p:cNvPr>
          <p:cNvPicPr>
            <a:picLocks noChangeAspect="1"/>
          </p:cNvPicPr>
          <p:nvPr/>
        </p:nvPicPr>
        <p:blipFill>
          <a:blip r:embed="rId3"/>
          <a:stretch/>
        </p:blipFill>
        <p:spPr>
          <a:xfrm>
            <a:off x="857250" y="1094777"/>
            <a:ext cx="2333625" cy="248846"/>
          </a:xfrm>
          <a:prstGeom prst="rect">
            <a:avLst/>
          </a:prstGeom>
        </p:spPr>
      </p:pic>
      <p:sp>
        <p:nvSpPr>
          <p:cNvPr id="3" name="editable-על בסיס מסמכים א וב בלבד: מתי המפגש">
            <a:extLst>
              <a:ext uri="{FF2B5EF4-FFF2-40B4-BE49-F238E27FC236}">
                <a16:creationId xmlns:a16="http://schemas.microsoft.com/office/drawing/2014/main" id="{F480D9F0-AF38-4BA5-8E19-3D1EFBCBD241}"/>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על בסיס מסמכים א וב בלבד: מתי המפגש, באיזה חדר ומתי מגיעים? ציין מקור וסעיף לכל פרט. הסבר איזה משפט מכריע את הסתירה. אם מידע חסר, כתוב שלא נמצא.</a:t>
            </a:r>
          </a:p>
        </p:txBody>
      </p:sp>
      <p:sp>
        <p:nvSpPr>
          <p:cNvPr id="4" name="editable-הפרומפט המלא עם המקור מוכן להעתקה ב">
            <a:extLst>
              <a:ext uri="{FF2B5EF4-FFF2-40B4-BE49-F238E27FC236}">
                <a16:creationId xmlns:a16="http://schemas.microsoft.com/office/drawing/2014/main" id="{5BC55502-293B-4284-B34A-B493FE2B92C9}"/>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10 / P11">
            <a:extLst>
              <a:ext uri="{FF2B5EF4-FFF2-40B4-BE49-F238E27FC236}">
                <a16:creationId xmlns:a16="http://schemas.microsoft.com/office/drawing/2014/main" id="{36DC2CFC-F847-4862-B533-26F318FE9B9C}"/>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P10 / P11</a:t>
            </a:r>
          </a:p>
        </p:txBody>
      </p:sp>
      <p:sp>
        <p:nvSpPr>
          <p:cNvPr id="6" name="editable-19">
            <a:extLst>
              <a:ext uri="{FF2B5EF4-FFF2-40B4-BE49-F238E27FC236}">
                <a16:creationId xmlns:a16="http://schemas.microsoft.com/office/drawing/2014/main" id="{FD335A34-6147-44B1-AFB6-0F73EC0ED06E}"/>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19</a:t>
            </a:r>
          </a:p>
        </p:txBody>
      </p:sp>
    </p:spTree>
    <p:extLst>
      <p:ext uri="{BB962C8B-B14F-4D97-AF65-F5344CB8AC3E}">
        <p14:creationId xmlns:p14="http://schemas.microsoft.com/office/powerpoint/2010/main" val="1208538019"/>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9">
            <a:extLst>
              <a:ext uri="{FF2B5EF4-FFF2-40B4-BE49-F238E27FC236}">
                <a16:creationId xmlns:a16="http://schemas.microsoft.com/office/drawing/2014/main" id="{6103A9A3-54A0-4EE7-A746-CC203BC62018}"/>
              </a:ext>
            </a:extLst>
          </p:cNvPr>
          <p:cNvSpPr>
            <a:spLocks noGrp="1"/>
          </p:cNvSpPr>
          <p:nvPr/>
        </p:nvSpPr>
        <p:spPr>
          <a:xfrm>
            <a:off x="666750" y="1666875"/>
            <a:ext cx="2667000" cy="2047875"/>
          </a:xfrm>
          <a:prstGeom prst="rect">
            <a:avLst/>
          </a:prstGeom>
          <a:noFill/>
          <a:ln w="0">
            <a:noFill/>
          </a:ln>
        </p:spPr>
        <p: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9</a:t>
            </a:r>
          </a:p>
        </p:txBody>
      </p:sp>
      <p:sp>
        <p:nvSpPr>
          <p:cNvPr id="2" name="editable-דקות">
            <a:extLst>
              <a:ext uri="{FF2B5EF4-FFF2-40B4-BE49-F238E27FC236}">
                <a16:creationId xmlns:a16="http://schemas.microsoft.com/office/drawing/2014/main" id="{C7300A99-221D-4BB3-A581-2710901EF40D}"/>
              </a:ext>
            </a:extLst>
          </p:cNvPr>
          <p:cNvSpPr>
            <a:spLocks noGrp="1"/>
          </p:cNvSpPr>
          <p:nvPr/>
        </p:nvSpPr>
        <p:spPr>
          <a:xfrm>
            <a:off x="952500" y="3714750"/>
            <a:ext cx="2095500" cy="619125"/>
          </a:xfrm>
          <a:prstGeom prst="rect">
            <a:avLst/>
          </a:prstGeom>
          <a:noFill/>
          <a:ln w="0">
            <a:noFill/>
          </a:ln>
        </p:spPr>
        <p: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p:txBody>
      </p:sp>
      <p:sp>
        <p:nvSpPr>
          <p:cNvPr id="3" name="editable-תרגיל 3&#10;סתירה, ציטוט וחסר">
            <a:extLst>
              <a:ext uri="{FF2B5EF4-FFF2-40B4-BE49-F238E27FC236}">
                <a16:creationId xmlns:a16="http://schemas.microsoft.com/office/drawing/2014/main" id="{6F501A9A-D36C-42BB-BA61-4114AF52AC0A}"/>
              </a:ext>
            </a:extLst>
          </p:cNvPr>
          <p:cNvSpPr>
            <a:spLocks noGrp="1"/>
          </p:cNvSpPr>
          <p:nvPr/>
        </p:nvSpPr>
        <p:spPr>
          <a:xfrm>
            <a:off x="4191000" y="1000125"/>
            <a:ext cx="7048500" cy="1809750"/>
          </a:xfrm>
          <a:prstGeom prst="rect">
            <a:avLst/>
          </a:prstGeom>
          <a:noFill/>
          <a:ln w="0">
            <a:noFill/>
          </a:ln>
        </p:spPr>
        <p: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3</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סתירה, ציטוט וחסר</a:t>
            </a:r>
          </a:p>
        </p:txBody>
      </p:sp>
      <p:sp>
        <p:nvSpPr>
          <p:cNvPr id="4" name="editable-העלו את א וב&#10;שאלו שתי שאלות&#10;פתחו צי">
            <a:extLst>
              <a:ext uri="{FF2B5EF4-FFF2-40B4-BE49-F238E27FC236}">
                <a16:creationId xmlns:a16="http://schemas.microsoft.com/office/drawing/2014/main" id="{5AEBA03A-0482-486A-9764-59AA7F1683B8}"/>
              </a:ext>
            </a:extLst>
          </p:cNvPr>
          <p:cNvSpPr>
            <a:spLocks noGrp="1"/>
          </p:cNvSpPr>
          <p:nvPr/>
        </p:nvSpPr>
        <p:spPr>
          <a:xfrm>
            <a:off x="4191000" y="3162300"/>
            <a:ext cx="7048500" cy="21336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העלו את א וב</a:t>
            </a:r>
          </a:p>
          <a:p>
            <a:pPr algn="r" rtl="1">
              <a:defRPr sz="2850" b="0">
                <a:solidFill>
                  <a:srgbClr val="7A59BC"/>
                </a:solidFill>
                <a:latin typeface="Arial"/>
                <a:ea typeface="Arial"/>
                <a:cs typeface="Arial"/>
              </a:defRPr>
            </a:pPr>
            <a:r>
              <a:rPr sz="2850" b="0">
                <a:solidFill>
                  <a:srgbClr val="7A59BC"/>
                </a:solidFill>
                <a:latin typeface="Arial"/>
                <a:ea typeface="Arial"/>
                <a:cs typeface="Arial"/>
              </a:rPr>
              <a:t>שאלו שתי שאלות</a:t>
            </a:r>
          </a:p>
          <a:p>
            <a:pPr algn="r" rtl="1">
              <a:defRPr sz="2850" b="0">
                <a:solidFill>
                  <a:srgbClr val="7A59BC"/>
                </a:solidFill>
                <a:latin typeface="Arial"/>
                <a:ea typeface="Arial"/>
                <a:cs typeface="Arial"/>
              </a:defRPr>
            </a:pPr>
            <a:r>
              <a:rPr sz="2850" b="0">
                <a:solidFill>
                  <a:srgbClr val="7A59BC"/>
                </a:solidFill>
                <a:latin typeface="Arial"/>
                <a:ea typeface="Arial"/>
                <a:cs typeface="Arial"/>
              </a:rPr>
              <a:t>פתחו ציטוט אחד</a:t>
            </a:r>
          </a:p>
        </p:txBody>
      </p:sp>
      <p:sp>
        <p:nvSpPr>
          <p:cNvPr id="5" name="editable-הפרומפט המלא בדף התרגול">
            <a:extLst>
              <a:ext uri="{FF2B5EF4-FFF2-40B4-BE49-F238E27FC236}">
                <a16:creationId xmlns:a16="http://schemas.microsoft.com/office/drawing/2014/main" id="{A6957FC2-03BE-46E3-AD15-1E96F0AE120C}"/>
              </a:ext>
            </a:extLst>
          </p:cNvPr>
          <p:cNvSpPr>
            <a:spLocks noGrp="1"/>
          </p:cNvSpPr>
          <p:nvPr/>
        </p:nvSpPr>
        <p:spPr>
          <a:xfrm>
            <a:off x="4191000" y="5791200"/>
            <a:ext cx="7048500" cy="4191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p:txBody>
      </p:sp>
      <p:sp>
        <p:nvSpPr>
          <p:cNvPr id="6" name="editable-P10 / P11 / P12">
            <a:extLst>
              <a:ext uri="{FF2B5EF4-FFF2-40B4-BE49-F238E27FC236}">
                <a16:creationId xmlns:a16="http://schemas.microsoft.com/office/drawing/2014/main" id="{55DCBC63-32E3-46E6-A6D1-E350C9E60B17}"/>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P10 / P11 / P12</a:t>
            </a:r>
          </a:p>
        </p:txBody>
      </p:sp>
      <p:sp>
        <p:nvSpPr>
          <p:cNvPr id="7" name="editable-20">
            <a:extLst>
              <a:ext uri="{FF2B5EF4-FFF2-40B4-BE49-F238E27FC236}">
                <a16:creationId xmlns:a16="http://schemas.microsoft.com/office/drawing/2014/main" id="{4CCE0691-80A9-4B22-9865-7B1BC9E2AFFD}"/>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20</a:t>
            </a:r>
          </a:p>
        </p:txBody>
      </p:sp>
    </p:spTree>
    <p:extLst>
      <p:ext uri="{BB962C8B-B14F-4D97-AF65-F5344CB8AC3E}">
        <p14:creationId xmlns:p14="http://schemas.microsoft.com/office/powerpoint/2010/main" val="650675372"/>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rgbClr val="18243D"/>
            </a:gs>
            <a:gs pos="100000">
              <a:srgbClr val="292940"/>
            </a:gs>
          </a:gsLst>
          <a:lin ang="8400000"/>
        </a:gradFill>
        <a:effectLst/>
      </p:bgPr>
    </p:bg>
    <p:spTree>
      <p:nvGrpSpPr>
        <p:cNvPr id="1" name=""/>
        <p:cNvGrpSpPr/>
        <p:nvPr/>
      </p:nvGrpSpPr>
      <p:grpSpPr>
        <a:xfrm>
          <a:off x="0" y="0"/>
          <a:ext cx="0" cy="0"/>
          <a:chOff x="0" y="0"/>
          <a:chExt cx="0" cy="0"/>
        </a:xfrm>
      </p:grpSpPr>
      <p:sp>
        <p:nvSpPr>
          <p:cNvPr id="4" name="editable-עבודה עם סוכן">
            <a:extLst>
              <a:ext uri="{FF2B5EF4-FFF2-40B4-BE49-F238E27FC236}">
                <a16:creationId xmlns:a16="http://schemas.microsoft.com/office/drawing/2014/main" id="{6CC73825-AD5B-4C69-B6CA-DBF284DF74D5}"/>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עבודה עם סוכן</a:t>
            </a:r>
          </a:p>
        </p:txBody>
      </p:sp>
      <p:sp>
        <p:nvSpPr>
          <p:cNvPr id="2" name="editable-מצ׳אט שמנסח תשובה&#10;לכלי שמתקדם לעבר ">
            <a:extLst>
              <a:ext uri="{FF2B5EF4-FFF2-40B4-BE49-F238E27FC236}">
                <a16:creationId xmlns:a16="http://schemas.microsoft.com/office/drawing/2014/main" id="{BBBB4AD7-5421-4D60-9A99-C59E49531709}"/>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3000" b="0">
                <a:solidFill>
                  <a:srgbClr val="F7F8FC"/>
                </a:solidFill>
                <a:latin typeface="Arial"/>
                <a:ea typeface="Arial"/>
                <a:cs typeface="Arial"/>
              </a:defRPr>
            </a:defPPr>
          </a:lstStyle>
          <a:p>
            <a:pPr algn="ctr" rtl="1">
              <a:defRPr sz="3000" b="0">
                <a:solidFill>
                  <a:srgbClr val="F7F8FC"/>
                </a:solidFill>
                <a:latin typeface="Arial"/>
                <a:ea typeface="Arial"/>
                <a:cs typeface="Arial"/>
              </a:defRPr>
            </a:pPr>
            <a:r>
              <a:rPr sz="3000" b="0">
                <a:solidFill>
                  <a:srgbClr val="F7F8FC"/>
                </a:solidFill>
                <a:latin typeface="Arial"/>
                <a:ea typeface="Arial"/>
                <a:cs typeface="Arial"/>
              </a:rPr>
              <a:t>מצ׳אט שמנסח תשובה</a:t>
            </a:r>
          </a:p>
          <a:p>
            <a:pPr algn="ctr" rtl="1">
              <a:defRPr sz="3000" b="0">
                <a:solidFill>
                  <a:srgbClr val="F7F8FC"/>
                </a:solidFill>
                <a:latin typeface="Arial"/>
                <a:ea typeface="Arial"/>
                <a:cs typeface="Arial"/>
              </a:defRPr>
            </a:pPr>
            <a:r>
              <a:rPr sz="3000" b="0">
                <a:solidFill>
                  <a:srgbClr val="F7F8FC"/>
                </a:solidFill>
                <a:latin typeface="Arial"/>
                <a:ea typeface="Arial"/>
                <a:cs typeface="Arial"/>
              </a:rPr>
              <a:t>לכלי שמתקדם לעבר מטרה</a:t>
            </a:r>
          </a:p>
        </p:txBody>
      </p:sp>
      <p:sp>
        <p:nvSpPr>
          <p:cNvPr id="3" name="editable-21">
            <a:extLst>
              <a:ext uri="{FF2B5EF4-FFF2-40B4-BE49-F238E27FC236}">
                <a16:creationId xmlns:a16="http://schemas.microsoft.com/office/drawing/2014/main" id="{BE7881FC-799B-4E6D-A641-3AECA3EBC493}"/>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6D9"/>
                </a:solidFill>
                <a:latin typeface="Arial"/>
                <a:ea typeface="Arial"/>
                <a:cs typeface="Arial"/>
              </a:defRPr>
            </a:defPPr>
          </a:lstStyle>
          <a:p>
            <a:pPr algn="r">
              <a:defRPr sz="1200" b="0">
                <a:solidFill>
                  <a:srgbClr val="B9C6D9"/>
                </a:solidFill>
                <a:latin typeface="Arial"/>
                <a:ea typeface="Arial"/>
                <a:cs typeface="Arial"/>
              </a:defRPr>
            </a:pPr>
            <a:r>
              <a:rPr sz="1200" b="0">
                <a:solidFill>
                  <a:srgbClr val="B9C6D9"/>
                </a:solidFill>
                <a:latin typeface="Arial"/>
                <a:ea typeface="Arial"/>
                <a:cs typeface="Arial"/>
              </a:rPr>
              <a:t>21</a:t>
            </a:r>
          </a:p>
        </p:txBody>
      </p:sp>
    </p:spTree>
    <p:extLst>
      <p:ext uri="{BB962C8B-B14F-4D97-AF65-F5344CB8AC3E}">
        <p14:creationId xmlns:p14="http://schemas.microsoft.com/office/powerpoint/2010/main" val="2135440162"/>
      </p:ext>
    </p:extLst>
  </p:cSld>
  <p:clrMapOvr>
    <a:masterClrMapping/>
  </p:clrMapOvr>
  <mc:AlternateContent xmlns:mc="http://schemas.openxmlformats.org/markup-compatibility/2006" xmlns:p14="http://schemas.microsoft.com/office/powerpoint/2010/main">
    <mc:Choice Requires="p14">
      <p:transition p14:dur="35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מטרה אחת.&#10;כמה תוצרים.">
            <a:extLst>
              <a:ext uri="{FF2B5EF4-FFF2-40B4-BE49-F238E27FC236}">
                <a16:creationId xmlns:a16="http://schemas.microsoft.com/office/drawing/2014/main" id="{FE10A76A-C4AC-4661-B100-E1F59541A048}"/>
              </a:ext>
            </a:extLst>
          </p:cNvPr>
          <p:cNvSpPr>
            <a:spLocks noGrp="1"/>
          </p:cNvSpPr>
          <p:nvPr/>
        </p:nvSpPr>
        <p:spPr>
          <a:xfrm>
            <a:off x="6286500" y="952500"/>
            <a:ext cx="5048250" cy="16192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מטרה אחת.</a:t>
            </a:r>
          </a:p>
          <a:p>
            <a:pPr algn="r" rtl="1">
              <a:defRPr sz="4350" b="1">
                <a:solidFill>
                  <a:srgbClr val="191B2B"/>
                </a:solidFill>
                <a:latin typeface="Arial"/>
                <a:ea typeface="Arial"/>
                <a:cs typeface="Arial"/>
              </a:defRPr>
            </a:pPr>
            <a:r>
              <a:rPr sz="4350" b="1">
                <a:solidFill>
                  <a:srgbClr val="191B2B"/>
                </a:solidFill>
                <a:latin typeface="Arial"/>
                <a:ea typeface="Arial"/>
                <a:cs typeface="Arial"/>
              </a:rPr>
              <a:t>כמה תוצרים.</a:t>
            </a:r>
          </a:p>
        </p:txBody>
      </p:sp>
      <p:sp>
        <p:nvSpPr>
          <p:cNvPr id="2" name="editable-משימת היערכות ליום הדרכה">
            <a:extLst>
              <a:ext uri="{FF2B5EF4-FFF2-40B4-BE49-F238E27FC236}">
                <a16:creationId xmlns:a16="http://schemas.microsoft.com/office/drawing/2014/main" id="{AE983D33-41C2-4BEE-90B1-8A610AD94DE1}"/>
              </a:ext>
            </a:extLst>
          </p:cNvPr>
          <p:cNvSpPr>
            <a:spLocks noGrp="1"/>
          </p:cNvSpPr>
          <p:nvPr/>
        </p:nvSpPr>
        <p:spPr>
          <a:xfrm>
            <a:off x="6286500" y="2628900"/>
            <a:ext cx="5048250" cy="17145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משימת היערכות ליום הדרכה</a:t>
            </a:r>
          </a:p>
        </p:txBody>
      </p:sp>
      <p:pic>
        <p:nvPicPr>
          <p:cNvPr id="3" name="תמונה 2">
            <a:extLst>
              <a:ext uri="{FF2B5EF4-FFF2-40B4-BE49-F238E27FC236}">
                <a16:creationId xmlns:a16="http://schemas.microsoft.com/office/drawing/2014/main" id="{D8AC78AA-08BC-4267-8CDA-D9507CD98972}"/>
              </a:ext>
            </a:extLst>
          </p:cNvPr>
          <p:cNvPicPr>
            <a:picLocks noChangeAspect="1"/>
          </p:cNvPicPr>
          <p:nvPr/>
        </p:nvPicPr>
        <p:blipFill>
          <a:blip r:embed="rId3"/>
          <a:stretch/>
        </p:blipFill>
        <p:spPr>
          <a:xfrm>
            <a:off x="857250" y="2397125"/>
            <a:ext cx="4524375" cy="1206500"/>
          </a:xfrm>
          <a:prstGeom prst="rect">
            <a:avLst/>
          </a:prstGeom>
        </p:spPr>
      </p:pic>
      <p:sp>
        <p:nvSpPr>
          <p:cNvPr id="4" name="editable-פתיחת Manus">
            <a:extLst>
              <a:ext uri="{FF2B5EF4-FFF2-40B4-BE49-F238E27FC236}">
                <a16:creationId xmlns:a16="http://schemas.microsoft.com/office/drawing/2014/main" id="{0525162A-CB61-4C5B-9B2A-6831A72198A0}"/>
              </a:ext>
            </a:extLst>
          </p:cNvPr>
          <p:cNvSpPr>
            <a:spLocks noGrp="1"/>
          </p:cNvSpPr>
          <p:nvPr/>
        </p:nvSpPr>
        <p:spPr>
          <a:xfrm>
            <a:off x="6572250" y="5238750"/>
            <a:ext cx="4762500" cy="476250"/>
          </a:xfrm>
          <a:prstGeom prst="rect">
            <a:avLst/>
          </a:prstGeom>
          <a:noFill/>
          <a:ln w="0">
            <a:noFill/>
          </a:ln>
        </p:spPr>
        <p:txBody>
          <a:bodyPr lIns="0" tIns="0" rIns="0" bIns="0" anchor="ctr">
            <a:noAutofit/>
          </a:bodyPr>
          <a:lstStyle>
            <a:defPPr algn="r">
              <a:defRPr sz="1950" b="0">
                <a:solidFill>
                  <a:srgbClr val="4378AB"/>
                </a:solidFill>
                <a:latin typeface="Arial"/>
                <a:ea typeface="Arial"/>
                <a:cs typeface="Arial"/>
              </a:defRPr>
            </a:defPPr>
          </a:lstStyle>
          <a:p>
            <a:pPr algn="r" rtl="1">
              <a:defRPr sz="1950" b="0">
                <a:solidFill>
                  <a:srgbClr val="4378AB"/>
                </a:solidFill>
                <a:latin typeface="Arial"/>
                <a:ea typeface="Arial"/>
                <a:cs typeface="Arial"/>
              </a:defRPr>
            </a:pPr>
            <a:r>
              <a:rPr sz="1950" b="0">
                <a:solidFill>
                  <a:srgbClr val="4378AB"/>
                </a:solidFill>
                <a:latin typeface="Arial"/>
                <a:ea typeface="Arial"/>
                <a:cs typeface="Arial"/>
                <a:hlinkClick r:id="rId4"/>
              </a:rPr>
              <a:t>פתיחת Manus</a:t>
            </a:r>
          </a:p>
        </p:txBody>
      </p:sp>
      <p:sp>
        <p:nvSpPr>
          <p:cNvPr id="5" name="editable-P13">
            <a:extLst>
              <a:ext uri="{FF2B5EF4-FFF2-40B4-BE49-F238E27FC236}">
                <a16:creationId xmlns:a16="http://schemas.microsoft.com/office/drawing/2014/main" id="{8FC0B70A-453C-4B18-82A4-93EFFBF44083}"/>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P13</a:t>
            </a:r>
          </a:p>
        </p:txBody>
      </p:sp>
      <p:sp>
        <p:nvSpPr>
          <p:cNvPr id="6" name="editable-22">
            <a:extLst>
              <a:ext uri="{FF2B5EF4-FFF2-40B4-BE49-F238E27FC236}">
                <a16:creationId xmlns:a16="http://schemas.microsoft.com/office/drawing/2014/main" id="{06C804ED-326E-4A3A-8559-D601F9CD7ADF}"/>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22</a:t>
            </a:r>
          </a:p>
        </p:txBody>
      </p:sp>
    </p:spTree>
    <p:extLst>
      <p:ext uri="{BB962C8B-B14F-4D97-AF65-F5344CB8AC3E}">
        <p14:creationId xmlns:p14="http://schemas.microsoft.com/office/powerpoint/2010/main" val="1397377556"/>
      </p:ext>
    </p:extLst>
  </p:cSld>
  <p:clrMapOvr>
    <a:masterClrMapping/>
  </p:clrMapOvr>
  <mc:AlternateContent xmlns:mc="http://schemas.openxmlformats.org/markup-compatibility/2006" xmlns:p14="http://schemas.microsoft.com/office/powerpoint/2010/main">
    <mc:Choice Requires="p14">
      <p:transition p14:dur="35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סוכן להכנת יום הדרכה">
            <a:extLst>
              <a:ext uri="{FF2B5EF4-FFF2-40B4-BE49-F238E27FC236}">
                <a16:creationId xmlns:a16="http://schemas.microsoft.com/office/drawing/2014/main" id="{01EE0328-5DB9-48B5-87AF-E86A1992FA2A}"/>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סוכן להכנת יום הדרכה</a:t>
            </a:r>
          </a:p>
        </p:txBody>
      </p:sp>
      <p:pic>
        <p:nvPicPr>
          <p:cNvPr id="2" name="תמונה 1">
            <a:extLst>
              <a:ext uri="{FF2B5EF4-FFF2-40B4-BE49-F238E27FC236}">
                <a16:creationId xmlns:a16="http://schemas.microsoft.com/office/drawing/2014/main" id="{583A30E7-B96E-4FCD-A2C8-B33C703A72A5}"/>
              </a:ext>
            </a:extLst>
          </p:cNvPr>
          <p:cNvPicPr>
            <a:picLocks noChangeAspect="1"/>
          </p:cNvPicPr>
          <p:nvPr/>
        </p:nvPicPr>
        <p:blipFill>
          <a:blip r:embed="rId3"/>
          <a:stretch/>
        </p:blipFill>
        <p:spPr>
          <a:xfrm>
            <a:off x="881063" y="914400"/>
            <a:ext cx="2286000" cy="609600"/>
          </a:xfrm>
          <a:prstGeom prst="rect">
            <a:avLst/>
          </a:prstGeom>
        </p:spPr>
      </p:pic>
      <p:sp>
        <p:nvSpPr>
          <p:cNvPr id="3" name="editable-מתוך מסמך ג בלבד, הכן תוכנית עבודה,">
            <a:extLst>
              <a:ext uri="{FF2B5EF4-FFF2-40B4-BE49-F238E27FC236}">
                <a16:creationId xmlns:a16="http://schemas.microsoft.com/office/drawing/2014/main" id="{69960244-6953-4491-A91D-6354D585B69D}"/>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מתוך מסמך ג בלבד, הכן תוכנית עבודה, רשימת בדיקות, חלוקת אחריות וטיוטת הודעה. בדוק שהתוצרים עקביים זה עם זה. סמן פרטים חסרים. אל תשלח, תפרסם או תרכוש דבר; עצור לאישור שלי.</a:t>
            </a:r>
          </a:p>
        </p:txBody>
      </p:sp>
      <p:sp>
        <p:nvSpPr>
          <p:cNvPr id="4" name="editable-הפרומפט המלא עם המקור מוכן להעתקה ב">
            <a:extLst>
              <a:ext uri="{FF2B5EF4-FFF2-40B4-BE49-F238E27FC236}">
                <a16:creationId xmlns:a16="http://schemas.microsoft.com/office/drawing/2014/main" id="{4982E093-9A84-4C1C-8437-A9E8C439B996}"/>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13">
            <a:extLst>
              <a:ext uri="{FF2B5EF4-FFF2-40B4-BE49-F238E27FC236}">
                <a16:creationId xmlns:a16="http://schemas.microsoft.com/office/drawing/2014/main" id="{C1CA0679-0186-4FE9-83AA-9EC417C1C474}"/>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P13</a:t>
            </a:r>
          </a:p>
        </p:txBody>
      </p:sp>
      <p:sp>
        <p:nvSpPr>
          <p:cNvPr id="6" name="editable-23">
            <a:extLst>
              <a:ext uri="{FF2B5EF4-FFF2-40B4-BE49-F238E27FC236}">
                <a16:creationId xmlns:a16="http://schemas.microsoft.com/office/drawing/2014/main" id="{91CF28C4-2DE8-4BE1-98AF-EBA0AD7E6729}"/>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23</a:t>
            </a:r>
          </a:p>
        </p:txBody>
      </p:sp>
    </p:spTree>
    <p:extLst>
      <p:ext uri="{BB962C8B-B14F-4D97-AF65-F5344CB8AC3E}">
        <p14:creationId xmlns:p14="http://schemas.microsoft.com/office/powerpoint/2010/main" val="1940686014"/>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סוכן לערכת הדרכה">
            <a:extLst>
              <a:ext uri="{FF2B5EF4-FFF2-40B4-BE49-F238E27FC236}">
                <a16:creationId xmlns:a16="http://schemas.microsoft.com/office/drawing/2014/main" id="{29F96C02-4171-40D0-B5A9-4DDC78EEE23C}"/>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סוכן לערכת הדרכה</a:t>
            </a:r>
          </a:p>
        </p:txBody>
      </p:sp>
      <p:pic>
        <p:nvPicPr>
          <p:cNvPr id="2" name="תמונה 1">
            <a:extLst>
              <a:ext uri="{FF2B5EF4-FFF2-40B4-BE49-F238E27FC236}">
                <a16:creationId xmlns:a16="http://schemas.microsoft.com/office/drawing/2014/main" id="{6FBCD7BA-CE6F-491F-9F2A-307A7657D656}"/>
              </a:ext>
            </a:extLst>
          </p:cNvPr>
          <p:cNvPicPr>
            <a:picLocks noChangeAspect="1"/>
          </p:cNvPicPr>
          <p:nvPr/>
        </p:nvPicPr>
        <p:blipFill>
          <a:blip r:embed="rId3"/>
          <a:stretch/>
        </p:blipFill>
        <p:spPr>
          <a:xfrm>
            <a:off x="881063" y="914400"/>
            <a:ext cx="2286000" cy="609600"/>
          </a:xfrm>
          <a:prstGeom prst="rect">
            <a:avLst/>
          </a:prstGeom>
        </p:spPr>
      </p:pic>
      <p:sp>
        <p:nvSpPr>
          <p:cNvPr id="3" name="editable-מתוך מסמכים א וב, הכן דף שאלות למטו">
            <a:extLst>
              <a:ext uri="{FF2B5EF4-FFF2-40B4-BE49-F238E27FC236}">
                <a16:creationId xmlns:a16="http://schemas.microsoft.com/office/drawing/2014/main" id="{0881BD31-BA36-4B1D-B37D-443024467001}"/>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מתוך מסמכים א וב, הכן דף שאלות למטופלים, רשימת בדיקות לרכזת וטיוטת הודעה. השתמש בפרטים המעודכנים וציין מקורות. בדוק עקביות בין שלושת התוצרים. השאר פרטים חסרים לבירור ועצור לפני פרסום.</a:t>
            </a:r>
          </a:p>
        </p:txBody>
      </p:sp>
      <p:sp>
        <p:nvSpPr>
          <p:cNvPr id="4" name="editable-הפרומפט המלא עם המקור מוכן להעתקה ב">
            <a:extLst>
              <a:ext uri="{FF2B5EF4-FFF2-40B4-BE49-F238E27FC236}">
                <a16:creationId xmlns:a16="http://schemas.microsoft.com/office/drawing/2014/main" id="{25139D51-FF10-4878-9032-CF7F4225497E}"/>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15">
            <a:extLst>
              <a:ext uri="{FF2B5EF4-FFF2-40B4-BE49-F238E27FC236}">
                <a16:creationId xmlns:a16="http://schemas.microsoft.com/office/drawing/2014/main" id="{87081E67-6C9A-4B02-89EF-C09EA8A6CC1E}"/>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P15</a:t>
            </a:r>
          </a:p>
        </p:txBody>
      </p:sp>
      <p:sp>
        <p:nvSpPr>
          <p:cNvPr id="6" name="editable-24">
            <a:extLst>
              <a:ext uri="{FF2B5EF4-FFF2-40B4-BE49-F238E27FC236}">
                <a16:creationId xmlns:a16="http://schemas.microsoft.com/office/drawing/2014/main" id="{8AA78B03-0082-49F3-9137-B41ED028CA48}"/>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24</a:t>
            </a:r>
          </a:p>
        </p:txBody>
      </p:sp>
    </p:spTree>
    <p:extLst>
      <p:ext uri="{BB962C8B-B14F-4D97-AF65-F5344CB8AC3E}">
        <p14:creationId xmlns:p14="http://schemas.microsoft.com/office/powerpoint/2010/main" val="1288955351"/>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rgbClr val="332746"/>
            </a:gs>
            <a:gs pos="100000">
              <a:srgbClr val="24253F"/>
            </a:gs>
          </a:gsLst>
          <a:lin ang="8400000"/>
        </a:gradFill>
        <a:effectLst/>
      </p:bgPr>
    </p:bg>
    <p:spTree>
      <p:nvGrpSpPr>
        <p:cNvPr id="1" name=""/>
        <p:cNvGrpSpPr/>
        <p:nvPr/>
      </p:nvGrpSpPr>
      <p:grpSpPr>
        <a:xfrm>
          <a:off x="0" y="0"/>
          <a:ext cx="0" cy="0"/>
          <a:chOff x="0" y="0"/>
          <a:chExt cx="0" cy="0"/>
        </a:xfrm>
      </p:grpSpPr>
      <p:sp>
        <p:nvSpPr>
          <p:cNvPr id="4" name="editable-אישור אדם">
            <a:extLst>
              <a:ext uri="{FF2B5EF4-FFF2-40B4-BE49-F238E27FC236}">
                <a16:creationId xmlns:a16="http://schemas.microsoft.com/office/drawing/2014/main" id="{46583D62-03C8-4E05-8619-205F7B1EAA1D}"/>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אישור אדם</a:t>
            </a:r>
          </a:p>
        </p:txBody>
      </p:sp>
      <p:sp>
        <p:nvSpPr>
          <p:cNvPr id="2" name="editable-הרשימה מוכנה&#10;השליחה מחכה">
            <a:extLst>
              <a:ext uri="{FF2B5EF4-FFF2-40B4-BE49-F238E27FC236}">
                <a16:creationId xmlns:a16="http://schemas.microsoft.com/office/drawing/2014/main" id="{7D8C03B8-1454-4060-B606-865B70A24259}"/>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3000" b="0">
                <a:solidFill>
                  <a:srgbClr val="F7F8FC"/>
                </a:solidFill>
                <a:latin typeface="Arial"/>
                <a:ea typeface="Arial"/>
                <a:cs typeface="Arial"/>
              </a:defRPr>
            </a:defPPr>
          </a:lstStyle>
          <a:p>
            <a:pPr algn="ctr" rtl="1">
              <a:defRPr sz="3000" b="0">
                <a:solidFill>
                  <a:srgbClr val="F7F8FC"/>
                </a:solidFill>
                <a:latin typeface="Arial"/>
                <a:ea typeface="Arial"/>
                <a:cs typeface="Arial"/>
              </a:defRPr>
            </a:pPr>
            <a:r>
              <a:rPr sz="3000" b="0">
                <a:solidFill>
                  <a:srgbClr val="F7F8FC"/>
                </a:solidFill>
                <a:latin typeface="Arial"/>
                <a:ea typeface="Arial"/>
                <a:cs typeface="Arial"/>
              </a:rPr>
              <a:t>הרשימה מוכנה</a:t>
            </a:r>
          </a:p>
          <a:p>
            <a:pPr algn="ctr" rtl="1">
              <a:defRPr sz="3000" b="0">
                <a:solidFill>
                  <a:srgbClr val="F7F8FC"/>
                </a:solidFill>
                <a:latin typeface="Arial"/>
                <a:ea typeface="Arial"/>
                <a:cs typeface="Arial"/>
              </a:defRPr>
            </a:pPr>
            <a:r>
              <a:rPr sz="3000" b="0">
                <a:solidFill>
                  <a:srgbClr val="F7F8FC"/>
                </a:solidFill>
                <a:latin typeface="Arial"/>
                <a:ea typeface="Arial"/>
                <a:cs typeface="Arial"/>
              </a:rPr>
              <a:t>השליחה מחכה</a:t>
            </a:r>
          </a:p>
        </p:txBody>
      </p:sp>
      <p:sp>
        <p:nvSpPr>
          <p:cNvPr id="3" name="editable-25">
            <a:extLst>
              <a:ext uri="{FF2B5EF4-FFF2-40B4-BE49-F238E27FC236}">
                <a16:creationId xmlns:a16="http://schemas.microsoft.com/office/drawing/2014/main" id="{F0296798-73FC-43D5-8483-1A527C5513A3}"/>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C4BDD5"/>
                </a:solidFill>
                <a:latin typeface="Arial"/>
                <a:ea typeface="Arial"/>
                <a:cs typeface="Arial"/>
              </a:defRPr>
            </a:defPPr>
          </a:lstStyle>
          <a:p>
            <a:pPr algn="r">
              <a:defRPr sz="1200" b="0">
                <a:solidFill>
                  <a:srgbClr val="C4BDD5"/>
                </a:solidFill>
                <a:latin typeface="Arial"/>
                <a:ea typeface="Arial"/>
                <a:cs typeface="Arial"/>
              </a:defRPr>
            </a:pPr>
            <a:r>
              <a:rPr sz="1200" b="0">
                <a:solidFill>
                  <a:srgbClr val="C4BDD5"/>
                </a:solidFill>
                <a:latin typeface="Arial"/>
                <a:ea typeface="Arial"/>
                <a:cs typeface="Arial"/>
              </a:rPr>
              <a:t>25</a:t>
            </a:r>
          </a:p>
        </p:txBody>
      </p:sp>
    </p:spTree>
    <p:extLst>
      <p:ext uri="{BB962C8B-B14F-4D97-AF65-F5344CB8AC3E}">
        <p14:creationId xmlns:p14="http://schemas.microsoft.com/office/powerpoint/2010/main" val="808298526"/>
      </p:ext>
    </p:extLst>
  </p:cSld>
  <p:clrMapOvr>
    <a:masterClrMapping/>
  </p:clrMapOvr>
  <mc:AlternateContent xmlns:mc="http://schemas.openxmlformats.org/markup-compatibility/2006" xmlns:p14="http://schemas.microsoft.com/office/powerpoint/2010/main">
    <mc:Choice Requires="p14">
      <p:transition p14:dur="35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6">
            <a:extLst>
              <a:ext uri="{FF2B5EF4-FFF2-40B4-BE49-F238E27FC236}">
                <a16:creationId xmlns:a16="http://schemas.microsoft.com/office/drawing/2014/main" id="{88971EB2-FD2D-48F9-A4FB-D2EB1B27C1B9}"/>
              </a:ext>
            </a:extLst>
          </p:cNvPr>
          <p:cNvSpPr>
            <a:spLocks noGrp="1"/>
          </p:cNvSpPr>
          <p:nvPr/>
        </p:nvSpPr>
        <p:spPr>
          <a:xfrm>
            <a:off x="666750" y="1666875"/>
            <a:ext cx="2667000" cy="2047875"/>
          </a:xfrm>
          <a:prstGeom prst="rect">
            <a:avLst/>
          </a:prstGeom>
          <a:noFill/>
          <a:ln w="0">
            <a:noFill/>
          </a:ln>
        </p:spPr>
        <p: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6</a:t>
            </a:r>
          </a:p>
        </p:txBody>
      </p:sp>
      <p:sp>
        <p:nvSpPr>
          <p:cNvPr id="2" name="editable-דקות">
            <a:extLst>
              <a:ext uri="{FF2B5EF4-FFF2-40B4-BE49-F238E27FC236}">
                <a16:creationId xmlns:a16="http://schemas.microsoft.com/office/drawing/2014/main" id="{40E90DAC-AE1D-4B71-864B-595AABEE7940}"/>
              </a:ext>
            </a:extLst>
          </p:cNvPr>
          <p:cNvSpPr>
            <a:spLocks noGrp="1"/>
          </p:cNvSpPr>
          <p:nvPr/>
        </p:nvSpPr>
        <p:spPr>
          <a:xfrm>
            <a:off x="952500" y="3714750"/>
            <a:ext cx="2095500" cy="619125"/>
          </a:xfrm>
          <a:prstGeom prst="rect">
            <a:avLst/>
          </a:prstGeom>
          <a:noFill/>
          <a:ln w="0">
            <a:noFill/>
          </a:ln>
        </p:spPr>
        <p: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p:txBody>
      </p:sp>
      <p:sp>
        <p:nvSpPr>
          <p:cNvPr id="3" name="editable-תרגיל 4&#10;חבילת היערכות קטנה">
            <a:extLst>
              <a:ext uri="{FF2B5EF4-FFF2-40B4-BE49-F238E27FC236}">
                <a16:creationId xmlns:a16="http://schemas.microsoft.com/office/drawing/2014/main" id="{46D28D34-A503-4A3B-9C1A-D7719B740338}"/>
              </a:ext>
            </a:extLst>
          </p:cNvPr>
          <p:cNvSpPr>
            <a:spLocks noGrp="1"/>
          </p:cNvSpPr>
          <p:nvPr/>
        </p:nvSpPr>
        <p:spPr>
          <a:xfrm>
            <a:off x="4191000" y="1000125"/>
            <a:ext cx="7048500" cy="1809750"/>
          </a:xfrm>
          <a:prstGeom prst="rect">
            <a:avLst/>
          </a:prstGeom>
          <a:noFill/>
          <a:ln w="0">
            <a:noFill/>
          </a:ln>
        </p:spPr>
        <p: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4</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חבילת היערכות קטנה</a:t>
            </a:r>
          </a:p>
        </p:txBody>
      </p:sp>
      <p:sp>
        <p:nvSpPr>
          <p:cNvPr id="4" name="editable-בחרו משימה אחת&#10;בדקו שלושה תוצרים&#10;שפ">
            <a:extLst>
              <a:ext uri="{FF2B5EF4-FFF2-40B4-BE49-F238E27FC236}">
                <a16:creationId xmlns:a16="http://schemas.microsoft.com/office/drawing/2014/main" id="{1FEBD08A-F8A7-42DC-A317-24A219F229C0}"/>
              </a:ext>
            </a:extLst>
          </p:cNvPr>
          <p:cNvSpPr>
            <a:spLocks noGrp="1"/>
          </p:cNvSpPr>
          <p:nvPr/>
        </p:nvSpPr>
        <p:spPr>
          <a:xfrm>
            <a:off x="4191000" y="3162300"/>
            <a:ext cx="7048500" cy="21336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בחרו משימה אחת</a:t>
            </a:r>
          </a:p>
          <a:p>
            <a:pPr algn="r" rtl="1">
              <a:defRPr sz="2850" b="0">
                <a:solidFill>
                  <a:srgbClr val="7A59BC"/>
                </a:solidFill>
                <a:latin typeface="Arial"/>
                <a:ea typeface="Arial"/>
                <a:cs typeface="Arial"/>
              </a:defRPr>
            </a:pPr>
            <a:r>
              <a:rPr sz="2850" b="0">
                <a:solidFill>
                  <a:srgbClr val="7A59BC"/>
                </a:solidFill>
                <a:latin typeface="Arial"/>
                <a:ea typeface="Arial"/>
                <a:cs typeface="Arial"/>
              </a:rPr>
              <a:t>בדקו שלושה תוצרים</a:t>
            </a:r>
          </a:p>
          <a:p>
            <a:pPr algn="r" rtl="1">
              <a:defRPr sz="2850" b="0">
                <a:solidFill>
                  <a:srgbClr val="7A59BC"/>
                </a:solidFill>
                <a:latin typeface="Arial"/>
                <a:ea typeface="Arial"/>
                <a:cs typeface="Arial"/>
              </a:defRPr>
            </a:pPr>
            <a:r>
              <a:rPr sz="2850" b="0">
                <a:solidFill>
                  <a:srgbClr val="7A59BC"/>
                </a:solidFill>
                <a:latin typeface="Arial"/>
                <a:ea typeface="Arial"/>
                <a:cs typeface="Arial"/>
              </a:rPr>
              <a:t>שפרו לפני אישור</a:t>
            </a:r>
          </a:p>
        </p:txBody>
      </p:sp>
      <p:sp>
        <p:nvSpPr>
          <p:cNvPr id="5" name="editable-הפרומפט המלא בדף התרגול">
            <a:extLst>
              <a:ext uri="{FF2B5EF4-FFF2-40B4-BE49-F238E27FC236}">
                <a16:creationId xmlns:a16="http://schemas.microsoft.com/office/drawing/2014/main" id="{CD56344D-6B08-4F45-A036-8EE5B829FAB2}"/>
              </a:ext>
            </a:extLst>
          </p:cNvPr>
          <p:cNvSpPr>
            <a:spLocks noGrp="1"/>
          </p:cNvSpPr>
          <p:nvPr/>
        </p:nvSpPr>
        <p:spPr>
          <a:xfrm>
            <a:off x="4191000" y="5791200"/>
            <a:ext cx="7048500" cy="4191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p:txBody>
      </p:sp>
      <p:sp>
        <p:nvSpPr>
          <p:cNvPr id="6" name="editable-P13 / P15">
            <a:extLst>
              <a:ext uri="{FF2B5EF4-FFF2-40B4-BE49-F238E27FC236}">
                <a16:creationId xmlns:a16="http://schemas.microsoft.com/office/drawing/2014/main" id="{902E2DD6-96F0-491E-B5A9-1DAB05864DE9}"/>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P13 / P15</a:t>
            </a:r>
          </a:p>
        </p:txBody>
      </p:sp>
      <p:sp>
        <p:nvSpPr>
          <p:cNvPr id="7" name="editable-26">
            <a:extLst>
              <a:ext uri="{FF2B5EF4-FFF2-40B4-BE49-F238E27FC236}">
                <a16:creationId xmlns:a16="http://schemas.microsoft.com/office/drawing/2014/main" id="{87653B59-088E-40EF-97BA-3150D210A8FE}"/>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26</a:t>
            </a:r>
          </a:p>
        </p:txBody>
      </p:sp>
    </p:spTree>
    <p:extLst>
      <p:ext uri="{BB962C8B-B14F-4D97-AF65-F5344CB8AC3E}">
        <p14:creationId xmlns:p14="http://schemas.microsoft.com/office/powerpoint/2010/main" val="2086143488"/>
      </p:ext>
    </p:extLst>
  </p:cSld>
  <p:clrMapOvr>
    <a:masterClrMapping/>
  </p:clrMapOvr>
  <mc:AlternateContent xmlns:mc="http://schemas.openxmlformats.org/markup-compatibility/2006" xmlns:p14="http://schemas.microsoft.com/office/powerpoint/2010/main">
    <mc:Choice Requires="p14">
      <p:transition p14:dur="35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0">
              <a:srgbClr val="18243D"/>
            </a:gs>
            <a:gs pos="100000">
              <a:srgbClr val="292940"/>
            </a:gs>
          </a:gsLst>
          <a:lin ang="8400000"/>
        </a:gradFill>
        <a:effectLst/>
      </p:bgPr>
    </p:bg>
    <p:spTree>
      <p:nvGrpSpPr>
        <p:cNvPr id="1" name=""/>
        <p:cNvGrpSpPr/>
        <p:nvPr/>
      </p:nvGrpSpPr>
      <p:grpSpPr>
        <a:xfrm>
          <a:off x="0" y="0"/>
          <a:ext cx="0" cy="0"/>
          <a:chOff x="0" y="0"/>
          <a:chExt cx="0" cy="0"/>
        </a:xfrm>
      </p:grpSpPr>
      <p:sp>
        <p:nvSpPr>
          <p:cNvPr id="4" name="editable-מעבר לחלון הצ׳אט">
            <a:extLst>
              <a:ext uri="{FF2B5EF4-FFF2-40B4-BE49-F238E27FC236}">
                <a16:creationId xmlns:a16="http://schemas.microsoft.com/office/drawing/2014/main" id="{28914631-76BB-4D34-9AEC-1E13BA75044C}"/>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מעבר לחלון הצ׳אט</a:t>
            </a:r>
          </a:p>
        </p:txBody>
      </p:sp>
      <p:sp>
        <p:nvSpPr>
          <p:cNvPr id="2" name="editable-שלוש הצצות מההרצאה המקורית">
            <a:extLst>
              <a:ext uri="{FF2B5EF4-FFF2-40B4-BE49-F238E27FC236}">
                <a16:creationId xmlns:a16="http://schemas.microsoft.com/office/drawing/2014/main" id="{EBADFEA8-7519-4E14-B137-13D022496671}"/>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3000" b="0">
                <a:solidFill>
                  <a:srgbClr val="F7F8FC"/>
                </a:solidFill>
                <a:latin typeface="Arial"/>
                <a:ea typeface="Arial"/>
                <a:cs typeface="Arial"/>
              </a:defRPr>
            </a:defPPr>
          </a:lstStyle>
          <a:p>
            <a:pPr algn="ctr" rtl="1">
              <a:defRPr sz="3000" b="0">
                <a:solidFill>
                  <a:srgbClr val="F7F8FC"/>
                </a:solidFill>
                <a:latin typeface="Arial"/>
                <a:ea typeface="Arial"/>
                <a:cs typeface="Arial"/>
              </a:defRPr>
            </a:pPr>
            <a:r>
              <a:rPr sz="3000" b="0">
                <a:solidFill>
                  <a:srgbClr val="F7F8FC"/>
                </a:solidFill>
                <a:latin typeface="Arial"/>
                <a:ea typeface="Arial"/>
                <a:cs typeface="Arial"/>
              </a:rPr>
              <a:t>שלוש הצצות מההרצאה המקורית</a:t>
            </a:r>
          </a:p>
        </p:txBody>
      </p:sp>
      <p:sp>
        <p:nvSpPr>
          <p:cNvPr id="3" name="editable-27">
            <a:extLst>
              <a:ext uri="{FF2B5EF4-FFF2-40B4-BE49-F238E27FC236}">
                <a16:creationId xmlns:a16="http://schemas.microsoft.com/office/drawing/2014/main" id="{52393679-AC9B-4048-8AF5-8F669BD6EB42}"/>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6D9"/>
                </a:solidFill>
                <a:latin typeface="Arial"/>
                <a:ea typeface="Arial"/>
                <a:cs typeface="Arial"/>
              </a:defRPr>
            </a:defPPr>
          </a:lstStyle>
          <a:p>
            <a:pPr algn="r">
              <a:defRPr sz="1200" b="0">
                <a:solidFill>
                  <a:srgbClr val="B9C6D9"/>
                </a:solidFill>
                <a:latin typeface="Arial"/>
                <a:ea typeface="Arial"/>
                <a:cs typeface="Arial"/>
              </a:defRPr>
            </a:pPr>
            <a:r>
              <a:rPr sz="1200" b="0">
                <a:solidFill>
                  <a:srgbClr val="B9C6D9"/>
                </a:solidFill>
                <a:latin typeface="Arial"/>
                <a:ea typeface="Arial"/>
                <a:cs typeface="Arial"/>
              </a:rPr>
              <a:t>27</a:t>
            </a:r>
          </a:p>
        </p:txBody>
      </p:sp>
    </p:spTree>
    <p:extLst>
      <p:ext uri="{BB962C8B-B14F-4D97-AF65-F5344CB8AC3E}">
        <p14:creationId xmlns:p14="http://schemas.microsoft.com/office/powerpoint/2010/main" val="1187226900"/>
      </p:ext>
    </p:extLst>
  </p:cSld>
  <p:clrMapOvr>
    <a:masterClrMapping/>
  </p:clrMapOvr>
  <mc:AlternateContent xmlns:mc="http://schemas.openxmlformats.org/markup-compatibility/2006" xmlns:p14="http://schemas.microsoft.com/office/powerpoint/2010/main">
    <mc:Choice Requires="p14">
      <p:transition p14:dur="35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5" name="editable-חיזוי מבני חלבונים">
            <a:extLst>
              <a:ext uri="{FF2B5EF4-FFF2-40B4-BE49-F238E27FC236}">
                <a16:creationId xmlns:a16="http://schemas.microsoft.com/office/drawing/2014/main" id="{D16ECDAD-D42A-46C5-B6F1-4928B11FFDC5}"/>
              </a:ext>
            </a:extLst>
          </p:cNvPr>
          <p:cNvSpPr>
            <a:spLocks noGrp="1"/>
          </p:cNvSpPr>
          <p:nvPr/>
        </p:nvSpPr>
        <p:spPr>
          <a:xfrm>
            <a:off x="857250" y="333375"/>
            <a:ext cx="10477500" cy="904875"/>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חיזוי מבני חלבונים</a:t>
            </a:r>
          </a:p>
        </p:txBody>
      </p:sp>
      <p:sp>
        <p:nvSpPr>
          <p:cNvPr id="2" name="editable-פרס נובל בכימיה 2024">
            <a:extLst>
              <a:ext uri="{FF2B5EF4-FFF2-40B4-BE49-F238E27FC236}">
                <a16:creationId xmlns:a16="http://schemas.microsoft.com/office/drawing/2014/main" id="{9796A183-6205-45DE-8E91-BC1EAD3CC628}"/>
              </a:ext>
            </a:extLst>
          </p:cNvPr>
          <p:cNvSpPr>
            <a:spLocks noGrp="1"/>
          </p:cNvSpPr>
          <p:nvPr/>
        </p:nvSpPr>
        <p:spPr>
          <a:xfrm>
            <a:off x="857250" y="1304925"/>
            <a:ext cx="10477500" cy="428625"/>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פרס נובל בכימיה 2024</a:t>
            </a:r>
          </a:p>
        </p:txBody>
      </p:sp>
      <p:pic>
        <p:nvPicPr>
          <p:cNvPr id="3" name="תמונה 2">
            <a:extLst>
              <a:ext uri="{FF2B5EF4-FFF2-40B4-BE49-F238E27FC236}">
                <a16:creationId xmlns:a16="http://schemas.microsoft.com/office/drawing/2014/main" id="{69DB47A8-08B7-4E36-A99E-A1121547D118}"/>
              </a:ext>
            </a:extLst>
          </p:cNvPr>
          <p:cNvPicPr>
            <a:picLocks noChangeAspect="1"/>
          </p:cNvPicPr>
          <p:nvPr/>
        </p:nvPicPr>
        <p:blipFill>
          <a:blip r:embed="rId3"/>
          <a:stretch/>
        </p:blipFill>
        <p:spPr>
          <a:xfrm>
            <a:off x="2156448" y="1866900"/>
            <a:ext cx="7879104" cy="4248150"/>
          </a:xfrm>
          <a:prstGeom prst="rect">
            <a:avLst/>
          </a:prstGeom>
        </p:spPr>
      </p:pic>
      <p:sp>
        <p:nvSpPr>
          <p:cNvPr id="4" name="editable-28">
            <a:extLst>
              <a:ext uri="{FF2B5EF4-FFF2-40B4-BE49-F238E27FC236}">
                <a16:creationId xmlns:a16="http://schemas.microsoft.com/office/drawing/2014/main" id="{71718347-FB02-400B-B038-67C9E61ECE40}"/>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28</a:t>
            </a:r>
          </a:p>
        </p:txBody>
      </p:sp>
    </p:spTree>
    <p:extLst>
      <p:ext uri="{BB962C8B-B14F-4D97-AF65-F5344CB8AC3E}">
        <p14:creationId xmlns:p14="http://schemas.microsoft.com/office/powerpoint/2010/main" val="200671330"/>
      </p:ext>
    </p:extLst>
  </p:cSld>
  <p:clrMapOvr>
    <a:masterClrMapping/>
  </p:clrMapOvr>
  <mc:AlternateContent xmlns:mc="http://schemas.openxmlformats.org/markup-compatibility/2006" xmlns:p14="http://schemas.microsoft.com/office/powerpoint/2010/main">
    <mc:Choice Requires="p14">
      <p:transition p14:dur="35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מהמסך לעולם הפיזי">
            <a:extLst>
              <a:ext uri="{FF2B5EF4-FFF2-40B4-BE49-F238E27FC236}">
                <a16:creationId xmlns:a16="http://schemas.microsoft.com/office/drawing/2014/main" id="{AFFA08C0-1A6C-44F4-A21D-D43CB13ECF7E}"/>
              </a:ext>
            </a:extLst>
          </p:cNvPr>
          <p:cNvSpPr>
            <a:spLocks noGrp="1"/>
          </p:cNvSpPr>
          <p:nvPr/>
        </p:nvSpPr>
        <p:spPr>
          <a:xfrm>
            <a:off x="857250" y="333375"/>
            <a:ext cx="10477500" cy="904875"/>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מהמסך לעולם הפיזי</a:t>
            </a:r>
          </a:p>
        </p:txBody>
      </p:sp>
      <p:sp>
        <p:nvSpPr>
          <p:cNvPr id="2" name="editable-הדגמת חברה · Figure 03">
            <a:extLst>
              <a:ext uri="{FF2B5EF4-FFF2-40B4-BE49-F238E27FC236}">
                <a16:creationId xmlns:a16="http://schemas.microsoft.com/office/drawing/2014/main" id="{E70029B5-BDCD-4F7D-BD85-9657985A355A}"/>
              </a:ext>
            </a:extLst>
          </p:cNvPr>
          <p:cNvSpPr>
            <a:spLocks noGrp="1"/>
          </p:cNvSpPr>
          <p:nvPr/>
        </p:nvSpPr>
        <p:spPr>
          <a:xfrm>
            <a:off x="857250" y="1304925"/>
            <a:ext cx="10477500" cy="428625"/>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lang="he-IL" sz="1800" b="0">
                <a:solidFill>
                  <a:srgbClr val="5D647C"/>
                </a:solidFill>
                <a:latin typeface="Arial"/>
                <a:ea typeface="Arial"/>
                <a:cs typeface="Arial"/>
              </a:rPr>
              <a:t>הדגמת חברה בסביבה ביתית</a:t>
            </a:r>
            <a:endParaRPr sz="1800" b="0">
              <a:solidFill>
                <a:srgbClr val="5D647C"/>
              </a:solidFill>
              <a:latin typeface="Arial"/>
              <a:ea typeface="Arial"/>
              <a:cs typeface="Arial"/>
            </a:endParaRPr>
          </a:p>
        </p:txBody>
      </p:sp>
      <p:pic>
        <p:nvPicPr>
          <p:cNvPr id="3" name="תמונה 2">
            <a:extLst>
              <a:ext uri="{FF2B5EF4-FFF2-40B4-BE49-F238E27FC236}">
                <a16:creationId xmlns:a16="http://schemas.microsoft.com/office/drawing/2014/main" id="{D638AFAD-DA29-4E67-9FEE-4493B3B9A272}"/>
              </a:ext>
            </a:extLst>
          </p:cNvPr>
          <p:cNvPicPr>
            <a:picLocks noChangeAspect="1"/>
          </p:cNvPicPr>
          <p:nvPr/>
        </p:nvPicPr>
        <p:blipFill>
          <a:blip r:embed="rId3"/>
          <a:stretch/>
        </p:blipFill>
        <p:spPr>
          <a:xfrm>
            <a:off x="2095500" y="1866900"/>
            <a:ext cx="8001000" cy="4500563"/>
          </a:xfrm>
          <a:prstGeom prst="rect">
            <a:avLst/>
          </a:prstGeom>
        </p:spPr>
      </p:pic>
      <p:sp>
        <p:nvSpPr>
          <p:cNvPr id="4" name="editable-הפעלת הסרטון">
            <a:extLst>
              <a:ext uri="{FF2B5EF4-FFF2-40B4-BE49-F238E27FC236}">
                <a16:creationId xmlns:a16="http://schemas.microsoft.com/office/drawing/2014/main" id="{A9499B7C-496B-4147-9C13-CAA369C374DD}"/>
              </a:ext>
            </a:extLst>
          </p:cNvPr>
          <p:cNvSpPr>
            <a:spLocks noGrp="1"/>
          </p:cNvSpPr>
          <p:nvPr/>
        </p:nvSpPr>
        <p:spPr>
          <a:xfrm>
            <a:off x="857250" y="6438900"/>
            <a:ext cx="2476500" cy="304800"/>
          </a:xfrm>
          <a:prstGeom prst="rect">
            <a:avLst/>
          </a:prstGeom>
          <a:noFill/>
          <a:ln w="0">
            <a:noFill/>
          </a:ln>
        </p:spPr>
        <p:txBody>
          <a:bodyPr lIns="0" tIns="0" rIns="0" bIns="0" anchor="ctr">
            <a:noAutofit/>
          </a:bodyPr>
          <a:lstStyle>
            <a:defPPr algn="r">
              <a:defRPr sz="1800" b="0">
                <a:solidFill>
                  <a:srgbClr val="4378AB"/>
                </a:solidFill>
                <a:latin typeface="Arial"/>
                <a:ea typeface="Arial"/>
                <a:cs typeface="Arial"/>
              </a:defRPr>
            </a:defPPr>
          </a:lstStyle>
          <a:p>
            <a:pPr algn="r" rtl="1">
              <a:defRPr sz="1800" b="0">
                <a:solidFill>
                  <a:srgbClr val="4378AB"/>
                </a:solidFill>
                <a:latin typeface="Arial"/>
                <a:ea typeface="Arial"/>
                <a:cs typeface="Arial"/>
              </a:defRPr>
            </a:pPr>
            <a:r>
              <a:rPr sz="1800" b="0">
                <a:solidFill>
                  <a:srgbClr val="4378AB"/>
                </a:solidFill>
                <a:latin typeface="Arial"/>
                <a:ea typeface="Arial"/>
                <a:cs typeface="Arial"/>
                <a:hlinkClick r:id="rId4"/>
              </a:rPr>
              <a:t>הפעלת הסרטון</a:t>
            </a:r>
          </a:p>
        </p:txBody>
      </p:sp>
      <p:sp>
        <p:nvSpPr>
          <p:cNvPr id="5" name="editable-29">
            <a:extLst>
              <a:ext uri="{FF2B5EF4-FFF2-40B4-BE49-F238E27FC236}">
                <a16:creationId xmlns:a16="http://schemas.microsoft.com/office/drawing/2014/main" id="{A6B75E33-479F-46DB-BE8D-59EE59B0ECBE}"/>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29</a:t>
            </a:r>
          </a:p>
        </p:txBody>
      </p:sp>
    </p:spTree>
    <p:extLst>
      <p:ext uri="{BB962C8B-B14F-4D97-AF65-F5344CB8AC3E}">
        <p14:creationId xmlns:p14="http://schemas.microsoft.com/office/powerpoint/2010/main" val="1331047172"/>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5" name="editable-איך הייתם בודקים?">
            <a:extLst>
              <a:ext uri="{FF2B5EF4-FFF2-40B4-BE49-F238E27FC236}">
                <a16:creationId xmlns:a16="http://schemas.microsoft.com/office/drawing/2014/main" id="{86026ACE-4E1C-4F49-BEC5-EC2163449996}"/>
              </a:ext>
            </a:extLst>
          </p:cNvPr>
          <p:cNvSpPr>
            <a:spLocks noGrp="1"/>
          </p:cNvSpPr>
          <p:nvPr/>
        </p:nvSpPr>
        <p:spPr>
          <a:xfrm>
            <a:off x="857250" y="333375"/>
            <a:ext cx="10477500" cy="904875"/>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איך הייתם בודקים?</a:t>
            </a:r>
          </a:p>
        </p:txBody>
      </p:sp>
      <p:sp>
        <p:nvSpPr>
          <p:cNvPr id="2" name="editable-גם תמונה משכנעת דורשת בדיקה">
            <a:extLst>
              <a:ext uri="{FF2B5EF4-FFF2-40B4-BE49-F238E27FC236}">
                <a16:creationId xmlns:a16="http://schemas.microsoft.com/office/drawing/2014/main" id="{31FB4C5C-B6E2-401E-A2A4-8A85EC712607}"/>
              </a:ext>
            </a:extLst>
          </p:cNvPr>
          <p:cNvSpPr>
            <a:spLocks noGrp="1"/>
          </p:cNvSpPr>
          <p:nvPr/>
        </p:nvSpPr>
        <p:spPr>
          <a:xfrm>
            <a:off x="857250" y="1304925"/>
            <a:ext cx="10477500" cy="428625"/>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גם תמונה משכנעת דורשת בדיקה</a:t>
            </a:r>
          </a:p>
        </p:txBody>
      </p:sp>
      <p:pic>
        <p:nvPicPr>
          <p:cNvPr id="3" name="תמונה 2">
            <a:extLst>
              <a:ext uri="{FF2B5EF4-FFF2-40B4-BE49-F238E27FC236}">
                <a16:creationId xmlns:a16="http://schemas.microsoft.com/office/drawing/2014/main" id="{563450F0-3B20-4F79-A197-BFDFCB57C47C}"/>
              </a:ext>
            </a:extLst>
          </p:cNvPr>
          <p:cNvPicPr>
            <a:picLocks noChangeAspect="1"/>
          </p:cNvPicPr>
          <p:nvPr/>
        </p:nvPicPr>
        <p:blipFill>
          <a:blip r:embed="rId3"/>
          <a:stretch/>
        </p:blipFill>
        <p:spPr>
          <a:xfrm>
            <a:off x="3263900" y="1866900"/>
            <a:ext cx="5664200" cy="4248150"/>
          </a:xfrm>
          <a:prstGeom prst="rect">
            <a:avLst/>
          </a:prstGeom>
        </p:spPr>
      </p:pic>
      <p:sp>
        <p:nvSpPr>
          <p:cNvPr id="4" name="editable-30">
            <a:extLst>
              <a:ext uri="{FF2B5EF4-FFF2-40B4-BE49-F238E27FC236}">
                <a16:creationId xmlns:a16="http://schemas.microsoft.com/office/drawing/2014/main" id="{BA200897-A605-4BDB-8EBB-C02F9D38B4D9}"/>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30</a:t>
            </a:r>
          </a:p>
        </p:txBody>
      </p:sp>
    </p:spTree>
    <p:extLst>
      <p:ext uri="{BB962C8B-B14F-4D97-AF65-F5344CB8AC3E}">
        <p14:creationId xmlns:p14="http://schemas.microsoft.com/office/powerpoint/2010/main" val="1061180407"/>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4" name="editable-משימה אחת&#10;עד המפגש הבא">
            <a:extLst>
              <a:ext uri="{FF2B5EF4-FFF2-40B4-BE49-F238E27FC236}">
                <a16:creationId xmlns:a16="http://schemas.microsoft.com/office/drawing/2014/main" id="{6A531015-F138-4ED5-BED2-40CD155BADC7}"/>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4378AB"/>
                    </a:gs>
                    <a:gs pos="100000">
                      <a:srgbClr val="7A59BC"/>
                    </a:gs>
                  </a:gsLst>
                  <a:lin ang="0"/>
                </a:gradFill>
                <a:latin typeface="Arial"/>
                <a:ea typeface="Arial"/>
                <a:cs typeface="Arial"/>
              </a:defRPr>
            </a:defPPr>
          </a:lstStyle>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משימה אחת</a:t>
            </a:r>
          </a:p>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עד המפגש הבא</a:t>
            </a:r>
          </a:p>
        </p:txBody>
      </p:sp>
      <p:sp>
        <p:nvSpPr>
          <p:cNvPr id="2" name="editable-מקור אחד שבדקתם&#10;תוצר אחד ששיפרתם">
            <a:extLst>
              <a:ext uri="{FF2B5EF4-FFF2-40B4-BE49-F238E27FC236}">
                <a16:creationId xmlns:a16="http://schemas.microsoft.com/office/drawing/2014/main" id="{21206623-5A47-4A83-812C-A743FFCF5B6D}"/>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3000" b="0">
                <a:solidFill>
                  <a:srgbClr val="191B2B"/>
                </a:solidFill>
                <a:latin typeface="Arial"/>
                <a:ea typeface="Arial"/>
                <a:cs typeface="Arial"/>
              </a:defRPr>
            </a:defPPr>
          </a:lstStyle>
          <a:p>
            <a:pPr algn="ctr" rtl="1">
              <a:defRPr sz="3000" b="0">
                <a:solidFill>
                  <a:srgbClr val="191B2B"/>
                </a:solidFill>
                <a:latin typeface="Arial"/>
                <a:ea typeface="Arial"/>
                <a:cs typeface="Arial"/>
              </a:defRPr>
            </a:pPr>
            <a:r>
              <a:rPr sz="3000" b="0">
                <a:solidFill>
                  <a:srgbClr val="191B2B"/>
                </a:solidFill>
                <a:latin typeface="Arial"/>
                <a:ea typeface="Arial"/>
                <a:cs typeface="Arial"/>
              </a:rPr>
              <a:t>מקור אחד שבדקתם</a:t>
            </a:r>
          </a:p>
          <a:p>
            <a:pPr algn="ctr" rtl="1">
              <a:defRPr sz="3000" b="0">
                <a:solidFill>
                  <a:srgbClr val="191B2B"/>
                </a:solidFill>
                <a:latin typeface="Arial"/>
                <a:ea typeface="Arial"/>
                <a:cs typeface="Arial"/>
              </a:defRPr>
            </a:pPr>
            <a:r>
              <a:rPr sz="3000" b="0">
                <a:solidFill>
                  <a:srgbClr val="191B2B"/>
                </a:solidFill>
                <a:latin typeface="Arial"/>
                <a:ea typeface="Arial"/>
                <a:cs typeface="Arial"/>
              </a:rPr>
              <a:t>תוצר אחד ששיפרתם</a:t>
            </a:r>
          </a:p>
        </p:txBody>
      </p:sp>
      <p:sp>
        <p:nvSpPr>
          <p:cNvPr id="3" name="editable-31">
            <a:extLst>
              <a:ext uri="{FF2B5EF4-FFF2-40B4-BE49-F238E27FC236}">
                <a16:creationId xmlns:a16="http://schemas.microsoft.com/office/drawing/2014/main" id="{936D6DFE-5B25-43FA-819A-243EE7129347}"/>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31</a:t>
            </a:r>
          </a:p>
        </p:txBody>
      </p:sp>
    </p:spTree>
    <p:extLst>
      <p:ext uri="{BB962C8B-B14F-4D97-AF65-F5344CB8AC3E}">
        <p14:creationId xmlns:p14="http://schemas.microsoft.com/office/powerpoint/2010/main" val="1455433036"/>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pic>
        <p:nvPicPr>
          <p:cNvPr id="7" name="תמונה 6">
            <a:extLst>
              <a:ext uri="{FF2B5EF4-FFF2-40B4-BE49-F238E27FC236}">
                <a16:creationId xmlns:a16="http://schemas.microsoft.com/office/drawing/2014/main" id="{161C3B67-6449-4008-A51A-0844582A0FA9}"/>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editable-במפגש הבא">
            <a:extLst>
              <a:ext uri="{FF2B5EF4-FFF2-40B4-BE49-F238E27FC236}">
                <a16:creationId xmlns:a16="http://schemas.microsoft.com/office/drawing/2014/main" id="{C46BAEA3-4166-4A07-A7C0-FFD837B18661}"/>
              </a:ext>
            </a:extLst>
          </p:cNvPr>
          <p:cNvSpPr>
            <a:spLocks noGrp="1"/>
          </p:cNvSpPr>
          <p:nvPr/>
        </p:nvSpPr>
        <p:spPr>
          <a:xfrm>
            <a:off x="5429250" y="1238250"/>
            <a:ext cx="5905500" cy="1285875"/>
          </a:xfrm>
          <a:prstGeom prst="rect">
            <a:avLst/>
          </a:prstGeom>
          <a:noFill/>
          <a:ln w="0">
            <a:noFill/>
          </a:ln>
        </p:spPr>
        <p:txBody>
          <a:bodyPr lIns="0" tIns="0" rIns="0" bIns="0" anchor="ctr">
            <a:noAutofit/>
          </a:bodyPr>
          <a:lstStyle>
            <a:defPPr algn="r">
              <a:defRPr sz="4500" b="1">
                <a:solidFill>
                  <a:srgbClr val="191B2B"/>
                </a:solidFill>
                <a:latin typeface="Arial"/>
                <a:ea typeface="Arial"/>
                <a:cs typeface="Arial"/>
              </a:defRPr>
            </a:defPPr>
          </a:lstStyle>
          <a:p>
            <a:pPr algn="r" rtl="1">
              <a:defRPr sz="4500" b="1">
                <a:solidFill>
                  <a:srgbClr val="191B2B"/>
                </a:solidFill>
                <a:latin typeface="Arial"/>
                <a:ea typeface="Arial"/>
                <a:cs typeface="Arial"/>
              </a:defRPr>
            </a:pPr>
            <a:r>
              <a:rPr sz="4500" b="1">
                <a:solidFill>
                  <a:srgbClr val="191B2B"/>
                </a:solidFill>
                <a:latin typeface="Arial"/>
                <a:ea typeface="Arial"/>
                <a:cs typeface="Arial"/>
              </a:rPr>
              <a:t>במפגש הבא</a:t>
            </a:r>
          </a:p>
        </p:txBody>
      </p:sp>
      <p:sp>
        <p:nvSpPr>
          <p:cNvPr id="3" name="editable-נתונים ועוזר אישי&#10;לעבודה שלכם">
            <a:extLst>
              <a:ext uri="{FF2B5EF4-FFF2-40B4-BE49-F238E27FC236}">
                <a16:creationId xmlns:a16="http://schemas.microsoft.com/office/drawing/2014/main" id="{3FAEFB38-301B-4E49-833E-8BA1C91F023D}"/>
              </a:ext>
            </a:extLst>
          </p:cNvPr>
          <p:cNvSpPr>
            <a:spLocks noGrp="1"/>
          </p:cNvSpPr>
          <p:nvPr/>
        </p:nvSpPr>
        <p:spPr>
          <a:xfrm>
            <a:off x="5429250" y="3048000"/>
            <a:ext cx="5905500" cy="13335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נתונים ועוזר אישי</a:t>
            </a:r>
          </a:p>
          <a:p>
            <a:pPr algn="r" rtl="1">
              <a:defRPr sz="3000" b="0">
                <a:solidFill>
                  <a:srgbClr val="7A59BC"/>
                </a:solidFill>
                <a:latin typeface="Arial"/>
                <a:ea typeface="Arial"/>
                <a:cs typeface="Arial"/>
              </a:defRPr>
            </a:pPr>
            <a:r>
              <a:rPr sz="3000" b="0">
                <a:solidFill>
                  <a:srgbClr val="7A59BC"/>
                </a:solidFill>
                <a:latin typeface="Arial"/>
                <a:ea typeface="Arial"/>
                <a:cs typeface="Arial"/>
              </a:rPr>
              <a:t>לעבודה שלכם</a:t>
            </a:r>
          </a:p>
        </p:txBody>
      </p:sp>
      <p:sp>
        <p:nvSpPr>
          <p:cNvPr id="4" name="editable-cfir94@gmail.com">
            <a:extLst>
              <a:ext uri="{FF2B5EF4-FFF2-40B4-BE49-F238E27FC236}">
                <a16:creationId xmlns:a16="http://schemas.microsoft.com/office/drawing/2014/main" id="{B1F38D0C-A027-4AD5-98B9-6815DC60682B}"/>
              </a:ext>
            </a:extLst>
          </p:cNvPr>
          <p:cNvSpPr>
            <a:spLocks noGrp="1"/>
          </p:cNvSpPr>
          <p:nvPr/>
        </p:nvSpPr>
        <p:spPr>
          <a:xfrm>
            <a:off x="5429250" y="5067300"/>
            <a:ext cx="5905500" cy="647700"/>
          </a:xfrm>
          <a:prstGeom prst="rect">
            <a:avLst/>
          </a:prstGeom>
          <a:noFill/>
          <a:ln w="0">
            <a:noFill/>
          </a:ln>
        </p:spPr>
        <p:txBody>
          <a:bodyPr lIns="0" tIns="0" rIns="0" bIns="0" anchor="ctr">
            <a:noAutofit/>
          </a:bodyPr>
          <a:lstStyle>
            <a:defPPr algn="r">
              <a:defRPr sz="2550" b="0">
                <a:solidFill>
                  <a:srgbClr val="4378AB"/>
                </a:solidFill>
                <a:latin typeface="Arial"/>
                <a:ea typeface="Arial"/>
                <a:cs typeface="Arial"/>
              </a:defRPr>
            </a:defPPr>
          </a:lstStyle>
          <a:p>
            <a:pPr algn="r">
              <a:defRPr sz="2550" b="0">
                <a:solidFill>
                  <a:srgbClr val="4378AB"/>
                </a:solidFill>
                <a:latin typeface="Arial"/>
                <a:ea typeface="Arial"/>
                <a:cs typeface="Arial"/>
              </a:defRPr>
            </a:pPr>
            <a:r>
              <a:rPr sz="2550" b="0">
                <a:solidFill>
                  <a:srgbClr val="4378AB"/>
                </a:solidFill>
                <a:latin typeface="Arial"/>
                <a:ea typeface="Arial"/>
                <a:cs typeface="Arial"/>
              </a:rPr>
              <a:t>cfir94@gmail.com</a:t>
            </a:r>
          </a:p>
        </p:txBody>
      </p:sp>
      <p:sp>
        <p:nvSpPr>
          <p:cNvPr id="5" name="editable-052-656-8094">
            <a:extLst>
              <a:ext uri="{FF2B5EF4-FFF2-40B4-BE49-F238E27FC236}">
                <a16:creationId xmlns:a16="http://schemas.microsoft.com/office/drawing/2014/main" id="{6BE7E21E-F595-4324-A1DC-97581AC220DA}"/>
              </a:ext>
            </a:extLst>
          </p:cNvPr>
          <p:cNvSpPr>
            <a:spLocks noGrp="1"/>
          </p:cNvSpPr>
          <p:nvPr/>
        </p:nvSpPr>
        <p:spPr>
          <a:xfrm>
            <a:off x="5429250" y="5781675"/>
            <a:ext cx="5905500" cy="647700"/>
          </a:xfrm>
          <a:prstGeom prst="rect">
            <a:avLst/>
          </a:prstGeom>
          <a:noFill/>
          <a:ln w="0">
            <a:noFill/>
          </a:ln>
        </p:spPr>
        <p:txBody>
          <a:bodyPr lIns="0" tIns="0" rIns="0" bIns="0" anchor="ctr">
            <a:noAutofit/>
          </a:bodyPr>
          <a:lstStyle>
            <a:defPPr algn="r">
              <a:defRPr sz="2550" b="0">
                <a:solidFill>
                  <a:srgbClr val="4378AB"/>
                </a:solidFill>
                <a:latin typeface="Arial"/>
                <a:ea typeface="Arial"/>
                <a:cs typeface="Arial"/>
              </a:defRPr>
            </a:defPPr>
          </a:lstStyle>
          <a:p>
            <a:pPr algn="r">
              <a:defRPr sz="2550" b="0">
                <a:solidFill>
                  <a:srgbClr val="4378AB"/>
                </a:solidFill>
                <a:latin typeface="Arial"/>
                <a:ea typeface="Arial"/>
                <a:cs typeface="Arial"/>
              </a:defRPr>
            </a:pPr>
            <a:r>
              <a:rPr sz="2550" b="0">
                <a:solidFill>
                  <a:srgbClr val="4378AB"/>
                </a:solidFill>
                <a:latin typeface="Arial"/>
                <a:ea typeface="Arial"/>
                <a:cs typeface="Arial"/>
              </a:rPr>
              <a:t>052-656-8094</a:t>
            </a:r>
          </a:p>
        </p:txBody>
      </p:sp>
      <p:sp>
        <p:nvSpPr>
          <p:cNvPr id="6" name="editable-32">
            <a:extLst>
              <a:ext uri="{FF2B5EF4-FFF2-40B4-BE49-F238E27FC236}">
                <a16:creationId xmlns:a16="http://schemas.microsoft.com/office/drawing/2014/main" id="{294E358E-10AC-4702-A052-844C874AFADA}"/>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32</a:t>
            </a:r>
          </a:p>
        </p:txBody>
      </p:sp>
    </p:spTree>
    <p:extLst>
      <p:ext uri="{BB962C8B-B14F-4D97-AF65-F5344CB8AC3E}">
        <p14:creationId xmlns:p14="http://schemas.microsoft.com/office/powerpoint/2010/main" val="1093091920"/>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20"/>
                                        <p:tgtEl>
                                          <p:spTgt spid="3"/>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20"/>
                                        <p:tgtEl>
                                          <p:spTgt spid="4"/>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42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378AB"/>
      </a:hlink>
      <a:folHlink>
        <a:srgbClr val="7A59BC"/>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378AB"/>
      </a:hlink>
      <a:folHlink>
        <a:srgbClr val="7A59BC"/>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8065</Words>
  <Application>Microsoft Office PowerPoint</Application>
  <DocSecurity>0</DocSecurity>
  <PresentationFormat>מסך רחב</PresentationFormat>
  <Paragraphs>628</Paragraphs>
  <Slides>32</Slides>
  <Notes>32</Notes>
  <HiddenSlides>0</HiddenSlides>
  <MMClips>0</MMClips>
  <ScaleCrop>false</ScaleCrop>
  <HeadingPairs>
    <vt:vector size="6" baseType="variant">
      <vt:variant>
        <vt:lpstr>גופנים בשימוש</vt:lpstr>
      </vt:variant>
      <vt:variant>
        <vt:i4>2</vt:i4>
      </vt:variant>
      <vt:variant>
        <vt:lpstr>ערכת נושא</vt:lpstr>
      </vt:variant>
      <vt:variant>
        <vt:i4>1</vt:i4>
      </vt:variant>
      <vt:variant>
        <vt:lpstr>כותרות שקופיות</vt:lpstr>
      </vt:variant>
      <vt:variant>
        <vt:i4>32</vt:i4>
      </vt:variant>
    </vt:vector>
  </HeadingPairs>
  <TitlesOfParts>
    <vt:vector size="35" baseType="lpstr">
      <vt:lpstr>Aptos</vt:lpstr>
      <vt:lpstr>Arial</vt:lpstr>
      <vt:lpstr>ChatGPT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כפיר יעקובי</cp:lastModifiedBy>
  <cp:revision>3</cp:revision>
  <dcterms:created xsi:type="dcterms:W3CDTF">2026-10-13T17:59:34Z</dcterms:created>
  <dcterms:modified xsi:type="dcterms:W3CDTF">2026-10-13T18:05:11Z</dcterms:modified>
</cp:coreProperties>
</file>