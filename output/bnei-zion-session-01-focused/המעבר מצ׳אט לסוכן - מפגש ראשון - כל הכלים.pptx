
<file path=[Content_Types].xml><?xml version="1.0" encoding="utf-8"?>
<Types xmlns="http://schemas.openxmlformats.org/package/2006/content-types">
  <Default Extension="bin" ContentType="image/webp"/>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מעבר מצ׳אט לסוכן" id="{CEE1DCD4-EADE-4935-9B25-CD67CF9828CC}">
          <p14:sldIdLst>
            <p14:sldId id="256"/>
            <p14:sldId id="257"/>
            <p14:sldId id="258"/>
          </p14:sldIdLst>
        </p14:section>
        <p14:section name="מה זה צ׳אט" id="{99EC8CF3-90CD-40CD-9142-24F1CB8F55FC}">
          <p14:sldIdLst>
            <p14:sldId id="259"/>
            <p14:sldId id="260"/>
          </p14:sldIdLst>
        </p14:section>
        <p14:section name="שימושים בצ׳אט ופרומפטים" id="{D694BA1D-6248-42D5-B173-2416627FB3FD}">
          <p14:sldIdLst>
            <p14:sldId id="261"/>
            <p14:sldId id="262"/>
            <p14:sldId id="263"/>
            <p14:sldId id="264"/>
            <p14:sldId id="265"/>
            <p14:sldId id="266"/>
            <p14:sldId id="267"/>
            <p14:sldId id="268"/>
            <p14:sldId id="269"/>
            <p14:sldId id="270"/>
            <p14:sldId id="271"/>
            <p14:sldId id="272"/>
            <p14:sldId id="273"/>
            <p14:sldId id="274"/>
          </p14:sldIdLst>
        </p14:section>
        <p14:section name="חיפוש מידע עם פרפלקסיטי" id="{68BE6823-EEF8-4132-9193-4332802A1CEC}">
          <p14:sldIdLst>
            <p14:sldId id="275"/>
            <p14:sldId id="276"/>
            <p14:sldId id="277"/>
          </p14:sldIdLst>
        </p14:section>
        <p14:section name="ניתוח מקורות עם נוטבוק אל אם" id="{D4C4D7E9-D48E-4BC9-A328-79ADF599F2A6}">
          <p14:sldIdLst>
            <p14:sldId id="278"/>
            <p14:sldId id="279"/>
            <p14:sldId id="280"/>
            <p14:sldId id="281"/>
          </p14:sldIdLst>
        </p14:section>
        <p14:section name="עבודה עם סוכן" id="{3D903CA5-C402-4827-8721-AFF976D83C4F}">
          <p14:sldIdLst>
            <p14:sldId id="282"/>
            <p14:sldId id="283"/>
            <p14:sldId id="284"/>
            <p14:sldId id="285"/>
            <p14:sldId id="286"/>
            <p14:sldId id="287"/>
          </p14:sldIdLst>
        </p14:section>
        <p14:section name="דברים מעניינים וסיום" id="{B036DAA3-BCF0-4CFC-A652-493DAB061060}">
          <p14:sldIdLst>
            <p14:sldId id="288"/>
            <p14:sldId id="289"/>
            <p14:sldId id="290"/>
            <p14:sldId id="291"/>
            <p14:sldId id="292"/>
            <p14:sldId id="29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4T05:50:24.998" v="1133" actId="20577"/>
      <pc:docMkLst>
        <pc:docMk/>
      </pc:docMkLst>
      <pc:sldChg chg="modTransition modAnim modNotes">
        <pc:chgData name="כפיר יעקובי" userId="8374c8db-8d40-48aa-9b65-9d75a8bb3258" providerId="ADAL" clId="{458EC885-B2EA-467D-853E-13557AE174ED}" dt="2026-10-14T05:50:19.158" v="64" actId="20577"/>
        <pc:sldMkLst>
          <pc:docMk/>
          <pc:sldMk cId="637613380" sldId="256"/>
        </pc:sldMkLst>
      </pc:sldChg>
      <pc:sldChg chg="modTransition modAnim modNotes">
        <pc:chgData name="כפיר יעקובי" userId="8374c8db-8d40-48aa-9b65-9d75a8bb3258" providerId="ADAL" clId="{458EC885-B2EA-467D-853E-13557AE174ED}" dt="2026-10-14T05:50:19.237" v="81" actId="20577"/>
        <pc:sldMkLst>
          <pc:docMk/>
          <pc:sldMk cId="477084368" sldId="257"/>
        </pc:sldMkLst>
      </pc:sldChg>
      <pc:sldChg chg="modTransition modAnim modNotes">
        <pc:chgData name="כפיר יעקובי" userId="8374c8db-8d40-48aa-9b65-9d75a8bb3258" providerId="ADAL" clId="{458EC885-B2EA-467D-853E-13557AE174ED}" dt="2026-10-14T05:50:19.319" v="108" actId="20577"/>
        <pc:sldMkLst>
          <pc:docMk/>
          <pc:sldMk cId="81419645" sldId="258"/>
        </pc:sldMkLst>
      </pc:sldChg>
      <pc:sldChg chg="modTransition modAnim modNotes">
        <pc:chgData name="כפיר יעקובי" userId="8374c8db-8d40-48aa-9b65-9d75a8bb3258" providerId="ADAL" clId="{458EC885-B2EA-467D-853E-13557AE174ED}" dt="2026-10-14T05:50:19.389" v="125" actId="20577"/>
        <pc:sldMkLst>
          <pc:docMk/>
          <pc:sldMk cId="188339239" sldId="259"/>
        </pc:sldMkLst>
      </pc:sldChg>
      <pc:sldChg chg="modTransition modAnim modNotes">
        <pc:chgData name="כפיר יעקובי" userId="8374c8db-8d40-48aa-9b65-9d75a8bb3258" providerId="ADAL" clId="{458EC885-B2EA-467D-853E-13557AE174ED}" dt="2026-10-14T05:50:19.494" v="142" actId="20577"/>
        <pc:sldMkLst>
          <pc:docMk/>
          <pc:sldMk cId="855264889" sldId="260"/>
        </pc:sldMkLst>
      </pc:sldChg>
      <pc:sldChg chg="modTransition modAnim modNotes">
        <pc:chgData name="כפיר יעקובי" userId="8374c8db-8d40-48aa-9b65-9d75a8bb3258" providerId="ADAL" clId="{458EC885-B2EA-467D-853E-13557AE174ED}" dt="2026-10-14T05:50:19.677" v="194" actId="20577"/>
        <pc:sldMkLst>
          <pc:docMk/>
          <pc:sldMk cId="229047400" sldId="261"/>
        </pc:sldMkLst>
      </pc:sldChg>
      <pc:sldChg chg="modTransition modAnim modNotes">
        <pc:chgData name="כפיר יעקובי" userId="8374c8db-8d40-48aa-9b65-9d75a8bb3258" providerId="ADAL" clId="{458EC885-B2EA-467D-853E-13557AE174ED}" dt="2026-10-14T05:50:19.780" v="221" actId="20577"/>
        <pc:sldMkLst>
          <pc:docMk/>
          <pc:sldMk cId="1528448967" sldId="262"/>
        </pc:sldMkLst>
      </pc:sldChg>
      <pc:sldChg chg="modTransition modAnim modNotes">
        <pc:chgData name="כפיר יעקובי" userId="8374c8db-8d40-48aa-9b65-9d75a8bb3258" providerId="ADAL" clId="{458EC885-B2EA-467D-853E-13557AE174ED}" dt="2026-10-14T05:50:19.969" v="258" actId="20577"/>
        <pc:sldMkLst>
          <pc:docMk/>
          <pc:sldMk cId="277066380" sldId="263"/>
        </pc:sldMkLst>
      </pc:sldChg>
      <pc:sldChg chg="modTransition modAnim modNotes">
        <pc:chgData name="כפיר יעקובי" userId="8374c8db-8d40-48aa-9b65-9d75a8bb3258" providerId="ADAL" clId="{458EC885-B2EA-467D-853E-13557AE174ED}" dt="2026-10-14T05:50:20.053" v="280" actId="20577"/>
        <pc:sldMkLst>
          <pc:docMk/>
          <pc:sldMk cId="735759808" sldId="264"/>
        </pc:sldMkLst>
      </pc:sldChg>
      <pc:sldChg chg="modTransition modAnim modNotes">
        <pc:chgData name="כפיר יעקובי" userId="8374c8db-8d40-48aa-9b65-9d75a8bb3258" providerId="ADAL" clId="{458EC885-B2EA-467D-853E-13557AE174ED}" dt="2026-10-14T05:50:20.291" v="342" actId="20577"/>
        <pc:sldMkLst>
          <pc:docMk/>
          <pc:sldMk cId="1375510228" sldId="265"/>
        </pc:sldMkLst>
      </pc:sldChg>
      <pc:sldChg chg="modTransition modAnim modNotes">
        <pc:chgData name="כפיר יעקובי" userId="8374c8db-8d40-48aa-9b65-9d75a8bb3258" providerId="ADAL" clId="{458EC885-B2EA-467D-853E-13557AE174ED}" dt="2026-10-14T05:50:20.503" v="424" actId="20577"/>
        <pc:sldMkLst>
          <pc:docMk/>
          <pc:sldMk cId="1999181849" sldId="266"/>
        </pc:sldMkLst>
      </pc:sldChg>
      <pc:sldChg chg="modTransition modAnim modNotes">
        <pc:chgData name="כפיר יעקובי" userId="8374c8db-8d40-48aa-9b65-9d75a8bb3258" providerId="ADAL" clId="{458EC885-B2EA-467D-853E-13557AE174ED}" dt="2026-10-14T05:50:20.862" v="476" actId="20577"/>
        <pc:sldMkLst>
          <pc:docMk/>
          <pc:sldMk cId="1784205976" sldId="267"/>
        </pc:sldMkLst>
      </pc:sldChg>
      <pc:sldChg chg="modTransition modAnim modNotes">
        <pc:chgData name="כפיר יעקובי" userId="8374c8db-8d40-48aa-9b65-9d75a8bb3258" providerId="ADAL" clId="{458EC885-B2EA-467D-853E-13557AE174ED}" dt="2026-10-14T05:50:20.934" v="503" actId="20577"/>
        <pc:sldMkLst>
          <pc:docMk/>
          <pc:sldMk cId="515540743" sldId="268"/>
        </pc:sldMkLst>
      </pc:sldChg>
      <pc:sldChg chg="modTransition modAnim modNotes">
        <pc:chgData name="כפיר יעקובי" userId="8374c8db-8d40-48aa-9b65-9d75a8bb3258" providerId="ADAL" clId="{458EC885-B2EA-467D-853E-13557AE174ED}" dt="2026-10-14T05:50:21.145" v="530" actId="20577"/>
        <pc:sldMkLst>
          <pc:docMk/>
          <pc:sldMk cId="1911480585" sldId="269"/>
        </pc:sldMkLst>
      </pc:sldChg>
      <pc:sldChg chg="modTransition modAnim modNotes">
        <pc:chgData name="כפיר יעקובי" userId="8374c8db-8d40-48aa-9b65-9d75a8bb3258" providerId="ADAL" clId="{458EC885-B2EA-467D-853E-13557AE174ED}" dt="2026-10-14T05:50:21.352" v="557" actId="20577"/>
        <pc:sldMkLst>
          <pc:docMk/>
          <pc:sldMk cId="1005661864" sldId="270"/>
        </pc:sldMkLst>
      </pc:sldChg>
      <pc:sldChg chg="modTransition modAnim modNotes">
        <pc:chgData name="כפיר יעקובי" userId="8374c8db-8d40-48aa-9b65-9d75a8bb3258" providerId="ADAL" clId="{458EC885-B2EA-467D-853E-13557AE174ED}" dt="2026-10-14T05:50:21.556" v="584" actId="20577"/>
        <pc:sldMkLst>
          <pc:docMk/>
          <pc:sldMk cId="1041807161" sldId="271"/>
        </pc:sldMkLst>
      </pc:sldChg>
      <pc:sldChg chg="modTransition modAnim modNotes">
        <pc:chgData name="כפיר יעקובי" userId="8374c8db-8d40-48aa-9b65-9d75a8bb3258" providerId="ADAL" clId="{458EC885-B2EA-467D-853E-13557AE174ED}" dt="2026-10-14T05:50:22.028" v="611" actId="20577"/>
        <pc:sldMkLst>
          <pc:docMk/>
          <pc:sldMk cId="766531033" sldId="272"/>
        </pc:sldMkLst>
      </pc:sldChg>
      <pc:sldChg chg="modTransition modAnim modNotes">
        <pc:chgData name="כפיר יעקובי" userId="8374c8db-8d40-48aa-9b65-9d75a8bb3258" providerId="ADAL" clId="{458EC885-B2EA-467D-853E-13557AE174ED}" dt="2026-10-14T05:50:22.105" v="638" actId="20577"/>
        <pc:sldMkLst>
          <pc:docMk/>
          <pc:sldMk cId="2015762134" sldId="273"/>
        </pc:sldMkLst>
      </pc:sldChg>
      <pc:sldChg chg="modTransition modAnim modNotes">
        <pc:chgData name="כפיר יעקובי" userId="8374c8db-8d40-48aa-9b65-9d75a8bb3258" providerId="ADAL" clId="{458EC885-B2EA-467D-853E-13557AE174ED}" dt="2026-10-14T05:50:22.174" v="660" actId="20577"/>
        <pc:sldMkLst>
          <pc:docMk/>
          <pc:sldMk cId="285821065" sldId="274"/>
        </pc:sldMkLst>
      </pc:sldChg>
      <pc:sldChg chg="modTransition modAnim modNotes">
        <pc:chgData name="כפיר יעקובי" userId="8374c8db-8d40-48aa-9b65-9d75a8bb3258" providerId="ADAL" clId="{458EC885-B2EA-467D-853E-13557AE174ED}" dt="2026-10-14T05:50:22.259" v="687" actId="20577"/>
        <pc:sldMkLst>
          <pc:docMk/>
          <pc:sldMk cId="1633676304" sldId="275"/>
        </pc:sldMkLst>
      </pc:sldChg>
      <pc:sldChg chg="modTransition modAnim modNotes">
        <pc:chgData name="כפיר יעקובי" userId="8374c8db-8d40-48aa-9b65-9d75a8bb3258" providerId="ADAL" clId="{458EC885-B2EA-467D-853E-13557AE174ED}" dt="2026-10-14T05:50:22.435" v="714" actId="20577"/>
        <pc:sldMkLst>
          <pc:docMk/>
          <pc:sldMk cId="2069695509" sldId="276"/>
        </pc:sldMkLst>
      </pc:sldChg>
      <pc:sldChg chg="modTransition modAnim modNotes">
        <pc:chgData name="כפיר יעקובי" userId="8374c8db-8d40-48aa-9b65-9d75a8bb3258" providerId="ADAL" clId="{458EC885-B2EA-467D-853E-13557AE174ED}" dt="2026-10-14T05:50:22.608" v="741" actId="20577"/>
        <pc:sldMkLst>
          <pc:docMk/>
          <pc:sldMk cId="1304837294" sldId="277"/>
        </pc:sldMkLst>
      </pc:sldChg>
      <pc:sldChg chg="modTransition modAnim modNotes">
        <pc:chgData name="כפיר יעקובי" userId="8374c8db-8d40-48aa-9b65-9d75a8bb3258" providerId="ADAL" clId="{458EC885-B2EA-467D-853E-13557AE174ED}" dt="2026-10-14T05:50:22.700" v="768" actId="20577"/>
        <pc:sldMkLst>
          <pc:docMk/>
          <pc:sldMk cId="1703335077" sldId="278"/>
        </pc:sldMkLst>
      </pc:sldChg>
      <pc:sldChg chg="modTransition modAnim modNotes">
        <pc:chgData name="כפיר יעקובי" userId="8374c8db-8d40-48aa-9b65-9d75a8bb3258" providerId="ADAL" clId="{458EC885-B2EA-467D-853E-13557AE174ED}" dt="2026-10-14T05:50:22.802" v="810" actId="20577"/>
        <pc:sldMkLst>
          <pc:docMk/>
          <pc:sldMk cId="335807608" sldId="279"/>
        </pc:sldMkLst>
      </pc:sldChg>
      <pc:sldChg chg="modTransition modAnim modNotes">
        <pc:chgData name="כפיר יעקובי" userId="8374c8db-8d40-48aa-9b65-9d75a8bb3258" providerId="ADAL" clId="{458EC885-B2EA-467D-853E-13557AE174ED}" dt="2026-10-14T05:50:22.944" v="837" actId="20577"/>
        <pc:sldMkLst>
          <pc:docMk/>
          <pc:sldMk cId="1731930412" sldId="280"/>
        </pc:sldMkLst>
      </pc:sldChg>
      <pc:sldChg chg="modTransition modAnim modNotes">
        <pc:chgData name="כפיר יעקובי" userId="8374c8db-8d40-48aa-9b65-9d75a8bb3258" providerId="ADAL" clId="{458EC885-B2EA-467D-853E-13557AE174ED}" dt="2026-10-14T05:50:23.125" v="864" actId="20577"/>
        <pc:sldMkLst>
          <pc:docMk/>
          <pc:sldMk cId="1076182117" sldId="281"/>
        </pc:sldMkLst>
      </pc:sldChg>
      <pc:sldChg chg="modTransition modAnim modNotes">
        <pc:chgData name="כפיר יעקובי" userId="8374c8db-8d40-48aa-9b65-9d75a8bb3258" providerId="ADAL" clId="{458EC885-B2EA-467D-853E-13557AE174ED}" dt="2026-10-14T05:50:23.191" v="881" actId="20577"/>
        <pc:sldMkLst>
          <pc:docMk/>
          <pc:sldMk cId="1140489673" sldId="282"/>
        </pc:sldMkLst>
      </pc:sldChg>
      <pc:sldChg chg="modTransition modAnim modNotes">
        <pc:chgData name="כפיר יעקובי" userId="8374c8db-8d40-48aa-9b65-9d75a8bb3258" providerId="ADAL" clId="{458EC885-B2EA-467D-853E-13557AE174ED}" dt="2026-10-14T05:50:23.425" v="908" actId="20577"/>
        <pc:sldMkLst>
          <pc:docMk/>
          <pc:sldMk cId="928450664" sldId="283"/>
        </pc:sldMkLst>
      </pc:sldChg>
      <pc:sldChg chg="modTransition modAnim modNotes">
        <pc:chgData name="כפיר יעקובי" userId="8374c8db-8d40-48aa-9b65-9d75a8bb3258" providerId="ADAL" clId="{458EC885-B2EA-467D-853E-13557AE174ED}" dt="2026-10-14T05:50:23.655" v="935" actId="20577"/>
        <pc:sldMkLst>
          <pc:docMk/>
          <pc:sldMk cId="1756988215" sldId="284"/>
        </pc:sldMkLst>
      </pc:sldChg>
      <pc:sldChg chg="modTransition modAnim modNotes">
        <pc:chgData name="כפיר יעקובי" userId="8374c8db-8d40-48aa-9b65-9d75a8bb3258" providerId="ADAL" clId="{458EC885-B2EA-467D-853E-13557AE174ED}" dt="2026-10-14T05:50:23.939" v="962" actId="20577"/>
        <pc:sldMkLst>
          <pc:docMk/>
          <pc:sldMk cId="1206976303" sldId="285"/>
        </pc:sldMkLst>
      </pc:sldChg>
      <pc:sldChg chg="modTransition modAnim modNotes">
        <pc:chgData name="כפיר יעקובי" userId="8374c8db-8d40-48aa-9b65-9d75a8bb3258" providerId="ADAL" clId="{458EC885-B2EA-467D-853E-13557AE174ED}" dt="2026-10-14T05:50:24.011" v="979" actId="20577"/>
        <pc:sldMkLst>
          <pc:docMk/>
          <pc:sldMk cId="243272771" sldId="286"/>
        </pc:sldMkLst>
      </pc:sldChg>
      <pc:sldChg chg="modTransition modAnim modNotes">
        <pc:chgData name="כפיר יעקובי" userId="8374c8db-8d40-48aa-9b65-9d75a8bb3258" providerId="ADAL" clId="{458EC885-B2EA-467D-853E-13557AE174ED}" dt="2026-10-14T05:50:24.451" v="1006" actId="20577"/>
        <pc:sldMkLst>
          <pc:docMk/>
          <pc:sldMk cId="1553143851" sldId="287"/>
        </pc:sldMkLst>
      </pc:sldChg>
      <pc:sldChg chg="modTransition modAnim modNotes">
        <pc:chgData name="כפיר יעקובי" userId="8374c8db-8d40-48aa-9b65-9d75a8bb3258" providerId="ADAL" clId="{458EC885-B2EA-467D-853E-13557AE174ED}" dt="2026-10-14T05:50:24.517" v="1023" actId="20577"/>
        <pc:sldMkLst>
          <pc:docMk/>
          <pc:sldMk cId="948661204" sldId="288"/>
        </pc:sldMkLst>
      </pc:sldChg>
      <pc:sldChg chg="modTransition modAnim modNotes">
        <pc:chgData name="כפיר יעקובי" userId="8374c8db-8d40-48aa-9b65-9d75a8bb3258" providerId="ADAL" clId="{458EC885-B2EA-467D-853E-13557AE174ED}" dt="2026-10-14T05:50:24.667" v="1045" actId="20577"/>
        <pc:sldMkLst>
          <pc:docMk/>
          <pc:sldMk cId="430820091" sldId="289"/>
        </pc:sldMkLst>
      </pc:sldChg>
      <pc:sldChg chg="modTransition modAnim modNotes">
        <pc:chgData name="כפיר יעקובי" userId="8374c8db-8d40-48aa-9b65-9d75a8bb3258" providerId="ADAL" clId="{458EC885-B2EA-467D-853E-13557AE174ED}" dt="2026-10-14T05:50:24.766" v="1067" actId="20577"/>
        <pc:sldMkLst>
          <pc:docMk/>
          <pc:sldMk cId="1812355993" sldId="290"/>
        </pc:sldMkLst>
      </pc:sldChg>
      <pc:sldChg chg="modTransition modAnim modNotes">
        <pc:chgData name="כפיר יעקובי" userId="8374c8db-8d40-48aa-9b65-9d75a8bb3258" providerId="ADAL" clId="{458EC885-B2EA-467D-853E-13557AE174ED}" dt="2026-10-14T05:50:24.850" v="1089" actId="20577"/>
        <pc:sldMkLst>
          <pc:docMk/>
          <pc:sldMk cId="2004576772" sldId="291"/>
        </pc:sldMkLst>
      </pc:sldChg>
      <pc:sldChg chg="modTransition modAnim modNotes">
        <pc:chgData name="כפיר יעקובי" userId="8374c8db-8d40-48aa-9b65-9d75a8bb3258" providerId="ADAL" clId="{458EC885-B2EA-467D-853E-13557AE174ED}" dt="2026-10-14T05:50:24.920" v="1106" actId="20577"/>
        <pc:sldMkLst>
          <pc:docMk/>
          <pc:sldMk cId="1960736222" sldId="292"/>
        </pc:sldMkLst>
      </pc:sldChg>
      <pc:sldChg chg="modTransition modAnim modNotes">
        <pc:chgData name="כפיר יעקובי" userId="8374c8db-8d40-48aa-9b65-9d75a8bb3258" providerId="ADAL" clId="{458EC885-B2EA-467D-853E-13557AE174ED}" dt="2026-10-14T05:50:24.998" v="1133" actId="20577"/>
        <pc:sldMkLst>
          <pc:docMk/>
          <pc:sldMk cId="1540545968"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00:08–00:14 | מודל שפה מייצר המשך לפי הקשר ודפוסים. השיחה היא ממשק לעבודה עם המודל; היא אינה אדם ולא מקור סמכות. אפשר לנסח, להסביר ולסכם. להראות שאלה אחת ולהמשיך בשיחה במקום לפתוח חדשה.</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00:14–00:20 | גם ניסוח משכנע יכול להיות שגוי. אין להזין שמות, תיקים, פרטים אישיים או מידע ארגוני רגיש. משתמשים רק בשלושת מסמכי התרגול שסופקו. אין לקבל החלטות קליניות באמצעות התרגילים.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00:20–00:23 | סקירת שבעת הכלים בקורס. ארבעת כלי הצ׳אט בשורה העליונה; </a:t>
            </a:r>
            <a:r>
              <a:rPr lang="en-US"/>
              <a:t>Perplexity </a:t>
            </a:r>
            <a:r>
              <a:rPr lang="he-IL"/>
              <a:t>לחיפוש, </a:t>
            </a:r>
            <a:r>
              <a:rPr lang="en-US"/>
              <a:t>NotebookLM </a:t>
            </a:r>
            <a:r>
              <a:rPr lang="he-IL"/>
              <a:t>לניתוח מקורות ו־</a:t>
            </a:r>
            <a:r>
              <a:rPr lang="en-US"/>
              <a:t>Manus </a:t>
            </a:r>
            <a:r>
              <a:rPr lang="he-IL"/>
              <a:t>לעבודה עם סוכן בשורה התחתונה. לא כולם חלופות לאותה משימה; לא נדרשת הרשמה למנוי ולא סוקרים שבעה ממשקים במלואם. בחלק הצ׳אט בוחרים כלי זמין אחד, ועובדים בזוג אם הגישה חסומה.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00:23–00:26 | בוחרים לפי המשימה והגישה, לא לפי לוגו או הבטחה שכלי אחד תמיד טוב יותר. מתחילים בכלי שכבר זמין בחשבון. מנסים אותה בקשה על אותו מקור פיקטיבי בשני כלים, אם יש זמן. משווים דיוק בפרטים, בהירות בעברית והאפשרות לבדוק מול המקור. אם צריך חיפוש עוברים לכלי חיפוש; אם צריך ציטוטים מתוך מסמכים בוחרים כלי שתומך במקורות. יכולות העלאה וחיבורים תלויות חשבון. אין צורך לרכוש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00:26–00:29 | פרסונליזציה היא התאמת ההנחיות, הטון והפורמט; היא אינה אימון מודל חדש ואינה הבטחת אמינות. ב־</a:t>
            </a:r>
            <a:r>
              <a:rPr lang="en-US"/>
              <a:t>Claude </a:t>
            </a:r>
            <a:r>
              <a:rPr lang="he-IL"/>
              <a:t>פותחים את תפריט החשבון, </a:t>
            </a:r>
            <a:r>
              <a:rPr lang="en-US"/>
              <a:t>Settings, </a:t>
            </a:r>
            <a:r>
              <a:rPr lang="he-IL"/>
              <a:t>ואז </a:t>
            </a:r>
            <a:r>
              <a:rPr lang="en-US"/>
              <a:t>Instructions for Claude. </a:t>
            </a:r>
            <a:r>
              <a:rPr lang="he-IL"/>
              <a:t>מוסיפים תפקיד כללי, קהל וסגנון ללא פרטים רגישים. ההוראות חלות על השיחות בחשבון; פרטי המשימה והמקור נכתבים בכל בקשה בנפרד. אם האפשרות אינה מופיעה בממשק, מדביקים את </a:t>
            </a:r>
            <a:r>
              <a:rPr lang="en-US"/>
              <a:t>P16 </a:t>
            </a:r>
            <a:r>
              <a:rPr lang="he-IL"/>
              <a:t>בתחילת השיחה. בודקים תשובה לדוגמה ומשפרים את ההעדפות. לא מניחים שהעדפות מבטלות בדיקת מקור.</a:t>
            </a:r>
          </a:p>
          <a:p>
            <a:pPr rtl="1"/>
            <a:endParaRPr lang="he-IL"/>
          </a:p>
          <a:p>
            <a:pPr rtl="1"/>
            <a:r>
              <a:rPr lang="he-IL"/>
              <a:t>פרומפטים להעתקה</a:t>
            </a:r>
          </a:p>
          <a:p>
            <a:pPr rtl="1"/>
            <a:r>
              <a:rPr lang="en-US"/>
              <a:t>P16 — </a:t>
            </a:r>
            <a:r>
              <a:rPr lang="he-IL"/>
              <a:t>העדפות אישיות לעבודה</a:t>
            </a:r>
          </a:p>
          <a:p>
            <a:pPr rtl="1"/>
            <a:r>
              <a:rPr lang="he-IL"/>
              <a:t>אני עובד/ת בהדרכה או באדמיניסטרציה. העדף עברית פשוטה ותשובות קצרות בנקודות. כאשר בקשתי אינה ברורה, שאל שאלה ממוקדת. כאשר מידע חסר, ציין זאת ואל תשלים אותו. התאם את הסגנון לקהל שאציין בכל משימה. אל תכלול פרטים אישיים או רפואיים שלא מסרתי. ההעדפות הללו אינן מחליפות בדיקת מקורות.</a:t>
            </a:r>
          </a:p>
          <a:p>
            <a:pPr rtl="1"/>
            <a:r>
              <a:rPr lang="he-IL"/>
              <a:t>בדיקה: הטון והפורמט מתאימים; ההעדפות אינן כוללות מידע רגיש; בקשה של משימה מסוימת עדיין מפורטת בנפרד.</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https://support.claude.com/en/articles/10185728-understanding-claude-s-personalization-features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פרומפט הוא הבקשה וההקשר שנותנים למודל. המשימה היא הפעולה, ההקשר הוא הקהל והמקור, התוצר הוא הפורמט והאורך, והגבולות הם מה אין להשלים ומה עושים כשמידע חסר. אין צורך לכתוב ״אתה המומחה הכי טוב בעולם״. בקשה טובה נבחנת בתוצאה שניתן לבדוק. ההעדפות הקבועות מספקות סגנון; הפרומפט הנוכחי מספק את המשימה.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00:32–00:36 | הדוגמה ממשיכה את ארבעת חלקי הבקשה מהשקף הקודם. </a:t>
            </a:r>
            <a:r>
              <a:rPr lang="en-US"/>
              <a:t>P17 </a:t>
            </a:r>
            <a:r>
              <a:rPr lang="he-IL"/>
              <a:t>בדף התרגול כולל כבר את מסמך א, ולכן אפשר להעתיק ולהריץ ללא חיפוש חומר נוסף. אפשר להשתמש בכל כלי צ׳אט זמין. בודקים 09:00, חדר 2, הגעה 08:45 והודעת זימון. ממשיכים באותה שיחה עם </a:t>
            </a:r>
            <a:r>
              <a:rPr lang="en-US"/>
              <a:t>P05 </a:t>
            </a:r>
            <a:r>
              <a:rPr lang="he-IL"/>
              <a:t>לשיפור הסגנון ו־</a:t>
            </a:r>
            <a:r>
              <a:rPr lang="en-US"/>
              <a:t>P06 </a:t>
            </a:r>
            <a:r>
              <a:rPr lang="he-IL"/>
              <a:t>לבדיקה. הפרומפט המלא נמצא גם בהערות המרצה.</a:t>
            </a:r>
          </a:p>
          <a:p>
            <a:pPr rtl="1"/>
            <a:endParaRPr lang="he-IL"/>
          </a:p>
          <a:p>
            <a:pPr rtl="1"/>
            <a:r>
              <a:rPr lang="he-IL"/>
              <a:t>פרומפטים להעתקה</a:t>
            </a:r>
          </a:p>
          <a:p>
            <a:pPr rtl="1"/>
            <a:r>
              <a:rPr lang="en-US"/>
              <a:t>P17 — </a:t>
            </a:r>
            <a:r>
              <a:rPr lang="he-IL"/>
              <a:t>פרומפט מובנה להודעת הדרכה</a:t>
            </a:r>
          </a:p>
          <a:p>
            <a:pPr rtl="1"/>
            <a:r>
              <a:rPr lang="he-IL"/>
              <a:t>משימה: נסח הודעה למטופלים ולמלווים על מפגש ההדרכה.</a:t>
            </a:r>
          </a:p>
          <a:p>
            <a:pPr rtl="1"/>
            <a:r>
              <a:rPr lang="he-IL"/>
              <a:t>הקשר: הסתמך על מסמך א שלהלן בלבד; כתוב בעברית פשוטה.</a:t>
            </a:r>
          </a:p>
          <a:p>
            <a:pPr rtl="1"/>
            <a:r>
              <a:rPr lang="he-IL"/>
              <a:t>תוצר: עד 90 מילים, עם שעה, חדר, זמן הגעה ומה להביא.</a:t>
            </a:r>
          </a:p>
          <a:p>
            <a:pPr rtl="1"/>
            <a:r>
              <a:rPr lang="he-IL"/>
              <a:t>גבולות: אל תמציא פרטי קשר או הנחיות רפואיות. אם מידע חסר, סמן אותו לבירור.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לפי מסמך א; הודעת זימון; בלי טלפון או הוראות צום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00:36–00:38 | כלי הצ׳אט הוא הממשק; מודל הוא המערכת שלמדה דפוסים ומייצרת את התשובה בתוכו. באותו כלי אפשר לעבוד עם מודלים שונים. בדוגמאות </a:t>
            </a:r>
            <a:r>
              <a:rPr lang="en-US"/>
              <a:t>Claude: Haiku </a:t>
            </a:r>
            <a:r>
              <a:rPr lang="he-IL"/>
              <a:t>מתאים לבקשות פשוטות ומהירות; </a:t>
            </a:r>
            <a:r>
              <a:rPr lang="en-US"/>
              <a:t>Sonnet </a:t>
            </a:r>
            <a:r>
              <a:rPr lang="he-IL"/>
              <a:t>לשילוב כתיבה וניתוח; </a:t>
            </a:r>
            <a:r>
              <a:rPr lang="en-US"/>
              <a:t>Opus </a:t>
            </a:r>
            <a:r>
              <a:rPr lang="he-IL"/>
              <a:t>להסקה מעמיקה; </a:t>
            </a:r>
            <a:r>
              <a:rPr lang="en-US"/>
              <a:t>Fable </a:t>
            </a:r>
            <a:r>
              <a:rPr lang="he-IL"/>
              <a:t>למשימות ארוכות ומורכבות. ההבדלים נוגעים ליכולת, זמן וצריכת מכסה, לא רק לניסוח השם. להראות את תפריט המודל ליד כפתור השליחה ולבחור רק מה שזמין בחשבון. אין צורך לשדרג בקורס. משווים את אותה בקשה על אותו מסמך, אם קיימות שתי אפשרויות. אף מודל אינו פוטר מבדיקה. שמות הגרסאות והזמינות משתנים; לא מקבעים מספרי גרסה בשקף.</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https://academy.claude.com/tutorials/choosing-the-right-claude-model</a:t>
            </a:r>
          </a:p>
          <a:p>
            <a:pPr rtl="1"/>
            <a:r>
              <a:rPr lang="en-US"/>
              <a:t>https://support.claude.com/en/articles/8664678-change-the-model-effort-and-thinking-settings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00:38–00:40 | להבדיל בין מודל לבין כלי: </a:t>
            </a:r>
            <a:r>
              <a:rPr lang="en-US"/>
              <a:t>Canvas </a:t>
            </a:r>
            <a:r>
              <a:rPr lang="he-IL"/>
              <a:t>הוא סביבת עבודה למסמך שאפשר לערוך ולשפר; יצירת תמונות מפיקה איור לפי תיאור. ב־</a:t>
            </a:r>
            <a:r>
              <a:rPr lang="en-US"/>
              <a:t>Gemini </a:t>
            </a:r>
            <a:r>
              <a:rPr lang="he-IL"/>
              <a:t>בוחרים </a:t>
            </a:r>
            <a:r>
              <a:rPr lang="en-US"/>
              <a:t>Canvas </a:t>
            </a:r>
            <a:r>
              <a:rPr lang="he-IL"/>
              <a:t>בתפריט הכלים, מריצים </a:t>
            </a:r>
            <a:r>
              <a:rPr lang="en-US"/>
              <a:t>P18, </a:t>
            </a:r>
            <a:r>
              <a:rPr lang="he-IL"/>
              <a:t>בוחרים פסקה ומשנים אותה. אפשר לייצא ל־</a:t>
            </a:r>
            <a:r>
              <a:rPr lang="en-US"/>
              <a:t>Google Docs </a:t>
            </a:r>
            <a:r>
              <a:rPr lang="he-IL"/>
              <a:t>באמצעות </a:t>
            </a:r>
            <a:r>
              <a:rPr lang="en-US"/>
              <a:t>Share &amp; export </a:t>
            </a:r>
            <a:r>
              <a:rPr lang="he-IL"/>
              <a:t>כאשר האפשרות זמינה. ליצירת תמונה פותחים </a:t>
            </a:r>
            <a:r>
              <a:rPr lang="en-US"/>
              <a:t>Images </a:t>
            </a:r>
            <a:r>
              <a:rPr lang="he-IL"/>
              <a:t>או את אפשרות יצירת התמונות הזמינה בחשבון ומריצים </a:t>
            </a:r>
            <a:r>
              <a:rPr lang="en-US"/>
              <a:t>P19. </a:t>
            </a:r>
            <a:r>
              <a:rPr lang="he-IL"/>
              <a:t>שם הכפתור והמכסה עשויים להשתנות בין חשבונות; אין צורך לשדרג. אם הכלי חסר, מדגימים בחשבון המרצה: למסמך אפשר לקבל טקסט ולהעתיק ל־</a:t>
            </a:r>
            <a:r>
              <a:rPr lang="en-US"/>
              <a:t>Word, </a:t>
            </a:r>
            <a:r>
              <a:rPr lang="he-IL"/>
              <a:t>ולתמונה אפשר לנסח את הפרומפט בלי להריץ. התרגיל הוא דוגמה קצרה במסגרת זמן הצ׳אט הקיים. לא מעלים מידע רגיש ולא משתמשים באיור כהוכחה רפואית. הפרומפטים המלאים בדף התרגול ובהערות.</a:t>
            </a:r>
          </a:p>
          <a:p>
            <a:pPr rtl="1"/>
            <a:endParaRPr lang="he-IL"/>
          </a:p>
          <a:p>
            <a:pPr rtl="1"/>
            <a:r>
              <a:rPr lang="he-IL"/>
              <a:t>פרומפטים להעתקה</a:t>
            </a:r>
          </a:p>
          <a:p>
            <a:pPr rtl="1"/>
            <a:r>
              <a:rPr lang="en-US"/>
              <a:t>P18 — Canvas: </a:t>
            </a:r>
            <a:r>
              <a:rPr lang="he-IL"/>
              <a:t>דף הדרכה לעריכה</a:t>
            </a:r>
          </a:p>
          <a:p>
            <a:pPr rtl="1"/>
            <a:r>
              <a:rPr lang="he-IL"/>
              <a:t>צור ב־</a:t>
            </a:r>
            <a:r>
              <a:rPr lang="en-US"/>
              <a:t>Canvas </a:t>
            </a:r>
            <a:r>
              <a:rPr lang="he-IL"/>
              <a:t>מסמך בעברית של עמוד אחד למטופלים ולמלווים, מתוך מסמך א שלהלן בלבד. כלול כותרת, פרטי המפגש, מה להביא וארבע שאלות ותשובות קצרות. השתמש בעברית פשוטה. אל תוסיף הוראות רפואיות או פרטי קשר. מידע חסר סמן לבירור. השאר את המסמך ניתן לעריכה. לאחר הצגת הטיוטה, המתן לבקשת השינוי שלי.</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אין מידע מומצא. נסו לבחור פסקה ולבקש לקצר אותה, ואז לייצא ל־</a:t>
            </a:r>
            <a:r>
              <a:rPr lang="en-US"/>
              <a:t>Google Docs </a:t>
            </a:r>
            <a:r>
              <a:rPr lang="he-IL"/>
              <a:t>אם האפשרות זמינה.</a:t>
            </a:r>
          </a:p>
          <a:p>
            <a:pPr rtl="1"/>
            <a:endParaRPr lang="he-IL"/>
          </a:p>
          <a:p>
            <a:pPr rtl="1"/>
            <a:r>
              <a:rPr lang="en-US"/>
              <a:t>P19 — </a:t>
            </a:r>
            <a:r>
              <a:rPr lang="he-IL"/>
              <a:t>תמונה לפתיחת יום הדרכה</a:t>
            </a:r>
          </a:p>
          <a:p>
            <a:pPr rtl="1"/>
            <a:r>
              <a:rPr lang="he-IL"/>
              <a:t>צור איור לפתיחת מצגת ביום הדרכה לצוות סיעודי ומנהלי. שלושה אנשי צוות פיקטיביים עובדים יחד ליד מחשב בסביבת למידה נעימה. סגנון איור מינימליסטי, רקע בהיר, גוונים עדינים של כחול וסגול. יחס רוחב־גובה 16:9. מקם את הדמויות בצד שמאל והשאר את המחצית הימנית ריקה לכותרת שאוסיף בעצמי. ללא טקסט, לוגואים, מטופלים או פרטים מזהים. אין להציג טיפול רפואי.</a:t>
            </a:r>
          </a:p>
          <a:p>
            <a:pPr rtl="1"/>
            <a:r>
              <a:rPr lang="he-IL"/>
              <a:t>בדיקה: הקומפוזיציה משאירה מקום לכותרת, אין טקסט או אנשים אמיתיים; מסמנים שזו תמונה שנוצרה ב־</a:t>
            </a:r>
            <a:r>
              <a:rPr lang="en-US"/>
              <a:t>AI. </a:t>
            </a:r>
            <a:r>
              <a:rPr lang="he-IL"/>
              <a:t>שיפור באותה שיחה: הקטן את הדמויות והשאר יותר שטח ריק בצד ימין.</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https://support.google.com/gemini/answer/16047321?hl=en</a:t>
            </a:r>
          </a:p>
          <a:p>
            <a:pPr rtl="1"/>
            <a:r>
              <a:rPr lang="en-US"/>
              <a:t>https://support.google.com/gemini/answer/14286560?hl=en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00:25–00:30 | מסגרת קצרה. להראות את המסמך הפיקטיבי א, לבחור קהל ותוצר ולהגדיר גבולות. אלה כלי עבודה, לא נוסחה שמבטיחה תשובה נכונה.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00:30–00:38 | הדגמה: </a:t>
            </a:r>
            <a:r>
              <a:rPr lang="en-US"/>
              <a:t>P02 </a:t>
            </a:r>
            <a:r>
              <a:rPr lang="he-IL"/>
              <a:t>כולל כבר את מסמך א בדף ההעתקה. לקרוא את התוצר מול המקור. להמשיך עם </a:t>
            </a:r>
            <a:r>
              <a:rPr lang="en-US"/>
              <a:t>P05 </a:t>
            </a:r>
            <a:r>
              <a:rPr lang="he-IL"/>
              <a:t>כדי לשפר ניסוח ו־</a:t>
            </a:r>
            <a:r>
              <a:rPr lang="en-US"/>
              <a:t>P06 </a:t>
            </a:r>
            <a:r>
              <a:rPr lang="he-IL"/>
              <a:t>לבדיקת פרטים. המעבר לשיפור נעשה באותה שיחה.</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00:40–00:44 | דוגמה מנהלית. הפרומפט המלא עם המקור נמצא ב־</a:t>
            </a:r>
            <a:r>
              <a:rPr lang="en-US"/>
              <a:t>P03. </a:t>
            </a:r>
            <a:r>
              <a:rPr lang="he-IL"/>
              <a:t>לבדוק 11 משתתפים, מחשבים, מקרן, הפסקה ותפקידים. אפשר לבצע בכל כלי צ׳אט; הלוגו מסמן כלי הדגמה בלבד.</a:t>
            </a:r>
          </a:p>
          <a:p>
            <a:pPr rtl="1"/>
            <a:endParaRPr lang="he-IL"/>
          </a:p>
          <a:p>
            <a:pPr rtl="1"/>
            <a:r>
              <a:rPr lang="he-IL"/>
              <a:t>פרומפטים להעתקה</a:t>
            </a:r>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00:44–00:48 | דוגמה להוראה. אין ליצור שאלות קליניות שלא נמצאות במקור. להראות תשובה אחת עם הסעיף ושאלה חסרה. דף ההעתקה כולל כבר את המסמך.</a:t>
            </a:r>
          </a:p>
          <a:p>
            <a:pPr rtl="1"/>
            <a:endParaRPr lang="he-IL"/>
          </a:p>
          <a:p>
            <a:pPr rtl="1"/>
            <a:r>
              <a:rPr lang="he-IL"/>
              <a:t>פרומפטים להעתקה</a:t>
            </a:r>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00:48–01:03 | 15 דקות. </a:t>
            </a:r>
            <a:r>
              <a:rPr lang="en-US"/>
              <a:t>P02 </a:t>
            </a:r>
            <a:r>
              <a:rPr lang="he-IL"/>
              <a:t>לרפואה וסיעוד, </a:t>
            </a:r>
            <a:r>
              <a:rPr lang="en-US"/>
              <a:t>P03 </a:t>
            </a:r>
            <a:r>
              <a:rPr lang="he-IL"/>
              <a:t>למנהלה, </a:t>
            </a:r>
            <a:r>
              <a:rPr lang="en-US"/>
              <a:t>P04 </a:t>
            </a:r>
            <a:r>
              <a:rPr lang="he-IL"/>
              <a:t>להוראה; אחר כך </a:t>
            </a:r>
            <a:r>
              <a:rPr lang="en-US"/>
              <a:t>P05 </a:t>
            </a:r>
            <a:r>
              <a:rPr lang="he-IL"/>
              <a:t>ו־</a:t>
            </a:r>
            <a:r>
              <a:rPr lang="en-US"/>
              <a:t>P06 </a:t>
            </a:r>
            <a:r>
              <a:rPr lang="he-IL"/>
              <a:t>באותה שיחה. לא לרוץ על שלוש הדוגמאות. שומרים את הטיוטה, הפרומפט ושני פרטים שבדקתם.</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01:03–01:20 | בדיקת עמית בזוגות, שתי דוגמאות קצרות ושאלות. להראות לפי הצורך הוספת קובץ והעתקה ל־</a:t>
            </a:r>
            <a:r>
              <a:rPr lang="en-US"/>
              <a:t>Word. </a:t>
            </a:r>
            <a:r>
              <a:rPr lang="he-IL"/>
              <a:t>אם מסיימים מוקדם, משפרים טיוטה ולא מוסיפים כלי. לשמור על הפסקה אחרי 80 דקות.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חלק 3: </a:t>
            </a:r>
            <a:r>
              <a:rPr lang="en-US"/>
              <a:t>Perplexity. </a:t>
            </a:r>
            <a:r>
              <a:rPr lang="he-IL"/>
              <a:t>חיפוש רגיל בחשבון חינמי, לא מצב שדורש תשלום. לפתוח קישורים בפועל. בחלופה משתמשים בחיפוש רגיל בדפדפן. מקור ישן אינו הופך לעדכון מהשנה.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01:40–01:45 | P08 </a:t>
            </a:r>
            <a:r>
              <a:rPr lang="he-IL"/>
              <a:t>המלא בתחום רפואה וסיעוד; </a:t>
            </a:r>
            <a:r>
              <a:rPr lang="en-US"/>
              <a:t>P09 </a:t>
            </a:r>
            <a:r>
              <a:rPr lang="he-IL"/>
              <a:t>למנהלה והוראה עוסק במצגת </a:t>
            </a:r>
            <a:r>
              <a:rPr lang="en-US"/>
              <a:t>PowerPoint </a:t>
            </a:r>
            <a:r>
              <a:rPr lang="he-IL"/>
              <a:t>נגישה. אלה מסלולים חלופיים. להדגים מקור רשמי אחד ולפתוח אותו. דף </a:t>
            </a:r>
            <a:r>
              <a:rPr lang="en-US"/>
              <a:t>WHO </a:t>
            </a:r>
            <a:r>
              <a:rPr lang="he-IL"/>
              <a:t>המקורי מ־2009 אינו מידע חדש.</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01:45–01:55 | 6 דקות עבודה ועוד 4 דקות שיתוף. </a:t>
            </a:r>
            <a:r>
              <a:rPr lang="en-US"/>
              <a:t>P08 </a:t>
            </a:r>
            <a:r>
              <a:rPr lang="he-IL"/>
              <a:t>או </a:t>
            </a:r>
            <a:r>
              <a:rPr lang="en-US"/>
              <a:t>P09. </a:t>
            </a:r>
            <a:r>
              <a:rPr lang="he-IL"/>
              <a:t>פותחים שני קישורים, מזהים גוף ותאריך או העדרו ובודקים משפט אחד במקור. אין החלטת טיפול. חלופה: חיפוש רגיל; קישורי </a:t>
            </a:r>
            <a:r>
              <a:rPr lang="en-US"/>
              <a:t>WHO </a:t>
            </a:r>
            <a:r>
              <a:rPr lang="he-IL"/>
              <a:t>ו־</a:t>
            </a:r>
            <a:r>
              <a:rPr lang="en-US"/>
              <a:t>Microsoft </a:t>
            </a:r>
            <a:r>
              <a:rPr lang="he-IL"/>
              <a:t>מוכנים בדף התרגול.</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01:55–02:00 | חלק 4: </a:t>
            </a:r>
            <a:r>
              <a:rPr lang="en-US"/>
              <a:t>NotebookLM. </a:t>
            </a:r>
            <a:r>
              <a:rPr lang="he-IL"/>
              <a:t>להוסיף מסמכים א וב, באמצעות </a:t>
            </a:r>
            <a:r>
              <a:rPr lang="en-US"/>
              <a:t>txt </a:t>
            </a:r>
            <a:r>
              <a:rPr lang="he-IL"/>
              <a:t>או הדבקת טקסט. בחשבון המשתתף עשוי להופיע שם אחר למוצר. אם אין גישה, מדביקים את המקורות בכלי צ׳אט ומבקשים שם מסמך וסעיף. אין תלות במנוי.</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02:00–02:03 | מסמך ב מחליף במפורש את סעיף 2 של א; לכן ניתן להכריע. השעה החדשה 09:30, חדר 3 והגעה 09:15. תאריך חדש לבדו אינו בהכרח מקור סמכות במסמך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02:03–02:07 | P10 </a:t>
            </a:r>
            <a:r>
              <a:rPr lang="he-IL"/>
              <a:t>להכרעה. אחריו </a:t>
            </a:r>
            <a:r>
              <a:rPr lang="en-US"/>
              <a:t>P11: </a:t>
            </a:r>
            <a:r>
              <a:rPr lang="he-IL"/>
              <a:t>האם יש טלפון או הוראות צום? לא נמצא אינו היתר לאכול ולא הנחיית צום. פותחים את הציטוט, לא מסתפקים במספר קטן ליד התשובה.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02:07–02:20 | 9 דקות עבודה ועוד 4 דקות בדיקה. </a:t>
            </a:r>
            <a:r>
              <a:rPr lang="en-US"/>
              <a:t>P10 </a:t>
            </a:r>
            <a:r>
              <a:rPr lang="he-IL"/>
              <a:t>ו־</a:t>
            </a:r>
            <a:r>
              <a:rPr lang="en-US"/>
              <a:t>P11; P12 </a:t>
            </a:r>
            <a:r>
              <a:rPr lang="he-IL"/>
              <a:t>למי שמסיים. כל משתתף שומר פרט מעודכן, משפט תומך ומידע חסר. בחלופה בודקים את הסעיף ידנית בשיחה רגילה.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חלק 5: סוכן מתכנן, משתמש בכלים ובודק תוצרים. כל צ׳אט יכול לתכנן; ההבדל הוא ביצוע צעדים וכלים, לא מספר המילים בתשובה. היקף היכולות תלוי מוצר והרשאה.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02:24–02:27 | Manus </a:t>
            </a:r>
            <a:r>
              <a:rPr lang="he-IL"/>
              <a:t>הוא כלי ההדגמה. להריץ פעם אחת בחשבון המרצה בהיקף קטן. לבדוק גישה מראש, אין הבטחה לקרדיטים או הצלחה בכל חשבון חינמי. חלופה מלאה: אותו פרומפט בכלי צ׳אט, תוצר אחד בכל פעם.</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02:27–02:30 | דוגמה מנהלית קונקרטית. </a:t>
            </a:r>
            <a:r>
              <a:rPr lang="en-US"/>
              <a:t>P13 </a:t>
            </a:r>
            <a:r>
              <a:rPr lang="he-IL"/>
              <a:t>המלא כולל כבר את מסמך ג. להתבונן בתוכנית, בכלים שנבחרו ובתוצר שנוצר. בחלופה מבקשים בצ׳אט כל תוצר בנפרד ומבהירים שזו חלופת תרגול, לא ביצוע סוכן.</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02:30–02:33 | דוגמה לרפואה, סיעוד והוראה. </a:t>
            </a:r>
            <a:r>
              <a:rPr lang="en-US"/>
              <a:t>P15 </a:t>
            </a:r>
            <a:r>
              <a:rPr lang="he-IL"/>
              <a:t>כולל את שני המסמכים. מטרת הסוכן להכין חבילת תוצרים ולא להכריע החלטה רפואית. לבדוק שהשעה והחדר מעודכנים בכל התוצרים; אין צום או טלפון שהומצאו.</a:t>
            </a:r>
          </a:p>
          <a:p>
            <a:pPr rtl="1"/>
            <a:endParaRPr lang="he-IL"/>
          </a:p>
          <a:p>
            <a:pPr rtl="1"/>
            <a:r>
              <a:rPr lang="he-IL"/>
              <a:t>פרומפטים להעתקה</a:t>
            </a:r>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02:33–02:35 | האדם בודק מקור, עקביות והשלכות. הדגמה קצרה: הטיוטה מוכנה, אבל היא לא נשלחה. עצירה לפני פרסום, רכישה או פעולה חיצונית היא חלק מהמשימה. שום תרגיל כאן אינו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02:35–02:43 | 6 דקות עבודה ועוד 2 דקות שיתוף. </a:t>
            </a:r>
            <a:r>
              <a:rPr lang="en-US"/>
              <a:t>P13 </a:t>
            </a:r>
            <a:r>
              <a:rPr lang="he-IL"/>
              <a:t>למנהלה או </a:t>
            </a:r>
            <a:r>
              <a:rPr lang="en-US"/>
              <a:t>P15 </a:t>
            </a:r>
            <a:r>
              <a:rPr lang="he-IL"/>
              <a:t>לרפואה, סיעוד והוראה. </a:t>
            </a:r>
            <a:r>
              <a:rPr lang="en-US"/>
              <a:t>Manus </a:t>
            </a:r>
            <a:r>
              <a:rPr lang="he-IL"/>
              <a:t>אם זמין; אחרת צ׳אט, צעד אחר צעד. בודקים עקביות ומידע חסר, לא רק מראה יפה. </a:t>
            </a:r>
            <a:r>
              <a:rPr lang="en-US"/>
              <a:t>P14 </a:t>
            </a:r>
            <a:r>
              <a:rPr lang="he-IL"/>
              <a:t>הוא תרגיל הרחבה או בית למי שרוצה.</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02:43–02:44 | חלק 6: המחשות קצרות, לא סקירת חדשות. שלוש תמונות של יכולות והשלכות. אין להסיק מהדגמת חברה שמוצר בטוח לשימוש קליני או זמין לכל אחד.</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02:44–02:46 | צילום השקף המקורי. להבחין בין חיזוי מבנה חלבון לבין טיפול רפואי. לקרוא את הכתבה או את המקור הרשמי, לא להציג תוצאה קלינית. מקור: </a:t>
            </a:r>
            <a:r>
              <a:rPr lang="en-US"/>
              <a:t>https://www.nobelprize.org/prizes/chemistry/2024/press-release/b/ ; https://www.ebi.ac.uk/about/news/alphafold-wins-nobel-prize-chemistry-2024/</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https://www.nobelprize.org/prizes/chemistry/2024/press-release/b/</a:t>
            </a:r>
          </a:p>
          <a:p>
            <a:pPr rtl="1"/>
            <a:r>
              <a:rPr lang="en-US"/>
              <a:t>https://www.ebi.ac.uk/about/news/alphafold-wins-nobel-prize-chemistry-2024/</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02:46–02:48 | להפעיל 30–40 שניות מתוך סרטון </a:t>
            </a:r>
            <a:r>
              <a:rPr lang="en-US"/>
              <a:t>Figure </a:t>
            </a:r>
            <a:r>
              <a:rPr lang="he-IL"/>
              <a:t>הביתי שסופק להרצאה המקורית. זו הדגמת חברה, לא הוכחת התאמה לבית חולים. לבחור פעולה אחת ולהפסיק לדבר בזמן הקליפ. מקור: </a:t>
            </a:r>
            <a:r>
              <a:rPr lang="en-US"/>
              <a:t>https://www.figure.ai/news/introducing-figure-03</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https://www.figure.ai/news/introducing-figure-03</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02:48–02:50 | תמונה מרצף המשחק בהרצאה המקורית. לשאול איך היו בודקים, לא לפסוק מהפיקסלים בלבד. אין כאן מפתח תשובות מאומת, לכן לא פוסקים איזו תמונה אמיתית. מבקשים ראיות מחוץ לתמונה: מקור, פרסום קודם והקשר. סיכום: אותה משמעת בדיקה חלה על טקסט, מקור, תמונה ופעולת סוכן.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02:50–02:57 | אותה מטלת בית: משימה מקצועית לא רגישה, מקור שנפתח ותוצר ששופר. להביא פרומפט ושתי בדיקות. אפשר להשתמש במסמכים הפיקטיביים. אין חובה למנוי. </a:t>
            </a:r>
            <a:r>
              <a:rPr lang="en-US"/>
              <a:t>P14 </a:t>
            </a:r>
            <a:r>
              <a:rPr lang="he-IL"/>
              <a:t>הוא הרחבה אפשרית. להשאיר זמן לשאלות.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הסיום הקודם נשמר. במפגש הבא: נתונים ועוזר אישי, בהתאם לסילבוס. תוצרים, פרומפטים ופרטי קשר נשארים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FBCACD0-9683-45E7-9D8D-649CDD29295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817B8BF-98C2-4408-AE7E-FE29E4033E2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0E23B15-7A2E-4014-8D81-0B8A962FDB2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28C7CF5-5D80-41C6-B92E-0640E1FB1A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759AAEE-92D2-4900-A400-18B3196F2AF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A768EC0-3605-4D0E-89AE-26E8398AE2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63E3419-C84D-4985-9CB8-9A65898A336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4EB8ED92-3A37-4961-97A9-90E623B6B31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5BB3C5F-AB02-421F-9804-A13AF36C606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9187D72-E876-4B3D-A894-BEB509B416E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bin"/><Relationship Id="rId3" Type="http://schemas.openxmlformats.org/officeDocument/2006/relationships/image" Target="../media/image4.bin"/><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 Id="rId9" Type="http://schemas.openxmlformats.org/officeDocument/2006/relationships/image" Target="../media/image10.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www.perplexity.a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hyperlink" Target="videos/figure-03-home.mp4"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1CF34DC8-54F0-48D6-BE44-B819E95A505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E0FFE462-74C9-4CB0-9BFE-F82C19BE2031}"/>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המעבר מצ׳אט&#10;לסוכן">
            <a:extLst>
              <a:ext uri="{FF2B5EF4-FFF2-40B4-BE49-F238E27FC236}">
                <a16:creationId xmlns:a16="http://schemas.microsoft.com/office/drawing/2014/main" id="{21959B36-8246-4081-934E-3BFB9E5CBF98}"/>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המעבר מצ׳אט</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לסוכן</a:t>
            </a:r>
          </a:p>
        </p:txBody>
      </p:sp>
      <p:sp>
        <p:nvSpPr>
          <p:cNvPr id="4" name="editable-כלים מעשיים לעבודה שלכם&#10;מפגש ראשון">
            <a:extLst>
              <a:ext uri="{FF2B5EF4-FFF2-40B4-BE49-F238E27FC236}">
                <a16:creationId xmlns:a16="http://schemas.microsoft.com/office/drawing/2014/main" id="{30CF2AD2-7F08-4A57-9F30-576BE4E908FE}"/>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מעשיים לעבודה שלכם</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p:txBody>
      </p:sp>
      <p:sp>
        <p:nvSpPr>
          <p:cNvPr id="5" name="editable-כפיר משה יעקובי">
            <a:extLst>
              <a:ext uri="{FF2B5EF4-FFF2-40B4-BE49-F238E27FC236}">
                <a16:creationId xmlns:a16="http://schemas.microsoft.com/office/drawing/2014/main" id="{67BF97DC-DBD7-4E1A-BEC5-C4FB86073EC7}"/>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F4321D87-BDD1-4C07-A361-ADFD863C93F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637613380"/>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9F1A9CED-227D-4E48-AC05-87234581F3F4}"/>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5085617F-00C6-4221-9AD0-AAFCEB3C4F3B}"/>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B2FB4B2F-41DC-4B98-9E36-C7143E4128E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47708436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D9C83CAB-E088-45B1-9E93-FD193B46418A}"/>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8AC56ECE-635C-44E7-90B6-D6D0E157113A}"/>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3291AD64-917C-4FB1-B74E-31521C5BF1CA}"/>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4799A710-BC5E-4FCC-9126-4BB766B2F2B0}"/>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E65C0B6F-862E-48AB-8D7E-17CF6AA3D5E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8141964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B769D7B1-67FE-46F4-ACFF-1CC8B42B283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ה זה צ׳אט?">
            <a:extLst>
              <a:ext uri="{FF2B5EF4-FFF2-40B4-BE49-F238E27FC236}">
                <a16:creationId xmlns:a16="http://schemas.microsoft.com/office/drawing/2014/main" id="{2085080C-3AF7-49E0-B585-767F29E03D7D}"/>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מה זה צ׳אט?</a:t>
            </a:r>
          </a:p>
        </p:txBody>
      </p:sp>
      <p:sp>
        <p:nvSpPr>
          <p:cNvPr id="3" name="editable-שיחה שמייצרת טיוטה&#10;על בסיס ההקשר שנ">
            <a:extLst>
              <a:ext uri="{FF2B5EF4-FFF2-40B4-BE49-F238E27FC236}">
                <a16:creationId xmlns:a16="http://schemas.microsoft.com/office/drawing/2014/main" id="{E78406FB-AE80-4A22-BDAE-9E2DABAC3BE1}"/>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שיחה שמייצרת טיוטה</a:t>
            </a:r>
          </a:p>
          <a:p>
            <a:pPr algn="r" rtl="1">
              <a:defRPr sz="2400" b="0">
                <a:solidFill>
                  <a:srgbClr val="7A59BC"/>
                </a:solidFill>
                <a:latin typeface="Arial"/>
                <a:ea typeface="Arial"/>
                <a:cs typeface="Arial"/>
              </a:defRPr>
            </a:pPr>
            <a:r>
              <a:rPr sz="2400" b="0">
                <a:solidFill>
                  <a:srgbClr val="7A59BC"/>
                </a:solidFill>
                <a:latin typeface="Arial"/>
                <a:ea typeface="Arial"/>
                <a:cs typeface="Arial"/>
              </a:rPr>
              <a:t>על בסיס ההקשר שנתתם</a:t>
            </a:r>
          </a:p>
        </p:txBody>
      </p:sp>
      <p:sp>
        <p:nvSpPr>
          <p:cNvPr id="4" name="editable-04">
            <a:extLst>
              <a:ext uri="{FF2B5EF4-FFF2-40B4-BE49-F238E27FC236}">
                <a16:creationId xmlns:a16="http://schemas.microsoft.com/office/drawing/2014/main" id="{1F8B7958-973A-468B-B2FE-B680B00F31F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04</a:t>
            </a:r>
          </a:p>
        </p:txBody>
      </p:sp>
    </p:spTree>
    <p:extLst>
      <p:ext uri="{BB962C8B-B14F-4D97-AF65-F5344CB8AC3E}">
        <p14:creationId xmlns:p14="http://schemas.microsoft.com/office/powerpoint/2010/main" val="18833923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טיוטה, לא סמכות">
            <a:extLst>
              <a:ext uri="{FF2B5EF4-FFF2-40B4-BE49-F238E27FC236}">
                <a16:creationId xmlns:a16="http://schemas.microsoft.com/office/drawing/2014/main" id="{0463E44D-9318-400D-B2DA-10E9022EF9F2}"/>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טיוטה, לא סמכות</a:t>
            </a:r>
          </a:p>
        </p:txBody>
      </p:sp>
      <p:sp>
        <p:nvSpPr>
          <p:cNvPr id="2" name="editable-בודקים את המקור ואת הפרטים&#10;התרגול ה">
            <a:extLst>
              <a:ext uri="{FF2B5EF4-FFF2-40B4-BE49-F238E27FC236}">
                <a16:creationId xmlns:a16="http://schemas.microsoft.com/office/drawing/2014/main" id="{53331247-2CE2-41DD-B278-DA2EE5CDABE8}"/>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בודקים את המקור ואת הפרטים</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התרגול היום על מידע פיקטיבי בלבד</a:t>
            </a:r>
          </a:p>
        </p:txBody>
      </p:sp>
      <p:sp>
        <p:nvSpPr>
          <p:cNvPr id="3" name="editable-05">
            <a:extLst>
              <a:ext uri="{FF2B5EF4-FFF2-40B4-BE49-F238E27FC236}">
                <a16:creationId xmlns:a16="http://schemas.microsoft.com/office/drawing/2014/main" id="{0937AA65-E5F1-4431-B611-8096525250C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05</a:t>
            </a:r>
          </a:p>
        </p:txBody>
      </p:sp>
    </p:spTree>
    <p:extLst>
      <p:ext uri="{BB962C8B-B14F-4D97-AF65-F5344CB8AC3E}">
        <p14:creationId xmlns:p14="http://schemas.microsoft.com/office/powerpoint/2010/main" val="85526488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1" name="editable-כלי העבודה שלנו">
            <a:extLst>
              <a:ext uri="{FF2B5EF4-FFF2-40B4-BE49-F238E27FC236}">
                <a16:creationId xmlns:a16="http://schemas.microsoft.com/office/drawing/2014/main" id="{9A3A36C7-3062-4406-A8A3-B40A4BC030F2}"/>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כלי העבודה שלנו</a:t>
            </a:r>
          </a:p>
        </p:txBody>
      </p:sp>
      <p:pic>
        <p:nvPicPr>
          <p:cNvPr id="2" name="תמונה 1">
            <a:extLst>
              <a:ext uri="{FF2B5EF4-FFF2-40B4-BE49-F238E27FC236}">
                <a16:creationId xmlns:a16="http://schemas.microsoft.com/office/drawing/2014/main" id="{C7273628-35A4-46D5-BAE8-4DAE0B2EA50F}"/>
              </a:ext>
            </a:extLst>
          </p:cNvPr>
          <p:cNvPicPr>
            <a:picLocks noChangeAspect="1"/>
          </p:cNvPicPr>
          <p:nvPr/>
        </p:nvPicPr>
        <p:blipFill>
          <a:blip r:embed="rId3"/>
          <a:stretch/>
        </p:blipFill>
        <p:spPr>
          <a:xfrm>
            <a:off x="8905875" y="2469216"/>
            <a:ext cx="2381250" cy="700368"/>
          </a:xfrm>
          <a:prstGeom prst="rect">
            <a:avLst/>
          </a:prstGeom>
        </p:spPr>
      </p:pic>
      <p:pic>
        <p:nvPicPr>
          <p:cNvPr id="3" name="תמונה 2">
            <a:extLst>
              <a:ext uri="{FF2B5EF4-FFF2-40B4-BE49-F238E27FC236}">
                <a16:creationId xmlns:a16="http://schemas.microsoft.com/office/drawing/2014/main" id="{CB004232-BA8A-4642-AD4C-319EAF2E8B67}"/>
              </a:ext>
            </a:extLst>
          </p:cNvPr>
          <p:cNvPicPr>
            <a:picLocks noChangeAspect="1"/>
          </p:cNvPicPr>
          <p:nvPr/>
        </p:nvPicPr>
        <p:blipFill>
          <a:blip r:embed="rId4"/>
          <a:stretch/>
        </p:blipFill>
        <p:spPr>
          <a:xfrm>
            <a:off x="6238875" y="2550838"/>
            <a:ext cx="2381250" cy="537124"/>
          </a:xfrm>
          <a:prstGeom prst="rect">
            <a:avLst/>
          </a:prstGeom>
        </p:spPr>
      </p:pic>
      <p:pic>
        <p:nvPicPr>
          <p:cNvPr id="4" name="תמונה 3">
            <a:extLst>
              <a:ext uri="{FF2B5EF4-FFF2-40B4-BE49-F238E27FC236}">
                <a16:creationId xmlns:a16="http://schemas.microsoft.com/office/drawing/2014/main" id="{1461DC61-D77D-47E9-B093-9D3D3481A2D6}"/>
              </a:ext>
            </a:extLst>
          </p:cNvPr>
          <p:cNvPicPr>
            <a:picLocks noChangeAspect="1"/>
          </p:cNvPicPr>
          <p:nvPr/>
        </p:nvPicPr>
        <p:blipFill>
          <a:blip r:embed="rId5"/>
          <a:stretch/>
        </p:blipFill>
        <p:spPr>
          <a:xfrm>
            <a:off x="3571875" y="2561503"/>
            <a:ext cx="2381250" cy="515794"/>
          </a:xfrm>
          <a:prstGeom prst="rect">
            <a:avLst/>
          </a:prstGeom>
        </p:spPr>
      </p:pic>
      <p:pic>
        <p:nvPicPr>
          <p:cNvPr id="5" name="תמונה 4">
            <a:extLst>
              <a:ext uri="{FF2B5EF4-FFF2-40B4-BE49-F238E27FC236}">
                <a16:creationId xmlns:a16="http://schemas.microsoft.com/office/drawing/2014/main" id="{15B5ED9B-6985-4549-9BA6-6C90794E1EEB}"/>
              </a:ext>
            </a:extLst>
          </p:cNvPr>
          <p:cNvPicPr>
            <a:picLocks noChangeAspect="1"/>
          </p:cNvPicPr>
          <p:nvPr/>
        </p:nvPicPr>
        <p:blipFill>
          <a:blip r:embed="rId6"/>
          <a:stretch/>
        </p:blipFill>
        <p:spPr>
          <a:xfrm>
            <a:off x="904875" y="2569327"/>
            <a:ext cx="2381250" cy="500146"/>
          </a:xfrm>
          <a:prstGeom prst="rect">
            <a:avLst/>
          </a:prstGeom>
        </p:spPr>
      </p:pic>
      <p:pic>
        <p:nvPicPr>
          <p:cNvPr id="6" name="גרפיקה 5">
            <a:extLst>
              <a:ext uri="{FF2B5EF4-FFF2-40B4-BE49-F238E27FC236}">
                <a16:creationId xmlns:a16="http://schemas.microsoft.com/office/drawing/2014/main" id="{BEC54A13-85F3-40F5-8A45-CAC63B7BD82F}"/>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7667625" y="4238625"/>
            <a:ext cx="2381250" cy="781050"/>
          </a:xfrm>
          <a:prstGeom prst="rect">
            <a:avLst/>
          </a:prstGeom>
        </p:spPr>
      </p:pic>
      <p:pic>
        <p:nvPicPr>
          <p:cNvPr id="7" name="תמונה 6">
            <a:extLst>
              <a:ext uri="{FF2B5EF4-FFF2-40B4-BE49-F238E27FC236}">
                <a16:creationId xmlns:a16="http://schemas.microsoft.com/office/drawing/2014/main" id="{FDD24160-4DB0-4D42-B16B-A2CB882587C8}"/>
              </a:ext>
            </a:extLst>
          </p:cNvPr>
          <p:cNvPicPr>
            <a:picLocks noChangeAspect="1"/>
          </p:cNvPicPr>
          <p:nvPr/>
        </p:nvPicPr>
        <p:blipFill>
          <a:blip r:embed="rId8"/>
          <a:stretch/>
        </p:blipFill>
        <p:spPr>
          <a:xfrm>
            <a:off x="4810125" y="4502188"/>
            <a:ext cx="2381250" cy="253925"/>
          </a:xfrm>
          <a:prstGeom prst="rect">
            <a:avLst/>
          </a:prstGeom>
        </p:spPr>
      </p:pic>
      <p:pic>
        <p:nvPicPr>
          <p:cNvPr id="8" name="תמונה 7">
            <a:extLst>
              <a:ext uri="{FF2B5EF4-FFF2-40B4-BE49-F238E27FC236}">
                <a16:creationId xmlns:a16="http://schemas.microsoft.com/office/drawing/2014/main" id="{3B54D628-1BBB-408A-A8A3-80AC283A4F90}"/>
              </a:ext>
            </a:extLst>
          </p:cNvPr>
          <p:cNvPicPr>
            <a:picLocks noChangeAspect="1"/>
          </p:cNvPicPr>
          <p:nvPr/>
        </p:nvPicPr>
        <p:blipFill>
          <a:blip r:embed="rId9"/>
          <a:stretch/>
        </p:blipFill>
        <p:spPr>
          <a:xfrm>
            <a:off x="1952625" y="4311650"/>
            <a:ext cx="2381250" cy="635000"/>
          </a:xfrm>
          <a:prstGeom prst="rect">
            <a:avLst/>
          </a:prstGeom>
        </p:spPr>
      </p:pic>
      <p:sp>
        <p:nvSpPr>
          <p:cNvPr id="9" name="editable-צ׳אט · חיפוש · מקורות · סוכן">
            <a:extLst>
              <a:ext uri="{FF2B5EF4-FFF2-40B4-BE49-F238E27FC236}">
                <a16:creationId xmlns:a16="http://schemas.microsoft.com/office/drawing/2014/main" id="{5B2D56E6-4BBC-4FBB-AC96-6596997566B1}"/>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צ׳אט · חיפוש · מקורות · סוכן</a:t>
            </a:r>
          </a:p>
        </p:txBody>
      </p:sp>
      <p:sp>
        <p:nvSpPr>
          <p:cNvPr id="10" name="editable-06">
            <a:extLst>
              <a:ext uri="{FF2B5EF4-FFF2-40B4-BE49-F238E27FC236}">
                <a16:creationId xmlns:a16="http://schemas.microsoft.com/office/drawing/2014/main" id="{FB1A82F5-38F3-4B16-9BF5-44E44B7A759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06</a:t>
            </a:r>
          </a:p>
        </p:txBody>
      </p:sp>
    </p:spTree>
    <p:extLst>
      <p:ext uri="{BB962C8B-B14F-4D97-AF65-F5344CB8AC3E}">
        <p14:creationId xmlns:p14="http://schemas.microsoft.com/office/powerpoint/2010/main" val="229047400"/>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20"/>
                                        <p:tgtEl>
                                          <p:spTgt spid="11"/>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איך בוחרים כלי?">
            <a:extLst>
              <a:ext uri="{FF2B5EF4-FFF2-40B4-BE49-F238E27FC236}">
                <a16:creationId xmlns:a16="http://schemas.microsoft.com/office/drawing/2014/main" id="{6EF47116-1026-44C1-BBE4-FEDFE3D4E24C}"/>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בוחרים כלי?</a:t>
            </a:r>
          </a:p>
        </p:txBody>
      </p:sp>
      <p:sp>
        <p:nvSpPr>
          <p:cNvPr id="2" name="editable-זמין בחשבון שלכם">
            <a:extLst>
              <a:ext uri="{FF2B5EF4-FFF2-40B4-BE49-F238E27FC236}">
                <a16:creationId xmlns:a16="http://schemas.microsoft.com/office/drawing/2014/main" id="{C3C9B7E5-A5E2-4564-B2F3-A48063C3E548}"/>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זמין בחשבון שלכם</a:t>
            </a:r>
          </a:p>
        </p:txBody>
      </p:sp>
      <p:sp>
        <p:nvSpPr>
          <p:cNvPr id="3" name="editable-מתאים למשימה ולקבצים">
            <a:extLst>
              <a:ext uri="{FF2B5EF4-FFF2-40B4-BE49-F238E27FC236}">
                <a16:creationId xmlns:a16="http://schemas.microsoft.com/office/drawing/2014/main" id="{6C046915-892F-4D71-A607-8092F095DEB6}"/>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מתאים למשימה ולקבצים</a:t>
            </a:r>
          </a:p>
        </p:txBody>
      </p:sp>
      <p:sp>
        <p:nvSpPr>
          <p:cNvPr id="4" name="editable-תוצאה שאפשר לבדוק">
            <a:extLst>
              <a:ext uri="{FF2B5EF4-FFF2-40B4-BE49-F238E27FC236}">
                <a16:creationId xmlns:a16="http://schemas.microsoft.com/office/drawing/2014/main" id="{A662DD6A-0F15-49FA-868D-6C0A4EDBC3C6}"/>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תוצאה שאפשר לבדוק</a:t>
            </a:r>
          </a:p>
        </p:txBody>
      </p:sp>
      <p:sp>
        <p:nvSpPr>
          <p:cNvPr id="5" name="editable-07">
            <a:extLst>
              <a:ext uri="{FF2B5EF4-FFF2-40B4-BE49-F238E27FC236}">
                <a16:creationId xmlns:a16="http://schemas.microsoft.com/office/drawing/2014/main" id="{63F62BD0-5F88-495A-9C2C-54D6F9987B0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07</a:t>
            </a:r>
          </a:p>
        </p:txBody>
      </p:sp>
    </p:spTree>
    <p:extLst>
      <p:ext uri="{BB962C8B-B14F-4D97-AF65-F5344CB8AC3E}">
        <p14:creationId xmlns:p14="http://schemas.microsoft.com/office/powerpoint/2010/main" val="152844896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פרסונליזציה">
            <a:extLst>
              <a:ext uri="{FF2B5EF4-FFF2-40B4-BE49-F238E27FC236}">
                <a16:creationId xmlns:a16="http://schemas.microsoft.com/office/drawing/2014/main" id="{D916EF4B-0B2D-4C7C-9BFF-775DD81A709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פרסונליזציה</a:t>
            </a:r>
          </a:p>
        </p:txBody>
      </p:sp>
      <p:pic>
        <p:nvPicPr>
          <p:cNvPr id="2" name="תמונה 1">
            <a:extLst>
              <a:ext uri="{FF2B5EF4-FFF2-40B4-BE49-F238E27FC236}">
                <a16:creationId xmlns:a16="http://schemas.microsoft.com/office/drawing/2014/main" id="{1777E826-38B4-4F14-8B3F-17F7A85C93F0}"/>
              </a:ext>
            </a:extLst>
          </p:cNvPr>
          <p:cNvPicPr>
            <a:picLocks noChangeAspect="1"/>
          </p:cNvPicPr>
          <p:nvPr/>
        </p:nvPicPr>
        <p:blipFill>
          <a:blip r:embed="rId3"/>
          <a:stretch/>
        </p:blipFill>
        <p:spPr>
          <a:xfrm>
            <a:off x="857250" y="966461"/>
            <a:ext cx="2333625" cy="505478"/>
          </a:xfrm>
          <a:prstGeom prst="rect">
            <a:avLst/>
          </a:prstGeom>
        </p:spPr>
      </p:pic>
      <p:sp>
        <p:nvSpPr>
          <p:cNvPr id="3" name="editable-התאמה קבועה לסגנון העבודה שלכם">
            <a:extLst>
              <a:ext uri="{FF2B5EF4-FFF2-40B4-BE49-F238E27FC236}">
                <a16:creationId xmlns:a16="http://schemas.microsoft.com/office/drawing/2014/main" id="{07E22B89-7776-420B-9343-A320430B1CB5}"/>
              </a:ext>
            </a:extLst>
          </p:cNvPr>
          <p:cNvSpPr>
            <a:spLocks noGrp="1"/>
          </p:cNvSpPr>
          <p:nvPr/>
        </p:nvSpPr>
        <p:spPr>
          <a:xfrm>
            <a:off x="857250" y="2181225"/>
            <a:ext cx="10477500" cy="70485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התאמה קבועה לסגנון העבודה שלכם</a:t>
            </a:r>
          </a:p>
        </p:txBody>
      </p:sp>
      <p:sp>
        <p:nvSpPr>
          <p:cNvPr id="4" name="editable-כתבו בעברית פשוטה ובנקודות קצרות.&#10;כ">
            <a:extLst>
              <a:ext uri="{FF2B5EF4-FFF2-40B4-BE49-F238E27FC236}">
                <a16:creationId xmlns:a16="http://schemas.microsoft.com/office/drawing/2014/main" id="{04747523-DC8A-46EE-A3FB-D9E96D7C337A}"/>
              </a:ext>
            </a:extLst>
          </p:cNvPr>
          <p:cNvSpPr>
            <a:spLocks noGrp="1"/>
          </p:cNvSpPr>
          <p:nvPr/>
        </p:nvSpPr>
        <p:spPr>
          <a:xfrm>
            <a:off x="857250" y="3171825"/>
            <a:ext cx="10477500" cy="1390650"/>
          </a:xfrm>
          <a:prstGeom prst="rect">
            <a:avLst/>
          </a:prstGeom>
          <a:noFill/>
          <a:ln w="0">
            <a:noFill/>
          </a:ln>
        </p:spPr>
        <p:txBody>
          <a:bodyPr lIns="0" tIns="0" rIns="0" bIns="0" anchor="ctr">
            <a:noAutofit/>
          </a:bodyPr>
          <a:lstStyle>
            <a:defPPr algn="r">
              <a:defRPr sz="2400" b="0">
                <a:solidFill>
                  <a:srgbClr val="191B2B"/>
                </a:solidFill>
                <a:latin typeface="Arial"/>
                <a:ea typeface="Arial"/>
                <a:cs typeface="Arial"/>
              </a:defRPr>
            </a:defPPr>
          </a:lstStyle>
          <a:p>
            <a:pPr algn="r" rtl="1">
              <a:defRPr sz="2400" b="0">
                <a:solidFill>
                  <a:srgbClr val="191B2B"/>
                </a:solidFill>
                <a:latin typeface="Arial"/>
                <a:ea typeface="Arial"/>
                <a:cs typeface="Arial"/>
              </a:defRPr>
            </a:pPr>
            <a:r>
              <a:rPr sz="2400" b="0">
                <a:solidFill>
                  <a:srgbClr val="191B2B"/>
                </a:solidFill>
                <a:latin typeface="Arial"/>
                <a:ea typeface="Arial"/>
                <a:cs typeface="Arial"/>
              </a:rPr>
              <a:t>כתבו בעברית פשוטה ובנקודות קצרות.</a:t>
            </a:r>
          </a:p>
          <a:p>
            <a:pPr algn="r" rtl="1">
              <a:defRPr sz="2400" b="0">
                <a:solidFill>
                  <a:srgbClr val="191B2B"/>
                </a:solidFill>
                <a:latin typeface="Arial"/>
                <a:ea typeface="Arial"/>
                <a:cs typeface="Arial"/>
              </a:defRPr>
            </a:pPr>
            <a:r>
              <a:rPr sz="2400" b="0">
                <a:solidFill>
                  <a:srgbClr val="191B2B"/>
                </a:solidFill>
                <a:latin typeface="Arial"/>
                <a:ea typeface="Arial"/>
                <a:cs typeface="Arial"/>
              </a:rPr>
              <a:t>כשמידע חסר, שאלו אותי ואל תשלימו אותו.</a:t>
            </a:r>
          </a:p>
        </p:txBody>
      </p:sp>
      <p:sp>
        <p:nvSpPr>
          <p:cNvPr id="5" name="editable-בהגדרות: הוראות אישיות, או בתחילת ה">
            <a:extLst>
              <a:ext uri="{FF2B5EF4-FFF2-40B4-BE49-F238E27FC236}">
                <a16:creationId xmlns:a16="http://schemas.microsoft.com/office/drawing/2014/main" id="{6C88B5B8-34AA-4C49-972F-54C92D07AEE8}"/>
              </a:ext>
            </a:extLst>
          </p:cNvPr>
          <p:cNvSpPr>
            <a:spLocks noGrp="1"/>
          </p:cNvSpPr>
          <p:nvPr/>
        </p:nvSpPr>
        <p:spPr>
          <a:xfrm>
            <a:off x="857250" y="4914900"/>
            <a:ext cx="10477500" cy="495300"/>
          </a:xfrm>
          <a:prstGeom prst="rect">
            <a:avLst/>
          </a:prstGeom>
          <a:noFill/>
          <a:ln w="0">
            <a:noFill/>
          </a:ln>
        </p:spPr>
        <p:txBody>
          <a:bodyPr lIns="0" tIns="0" rIns="0" bIns="0" anchor="ctr">
            <a:noAutofit/>
          </a:bodyPr>
          <a:lstStyle>
            <a:defPPr algn="r">
              <a:defRPr sz="2100" b="0">
                <a:solidFill>
                  <a:srgbClr val="5D647C"/>
                </a:solidFill>
                <a:latin typeface="Arial"/>
                <a:ea typeface="Arial"/>
                <a:cs typeface="Arial"/>
              </a:defRPr>
            </a:defPPr>
          </a:lstStyle>
          <a:p>
            <a:pPr algn="r" rtl="1">
              <a:defRPr sz="2100" b="0">
                <a:solidFill>
                  <a:srgbClr val="5D647C"/>
                </a:solidFill>
                <a:latin typeface="Arial"/>
                <a:ea typeface="Arial"/>
                <a:cs typeface="Arial"/>
              </a:defRPr>
            </a:pPr>
            <a:r>
              <a:rPr sz="2100" b="0">
                <a:solidFill>
                  <a:srgbClr val="5D647C"/>
                </a:solidFill>
                <a:latin typeface="Arial"/>
                <a:ea typeface="Arial"/>
                <a:cs typeface="Arial"/>
              </a:rPr>
              <a:t>בהגדרות: הוראות אישיות, או בתחילת השיחה</a:t>
            </a:r>
          </a:p>
        </p:txBody>
      </p:sp>
      <p:sp>
        <p:nvSpPr>
          <p:cNvPr id="6" name="editable-תפקיד וסגנון — בלי מידע רגיש">
            <a:extLst>
              <a:ext uri="{FF2B5EF4-FFF2-40B4-BE49-F238E27FC236}">
                <a16:creationId xmlns:a16="http://schemas.microsoft.com/office/drawing/2014/main" id="{27949153-822C-4703-A002-AD3AE3F18497}"/>
              </a:ext>
            </a:extLst>
          </p:cNvPr>
          <p:cNvSpPr>
            <a:spLocks noGrp="1"/>
          </p:cNvSpPr>
          <p:nvPr/>
        </p:nvSpPr>
        <p:spPr>
          <a:xfrm>
            <a:off x="857250" y="5581650"/>
            <a:ext cx="10477500" cy="4191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תפקיד וסגנון — בלי מידע רגיש</a:t>
            </a:r>
          </a:p>
        </p:txBody>
      </p:sp>
      <p:sp>
        <p:nvSpPr>
          <p:cNvPr id="7" name="editable-P16">
            <a:extLst>
              <a:ext uri="{FF2B5EF4-FFF2-40B4-BE49-F238E27FC236}">
                <a16:creationId xmlns:a16="http://schemas.microsoft.com/office/drawing/2014/main" id="{CFA19B88-6F31-4704-95C9-B92E27F8D9E5}"/>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P16</a:t>
            </a:r>
          </a:p>
        </p:txBody>
      </p:sp>
      <p:sp>
        <p:nvSpPr>
          <p:cNvPr id="8" name="editable-08">
            <a:extLst>
              <a:ext uri="{FF2B5EF4-FFF2-40B4-BE49-F238E27FC236}">
                <a16:creationId xmlns:a16="http://schemas.microsoft.com/office/drawing/2014/main" id="{A85C6DFC-7924-45F8-986C-415E6EE0B63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08</a:t>
            </a:r>
          </a:p>
        </p:txBody>
      </p:sp>
    </p:spTree>
    <p:extLst>
      <p:ext uri="{BB962C8B-B14F-4D97-AF65-F5344CB8AC3E}">
        <p14:creationId xmlns:p14="http://schemas.microsoft.com/office/powerpoint/2010/main" val="27706638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כותבים פרומפט?">
            <a:extLst>
              <a:ext uri="{FF2B5EF4-FFF2-40B4-BE49-F238E27FC236}">
                <a16:creationId xmlns:a16="http://schemas.microsoft.com/office/drawing/2014/main" id="{04406FF2-B2FE-4255-AD34-416FADB77938}"/>
              </a:ext>
            </a:extLst>
          </p:cNvPr>
          <p:cNvSpPr>
            <a:spLocks noGrp="1"/>
          </p:cNvSpPr>
          <p:nvPr/>
        </p:nvSpPr>
        <p:spPr>
          <a:xfrm>
            <a:off x="857250" y="952500"/>
            <a:ext cx="10477500" cy="14287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כותבים פרומפט?</a:t>
            </a:r>
          </a:p>
        </p:txBody>
      </p:sp>
      <p:sp>
        <p:nvSpPr>
          <p:cNvPr id="2" name="editable-משימה + הקשר + תוצר + גבולות">
            <a:extLst>
              <a:ext uri="{FF2B5EF4-FFF2-40B4-BE49-F238E27FC236}">
                <a16:creationId xmlns:a16="http://schemas.microsoft.com/office/drawing/2014/main" id="{2A5FA3D2-D627-4AD2-BDE1-BEC1CA73A640}"/>
              </a:ext>
            </a:extLst>
          </p:cNvPr>
          <p:cNvSpPr>
            <a:spLocks noGrp="1"/>
          </p:cNvSpPr>
          <p:nvPr/>
        </p:nvSpPr>
        <p:spPr>
          <a:xfrm>
            <a:off x="857250" y="2857500"/>
            <a:ext cx="10477500" cy="1047750"/>
          </a:xfrm>
          <a:prstGeom prst="rect">
            <a:avLst/>
          </a:prstGeom>
          <a:noFill/>
          <a:ln w="0">
            <a:noFill/>
          </a:ln>
        </p:spPr>
        <p:txBody>
          <a:bodyPr lIns="0" tIns="0" rIns="0" bIns="0" anchor="ctr">
            <a:noAutofit/>
          </a:bodyPr>
          <a:lstStyle>
            <a:defPPr algn="ctr">
              <a:defRPr sz="3900" b="1">
                <a:gradFill>
                  <a:gsLst>
                    <a:gs pos="0">
                      <a:srgbClr val="4378AB"/>
                    </a:gs>
                    <a:gs pos="100000">
                      <a:srgbClr val="7A59BC"/>
                    </a:gs>
                  </a:gsLst>
                  <a:lin ang="0"/>
                </a:gradFill>
                <a:latin typeface="Arial"/>
                <a:ea typeface="Arial"/>
                <a:cs typeface="Arial"/>
              </a:defRPr>
            </a:defPPr>
          </a:lstStyle>
          <a:p>
            <a:pPr algn="ctr" rtl="1">
              <a:defRPr sz="3900" b="1">
                <a:solidFill>
                  <a:srgbClr val="7A59BC"/>
                </a:solidFill>
                <a:latin typeface="Arial"/>
                <a:ea typeface="Arial"/>
                <a:cs typeface="Arial"/>
              </a:defRPr>
            </a:pPr>
            <a:r>
              <a:rPr sz="3900" b="1">
                <a:gradFill>
                  <a:gsLst>
                    <a:gs pos="0">
                      <a:srgbClr val="4378AB"/>
                    </a:gs>
                    <a:gs pos="100000">
                      <a:srgbClr val="7A59BC"/>
                    </a:gs>
                  </a:gsLst>
                  <a:lin ang="0"/>
                </a:gradFill>
                <a:latin typeface="Arial"/>
                <a:ea typeface="Arial"/>
                <a:cs typeface="Arial"/>
              </a:rPr>
              <a:t>משימה + הקשר + תוצר + גבולות</a:t>
            </a:r>
          </a:p>
        </p:txBody>
      </p:sp>
      <p:sp>
        <p:nvSpPr>
          <p:cNvPr id="3" name="editable-מה עושים, למי ובאיזה פורמט — ועל מה">
            <a:extLst>
              <a:ext uri="{FF2B5EF4-FFF2-40B4-BE49-F238E27FC236}">
                <a16:creationId xmlns:a16="http://schemas.microsoft.com/office/drawing/2014/main" id="{D2BD46FB-76D3-4F9F-9A02-B562739CB8FC}"/>
              </a:ext>
            </a:extLst>
          </p:cNvPr>
          <p:cNvSpPr>
            <a:spLocks noGrp="1"/>
          </p:cNvSpPr>
          <p:nvPr/>
        </p:nvSpPr>
        <p:spPr>
          <a:xfrm>
            <a:off x="857250" y="4476750"/>
            <a:ext cx="10477500" cy="1047750"/>
          </a:xfrm>
          <a:prstGeom prst="rect">
            <a:avLst/>
          </a:prstGeom>
          <a:noFill/>
          <a:ln w="0">
            <a:noFill/>
          </a:ln>
        </p:spPr>
        <p:txBody>
          <a:bodyPr lIns="0" tIns="0" rIns="0" bIns="0" anchor="ctr">
            <a:noAutofit/>
          </a:bodyPr>
          <a:lstStyle>
            <a:defPPr algn="ctr">
              <a:defRPr sz="2250" b="0">
                <a:solidFill>
                  <a:srgbClr val="5D647C"/>
                </a:solidFill>
                <a:latin typeface="Arial"/>
                <a:ea typeface="Arial"/>
                <a:cs typeface="Arial"/>
              </a:defRPr>
            </a:defPPr>
          </a:lstStyle>
          <a:p>
            <a:pPr algn="ctr" rtl="1">
              <a:defRPr sz="2250" b="0">
                <a:solidFill>
                  <a:srgbClr val="5D647C"/>
                </a:solidFill>
                <a:latin typeface="Arial"/>
                <a:ea typeface="Arial"/>
                <a:cs typeface="Arial"/>
              </a:defRPr>
            </a:pPr>
            <a:r>
              <a:rPr sz="2250" b="0">
                <a:solidFill>
                  <a:srgbClr val="5D647C"/>
                </a:solidFill>
                <a:latin typeface="Arial"/>
                <a:ea typeface="Arial"/>
                <a:cs typeface="Arial"/>
              </a:rPr>
              <a:t>מה עושים, למי ובאיזה פורמט — ועל מה מותר להסתמך</a:t>
            </a:r>
          </a:p>
        </p:txBody>
      </p:sp>
      <p:sp>
        <p:nvSpPr>
          <p:cNvPr id="4" name="editable-09">
            <a:extLst>
              <a:ext uri="{FF2B5EF4-FFF2-40B4-BE49-F238E27FC236}">
                <a16:creationId xmlns:a16="http://schemas.microsoft.com/office/drawing/2014/main" id="{8C2D92B4-3870-4455-A9F6-DCFE1ECA6E4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09</a:t>
            </a:r>
          </a:p>
        </p:txBody>
      </p:sp>
    </p:spTree>
    <p:extLst>
      <p:ext uri="{BB962C8B-B14F-4D97-AF65-F5344CB8AC3E}">
        <p14:creationId xmlns:p14="http://schemas.microsoft.com/office/powerpoint/2010/main" val="73575980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4" name="editable-דוגמה: הודעת הדרכה">
            <a:extLst>
              <a:ext uri="{FF2B5EF4-FFF2-40B4-BE49-F238E27FC236}">
                <a16:creationId xmlns:a16="http://schemas.microsoft.com/office/drawing/2014/main" id="{32CE7532-314D-4D55-9DCA-46869F7E829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דוגמה: הודעת הדרכה</a:t>
            </a:r>
          </a:p>
        </p:txBody>
      </p:sp>
      <p:pic>
        <p:nvPicPr>
          <p:cNvPr id="2" name="תמונה 1">
            <a:extLst>
              <a:ext uri="{FF2B5EF4-FFF2-40B4-BE49-F238E27FC236}">
                <a16:creationId xmlns:a16="http://schemas.microsoft.com/office/drawing/2014/main" id="{D5679300-084D-4546-8DC4-40052400C4D4}"/>
              </a:ext>
            </a:extLst>
          </p:cNvPr>
          <p:cNvPicPr>
            <a:picLocks noChangeAspect="1"/>
          </p:cNvPicPr>
          <p:nvPr/>
        </p:nvPicPr>
        <p:blipFill>
          <a:blip r:embed="rId3"/>
          <a:stretch/>
        </p:blipFill>
        <p:spPr>
          <a:xfrm>
            <a:off x="987743" y="914400"/>
            <a:ext cx="2072640" cy="609600"/>
          </a:xfrm>
          <a:prstGeom prst="rect">
            <a:avLst/>
          </a:prstGeom>
        </p:spPr>
      </p:pic>
      <p:sp>
        <p:nvSpPr>
          <p:cNvPr id="3" name="editable-משימה">
            <a:extLst>
              <a:ext uri="{FF2B5EF4-FFF2-40B4-BE49-F238E27FC236}">
                <a16:creationId xmlns:a16="http://schemas.microsoft.com/office/drawing/2014/main" id="{538627EB-AB89-499E-9D21-347D0A2DE09D}"/>
              </a:ext>
            </a:extLst>
          </p:cNvPr>
          <p:cNvSpPr>
            <a:spLocks noGrp="1"/>
          </p:cNvSpPr>
          <p:nvPr/>
        </p:nvSpPr>
        <p:spPr>
          <a:xfrm>
            <a:off x="9477375" y="22098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משימה</a:t>
            </a:r>
          </a:p>
        </p:txBody>
      </p:sp>
      <p:sp>
        <p:nvSpPr>
          <p:cNvPr id="4" name="editable-נסח הודעה למטופלים ולמלווים על מפגש">
            <a:extLst>
              <a:ext uri="{FF2B5EF4-FFF2-40B4-BE49-F238E27FC236}">
                <a16:creationId xmlns:a16="http://schemas.microsoft.com/office/drawing/2014/main" id="{7903E638-7CA1-4E35-937B-BB0C2B09E68F}"/>
              </a:ext>
            </a:extLst>
          </p:cNvPr>
          <p:cNvSpPr>
            <a:spLocks noGrp="1"/>
          </p:cNvSpPr>
          <p:nvPr/>
        </p:nvSpPr>
        <p:spPr>
          <a:xfrm>
            <a:off x="857250" y="22098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נסח הודעה למטופלים ולמלווים על מפגש הדרכה.</a:t>
            </a:r>
          </a:p>
        </p:txBody>
      </p:sp>
      <p:sp>
        <p:nvSpPr>
          <p:cNvPr id="5" name="editable-הקשר">
            <a:extLst>
              <a:ext uri="{FF2B5EF4-FFF2-40B4-BE49-F238E27FC236}">
                <a16:creationId xmlns:a16="http://schemas.microsoft.com/office/drawing/2014/main" id="{B15CCC56-36B8-4F71-85A5-F2701B836999}"/>
              </a:ext>
            </a:extLst>
          </p:cNvPr>
          <p:cNvSpPr>
            <a:spLocks noGrp="1"/>
          </p:cNvSpPr>
          <p:nvPr/>
        </p:nvSpPr>
        <p:spPr>
          <a:xfrm>
            <a:off x="9477375" y="29908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הקשר</a:t>
            </a:r>
          </a:p>
        </p:txBody>
      </p:sp>
      <p:sp>
        <p:nvSpPr>
          <p:cNvPr id="6" name="editable-מסמך א המצורף בלבד. עברית פשוטה.">
            <a:extLst>
              <a:ext uri="{FF2B5EF4-FFF2-40B4-BE49-F238E27FC236}">
                <a16:creationId xmlns:a16="http://schemas.microsoft.com/office/drawing/2014/main" id="{110DA4D7-4A19-40D8-8206-6F2727412F7A}"/>
              </a:ext>
            </a:extLst>
          </p:cNvPr>
          <p:cNvSpPr>
            <a:spLocks noGrp="1"/>
          </p:cNvSpPr>
          <p:nvPr/>
        </p:nvSpPr>
        <p:spPr>
          <a:xfrm>
            <a:off x="857250" y="29908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מסמך א המצורף בלבד. עברית פשוטה.</a:t>
            </a:r>
          </a:p>
        </p:txBody>
      </p:sp>
      <p:sp>
        <p:nvSpPr>
          <p:cNvPr id="7" name="editable-תוצר">
            <a:extLst>
              <a:ext uri="{FF2B5EF4-FFF2-40B4-BE49-F238E27FC236}">
                <a16:creationId xmlns:a16="http://schemas.microsoft.com/office/drawing/2014/main" id="{4472B538-534C-462D-99A2-3EF1494F1068}"/>
              </a:ext>
            </a:extLst>
          </p:cNvPr>
          <p:cNvSpPr>
            <a:spLocks noGrp="1"/>
          </p:cNvSpPr>
          <p:nvPr/>
        </p:nvSpPr>
        <p:spPr>
          <a:xfrm>
            <a:off x="9477375" y="37719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תוצר</a:t>
            </a:r>
          </a:p>
        </p:txBody>
      </p:sp>
      <p:sp>
        <p:nvSpPr>
          <p:cNvPr id="8" name="editable-עד 90 מילים: שעה, חדר, הגעה ומה להב">
            <a:extLst>
              <a:ext uri="{FF2B5EF4-FFF2-40B4-BE49-F238E27FC236}">
                <a16:creationId xmlns:a16="http://schemas.microsoft.com/office/drawing/2014/main" id="{F6015FA1-BC30-4704-ACC4-E2EC007AFDF3}"/>
              </a:ext>
            </a:extLst>
          </p:cNvPr>
          <p:cNvSpPr>
            <a:spLocks noGrp="1"/>
          </p:cNvSpPr>
          <p:nvPr/>
        </p:nvSpPr>
        <p:spPr>
          <a:xfrm>
            <a:off x="857250" y="37719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עד 90 מילים: שעה, חדר, הגעה ומה להביא.</a:t>
            </a:r>
          </a:p>
        </p:txBody>
      </p:sp>
      <p:sp>
        <p:nvSpPr>
          <p:cNvPr id="9" name="editable-גבולות">
            <a:extLst>
              <a:ext uri="{FF2B5EF4-FFF2-40B4-BE49-F238E27FC236}">
                <a16:creationId xmlns:a16="http://schemas.microsoft.com/office/drawing/2014/main" id="{768566CB-DAD8-4417-8BED-F64C6D3986B8}"/>
              </a:ext>
            </a:extLst>
          </p:cNvPr>
          <p:cNvSpPr>
            <a:spLocks noGrp="1"/>
          </p:cNvSpPr>
          <p:nvPr/>
        </p:nvSpPr>
        <p:spPr>
          <a:xfrm>
            <a:off x="9477375" y="45529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גבולות</a:t>
            </a:r>
          </a:p>
        </p:txBody>
      </p:sp>
      <p:sp>
        <p:nvSpPr>
          <p:cNvPr id="10" name="editable-אל תמציא פרטי קשר או הנחיות רפואיות">
            <a:extLst>
              <a:ext uri="{FF2B5EF4-FFF2-40B4-BE49-F238E27FC236}">
                <a16:creationId xmlns:a16="http://schemas.microsoft.com/office/drawing/2014/main" id="{ADC7A300-49EB-4D55-9797-436798B27869}"/>
              </a:ext>
            </a:extLst>
          </p:cNvPr>
          <p:cNvSpPr>
            <a:spLocks noGrp="1"/>
          </p:cNvSpPr>
          <p:nvPr/>
        </p:nvSpPr>
        <p:spPr>
          <a:xfrm>
            <a:off x="857250" y="45529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אל תמציא פרטי קשר או הנחיות רפואיות. סמן מידע חסר.</a:t>
            </a:r>
          </a:p>
        </p:txBody>
      </p:sp>
      <p:sp>
        <p:nvSpPr>
          <p:cNvPr id="11" name="editable-הפרומפט המלא כולל את מסמך א — מוכן ">
            <a:extLst>
              <a:ext uri="{FF2B5EF4-FFF2-40B4-BE49-F238E27FC236}">
                <a16:creationId xmlns:a16="http://schemas.microsoft.com/office/drawing/2014/main" id="{3CBE8643-3DFC-4BDB-9AB7-2E11AB432543}"/>
              </a:ext>
            </a:extLst>
          </p:cNvPr>
          <p:cNvSpPr>
            <a:spLocks noGrp="1"/>
          </p:cNvSpPr>
          <p:nvPr/>
        </p:nvSpPr>
        <p:spPr>
          <a:xfrm>
            <a:off x="857250" y="5705475"/>
            <a:ext cx="10477500" cy="4572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כולל את מסמך א — מוכן להעתקה בדף התרגול</a:t>
            </a:r>
          </a:p>
        </p:txBody>
      </p:sp>
      <p:sp>
        <p:nvSpPr>
          <p:cNvPr id="12" name="editable-P17">
            <a:extLst>
              <a:ext uri="{FF2B5EF4-FFF2-40B4-BE49-F238E27FC236}">
                <a16:creationId xmlns:a16="http://schemas.microsoft.com/office/drawing/2014/main" id="{41AB4920-F3D7-4163-9E3C-06A8D801EA6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P17</a:t>
            </a:r>
          </a:p>
        </p:txBody>
      </p:sp>
      <p:sp>
        <p:nvSpPr>
          <p:cNvPr id="13" name="editable-10">
            <a:extLst>
              <a:ext uri="{FF2B5EF4-FFF2-40B4-BE49-F238E27FC236}">
                <a16:creationId xmlns:a16="http://schemas.microsoft.com/office/drawing/2014/main" id="{E44465D0-93AC-47A0-8DD3-68C506D993F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137551022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P spid="5" grpId="0"/>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8" name="editable-מודל">
            <a:extLst>
              <a:ext uri="{FF2B5EF4-FFF2-40B4-BE49-F238E27FC236}">
                <a16:creationId xmlns:a16="http://schemas.microsoft.com/office/drawing/2014/main" id="{546261C1-A527-4E8B-B24C-EB5152AE5962}"/>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מודל</a:t>
            </a:r>
          </a:p>
        </p:txBody>
      </p:sp>
      <p:pic>
        <p:nvPicPr>
          <p:cNvPr id="2" name="תמונה 1">
            <a:extLst>
              <a:ext uri="{FF2B5EF4-FFF2-40B4-BE49-F238E27FC236}">
                <a16:creationId xmlns:a16="http://schemas.microsoft.com/office/drawing/2014/main" id="{69BD80B0-BED2-47A9-A2B9-7F2FFF6E1DDD}"/>
              </a:ext>
            </a:extLst>
          </p:cNvPr>
          <p:cNvPicPr>
            <a:picLocks noChangeAspect="1"/>
          </p:cNvPicPr>
          <p:nvPr/>
        </p:nvPicPr>
        <p:blipFill>
          <a:blip r:embed="rId3"/>
          <a:stretch/>
        </p:blipFill>
        <p:spPr>
          <a:xfrm>
            <a:off x="857250" y="966461"/>
            <a:ext cx="2333625" cy="505478"/>
          </a:xfrm>
          <a:prstGeom prst="rect">
            <a:avLst/>
          </a:prstGeom>
        </p:spPr>
      </p:pic>
      <p:sp>
        <p:nvSpPr>
          <p:cNvPr id="3" name="editable-המנוע שמאחורי הצ׳אט">
            <a:extLst>
              <a:ext uri="{FF2B5EF4-FFF2-40B4-BE49-F238E27FC236}">
                <a16:creationId xmlns:a16="http://schemas.microsoft.com/office/drawing/2014/main" id="{6CCDF32E-D488-4229-BF4A-2C292958F188}"/>
              </a:ext>
            </a:extLst>
          </p:cNvPr>
          <p:cNvSpPr>
            <a:spLocks noGrp="1"/>
          </p:cNvSpPr>
          <p:nvPr/>
        </p:nvSpPr>
        <p:spPr>
          <a:xfrm>
            <a:off x="857250" y="2124075"/>
            <a:ext cx="10477500" cy="666750"/>
          </a:xfrm>
          <a:prstGeom prst="rect">
            <a:avLst/>
          </a:prstGeom>
          <a:noFill/>
          <a:ln w="0">
            <a:noFill/>
          </a:ln>
        </p:spPr>
        <p:txBody>
          <a:bodyPr lIns="0" tIns="0" rIns="0" bIns="0" anchor="ctr">
            <a:noAutofit/>
          </a:bodyPr>
          <a:lstStyle>
            <a:defPPr algn="ctr">
              <a:defRPr sz="3000" b="0">
                <a:solidFill>
                  <a:srgbClr val="7A59BC"/>
                </a:solidFill>
                <a:latin typeface="Arial"/>
                <a:ea typeface="Arial"/>
                <a:cs typeface="Arial"/>
              </a:defRPr>
            </a:defPPr>
          </a:lstStyle>
          <a:p>
            <a:pPr algn="ctr" rtl="1">
              <a:defRPr sz="3000" b="0">
                <a:solidFill>
                  <a:srgbClr val="7A59BC"/>
                </a:solidFill>
                <a:latin typeface="Arial"/>
                <a:ea typeface="Arial"/>
                <a:cs typeface="Arial"/>
              </a:defRPr>
            </a:pPr>
            <a:r>
              <a:rPr sz="3000" b="0">
                <a:solidFill>
                  <a:srgbClr val="7A59BC"/>
                </a:solidFill>
                <a:latin typeface="Arial"/>
                <a:ea typeface="Arial"/>
                <a:cs typeface="Arial"/>
              </a:rPr>
              <a:t>המנוע שמאחורי הצ׳אט</a:t>
            </a:r>
          </a:p>
        </p:txBody>
      </p:sp>
      <p:sp>
        <p:nvSpPr>
          <p:cNvPr id="4" name="editable-Haiku">
            <a:extLst>
              <a:ext uri="{FF2B5EF4-FFF2-40B4-BE49-F238E27FC236}">
                <a16:creationId xmlns:a16="http://schemas.microsoft.com/office/drawing/2014/main" id="{7426AE4C-E021-4751-BB92-19AE6E6973AB}"/>
              </a:ext>
            </a:extLst>
          </p:cNvPr>
          <p:cNvSpPr>
            <a:spLocks noGrp="1"/>
          </p:cNvSpPr>
          <p:nvPr/>
        </p:nvSpPr>
        <p:spPr>
          <a:xfrm>
            <a:off x="8858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Haiku</a:t>
            </a:r>
          </a:p>
        </p:txBody>
      </p:sp>
      <p:sp>
        <p:nvSpPr>
          <p:cNvPr id="5" name="editable-זריז ופשוט">
            <a:extLst>
              <a:ext uri="{FF2B5EF4-FFF2-40B4-BE49-F238E27FC236}">
                <a16:creationId xmlns:a16="http://schemas.microsoft.com/office/drawing/2014/main" id="{8B25D3F3-389C-4DA6-A4E3-CE8854F02C50}"/>
              </a:ext>
            </a:extLst>
          </p:cNvPr>
          <p:cNvSpPr>
            <a:spLocks noGrp="1"/>
          </p:cNvSpPr>
          <p:nvPr/>
        </p:nvSpPr>
        <p:spPr>
          <a:xfrm>
            <a:off x="8858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זריז ופשוט</a:t>
            </a:r>
          </a:p>
        </p:txBody>
      </p:sp>
      <p:sp>
        <p:nvSpPr>
          <p:cNvPr id="6" name="editable-סיכום קצר">
            <a:extLst>
              <a:ext uri="{FF2B5EF4-FFF2-40B4-BE49-F238E27FC236}">
                <a16:creationId xmlns:a16="http://schemas.microsoft.com/office/drawing/2014/main" id="{A5B06AA2-F802-41FD-8BB1-E27510AEB267}"/>
              </a:ext>
            </a:extLst>
          </p:cNvPr>
          <p:cNvSpPr>
            <a:spLocks noGrp="1"/>
          </p:cNvSpPr>
          <p:nvPr/>
        </p:nvSpPr>
        <p:spPr>
          <a:xfrm>
            <a:off x="8858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סיכום קצר</a:t>
            </a:r>
          </a:p>
        </p:txBody>
      </p:sp>
      <p:sp>
        <p:nvSpPr>
          <p:cNvPr id="7" name="editable-Sonnet">
            <a:extLst>
              <a:ext uri="{FF2B5EF4-FFF2-40B4-BE49-F238E27FC236}">
                <a16:creationId xmlns:a16="http://schemas.microsoft.com/office/drawing/2014/main" id="{09D7CD43-EB18-4975-98A4-7D930AF5050D}"/>
              </a:ext>
            </a:extLst>
          </p:cNvPr>
          <p:cNvSpPr>
            <a:spLocks noGrp="1"/>
          </p:cNvSpPr>
          <p:nvPr/>
        </p:nvSpPr>
        <p:spPr>
          <a:xfrm>
            <a:off x="6191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Sonnet</a:t>
            </a:r>
          </a:p>
        </p:txBody>
      </p:sp>
      <p:sp>
        <p:nvSpPr>
          <p:cNvPr id="8" name="editable-עבודה יומיומית">
            <a:extLst>
              <a:ext uri="{FF2B5EF4-FFF2-40B4-BE49-F238E27FC236}">
                <a16:creationId xmlns:a16="http://schemas.microsoft.com/office/drawing/2014/main" id="{54CE8E34-DEC1-4581-86D1-B5522CFD37BC}"/>
              </a:ext>
            </a:extLst>
          </p:cNvPr>
          <p:cNvSpPr>
            <a:spLocks noGrp="1"/>
          </p:cNvSpPr>
          <p:nvPr/>
        </p:nvSpPr>
        <p:spPr>
          <a:xfrm>
            <a:off x="6191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עבודה יומיומית</a:t>
            </a:r>
          </a:p>
        </p:txBody>
      </p:sp>
      <p:sp>
        <p:nvSpPr>
          <p:cNvPr id="9" name="editable-כתיבה וניתוח">
            <a:extLst>
              <a:ext uri="{FF2B5EF4-FFF2-40B4-BE49-F238E27FC236}">
                <a16:creationId xmlns:a16="http://schemas.microsoft.com/office/drawing/2014/main" id="{702E7C8B-FD72-4A69-98D0-8D8E93A0D6C8}"/>
              </a:ext>
            </a:extLst>
          </p:cNvPr>
          <p:cNvSpPr>
            <a:spLocks noGrp="1"/>
          </p:cNvSpPr>
          <p:nvPr/>
        </p:nvSpPr>
        <p:spPr>
          <a:xfrm>
            <a:off x="6191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כתיבה וניתוח</a:t>
            </a:r>
          </a:p>
        </p:txBody>
      </p:sp>
      <p:sp>
        <p:nvSpPr>
          <p:cNvPr id="10" name="editable-Opus">
            <a:extLst>
              <a:ext uri="{FF2B5EF4-FFF2-40B4-BE49-F238E27FC236}">
                <a16:creationId xmlns:a16="http://schemas.microsoft.com/office/drawing/2014/main" id="{B97ACE02-5D31-43FD-A700-93C26F537D2D}"/>
              </a:ext>
            </a:extLst>
          </p:cNvPr>
          <p:cNvSpPr>
            <a:spLocks noGrp="1"/>
          </p:cNvSpPr>
          <p:nvPr/>
        </p:nvSpPr>
        <p:spPr>
          <a:xfrm>
            <a:off x="3524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Opus</a:t>
            </a:r>
          </a:p>
        </p:txBody>
      </p:sp>
      <p:sp>
        <p:nvSpPr>
          <p:cNvPr id="11" name="editable-העמקה">
            <a:extLst>
              <a:ext uri="{FF2B5EF4-FFF2-40B4-BE49-F238E27FC236}">
                <a16:creationId xmlns:a16="http://schemas.microsoft.com/office/drawing/2014/main" id="{A9CC25D3-06D5-442E-86C8-DE6870552ABF}"/>
              </a:ext>
            </a:extLst>
          </p:cNvPr>
          <p:cNvSpPr>
            <a:spLocks noGrp="1"/>
          </p:cNvSpPr>
          <p:nvPr/>
        </p:nvSpPr>
        <p:spPr>
          <a:xfrm>
            <a:off x="3524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העמקה</a:t>
            </a:r>
          </a:p>
        </p:txBody>
      </p:sp>
      <p:sp>
        <p:nvSpPr>
          <p:cNvPr id="12" name="editable-הסקה מורכבת">
            <a:extLst>
              <a:ext uri="{FF2B5EF4-FFF2-40B4-BE49-F238E27FC236}">
                <a16:creationId xmlns:a16="http://schemas.microsoft.com/office/drawing/2014/main" id="{509EA7CA-BBF6-4D8A-9825-E29F9A4A9C10}"/>
              </a:ext>
            </a:extLst>
          </p:cNvPr>
          <p:cNvSpPr>
            <a:spLocks noGrp="1"/>
          </p:cNvSpPr>
          <p:nvPr/>
        </p:nvSpPr>
        <p:spPr>
          <a:xfrm>
            <a:off x="3524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הסקה מורכבת</a:t>
            </a:r>
          </a:p>
        </p:txBody>
      </p:sp>
      <p:sp>
        <p:nvSpPr>
          <p:cNvPr id="13" name="editable-Fable">
            <a:extLst>
              <a:ext uri="{FF2B5EF4-FFF2-40B4-BE49-F238E27FC236}">
                <a16:creationId xmlns:a16="http://schemas.microsoft.com/office/drawing/2014/main" id="{A80BABD6-72D8-4A1F-AE12-1366A1B86B30}"/>
              </a:ext>
            </a:extLst>
          </p:cNvPr>
          <p:cNvSpPr>
            <a:spLocks noGrp="1"/>
          </p:cNvSpPr>
          <p:nvPr/>
        </p:nvSpPr>
        <p:spPr>
          <a:xfrm>
            <a:off x="857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Fable</a:t>
            </a:r>
          </a:p>
        </p:txBody>
      </p:sp>
      <p:sp>
        <p:nvSpPr>
          <p:cNvPr id="14" name="editable-משימות ארוכות">
            <a:extLst>
              <a:ext uri="{FF2B5EF4-FFF2-40B4-BE49-F238E27FC236}">
                <a16:creationId xmlns:a16="http://schemas.microsoft.com/office/drawing/2014/main" id="{0405594C-A3AC-424F-8D61-B9177D6AF809}"/>
              </a:ext>
            </a:extLst>
          </p:cNvPr>
          <p:cNvSpPr>
            <a:spLocks noGrp="1"/>
          </p:cNvSpPr>
          <p:nvPr/>
        </p:nvSpPr>
        <p:spPr>
          <a:xfrm>
            <a:off x="857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משימות ארוכות</a:t>
            </a:r>
          </a:p>
        </p:txBody>
      </p:sp>
      <p:sp>
        <p:nvSpPr>
          <p:cNvPr id="15" name="editable-רצף צעדים מורכב">
            <a:extLst>
              <a:ext uri="{FF2B5EF4-FFF2-40B4-BE49-F238E27FC236}">
                <a16:creationId xmlns:a16="http://schemas.microsoft.com/office/drawing/2014/main" id="{C0475AE5-79FE-480E-B709-F00EAA7A1F12}"/>
              </a:ext>
            </a:extLst>
          </p:cNvPr>
          <p:cNvSpPr>
            <a:spLocks noGrp="1"/>
          </p:cNvSpPr>
          <p:nvPr/>
        </p:nvSpPr>
        <p:spPr>
          <a:xfrm>
            <a:off x="857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רצף צעדים מורכב</a:t>
            </a:r>
          </a:p>
        </p:txBody>
      </p:sp>
      <p:sp>
        <p:nvSpPr>
          <p:cNvPr id="16" name="editable-בוחרים לפי המשימה ולפי מה שזמין בחש">
            <a:extLst>
              <a:ext uri="{FF2B5EF4-FFF2-40B4-BE49-F238E27FC236}">
                <a16:creationId xmlns:a16="http://schemas.microsoft.com/office/drawing/2014/main" id="{5CDBB16E-467B-4881-8A46-92E48E5EE5D0}"/>
              </a:ext>
            </a:extLst>
          </p:cNvPr>
          <p:cNvSpPr>
            <a:spLocks noGrp="1"/>
          </p:cNvSpPr>
          <p:nvPr/>
        </p:nvSpPr>
        <p:spPr>
          <a:xfrm>
            <a:off x="857250" y="5810250"/>
            <a:ext cx="10477500" cy="419100"/>
          </a:xfrm>
          <a:prstGeom prst="rect">
            <a:avLst/>
          </a:prstGeom>
          <a:noFill/>
          <a:ln w="0">
            <a:noFill/>
          </a:ln>
        </p:spPr>
        <p:txBody>
          <a:bodyPr lIns="0" tIns="0" rIns="0" bIns="0" anchor="ctr">
            <a:noAutofit/>
          </a:bodyPr>
          <a:lstStyle>
            <a:defPPr algn="ctr">
              <a:defRPr sz="1800" b="0">
                <a:solidFill>
                  <a:srgbClr val="5D647C"/>
                </a:solidFill>
                <a:latin typeface="Arial"/>
                <a:ea typeface="Arial"/>
                <a:cs typeface="Arial"/>
              </a:defRPr>
            </a:defPPr>
          </a:lstStyle>
          <a:p>
            <a:pPr algn="ctr" rtl="1">
              <a:defRPr sz="1800" b="0">
                <a:solidFill>
                  <a:srgbClr val="5D647C"/>
                </a:solidFill>
                <a:latin typeface="Arial"/>
                <a:ea typeface="Arial"/>
                <a:cs typeface="Arial"/>
              </a:defRPr>
            </a:pPr>
            <a:r>
              <a:rPr sz="1800" b="0">
                <a:solidFill>
                  <a:srgbClr val="5D647C"/>
                </a:solidFill>
                <a:latin typeface="Arial"/>
                <a:ea typeface="Arial"/>
                <a:cs typeface="Arial"/>
              </a:rPr>
              <a:t>בוחרים לפי המשימה ולפי מה שזמין בחשבון</a:t>
            </a:r>
          </a:p>
        </p:txBody>
      </p:sp>
      <p:sp>
        <p:nvSpPr>
          <p:cNvPr id="17" name="editable-11">
            <a:extLst>
              <a:ext uri="{FF2B5EF4-FFF2-40B4-BE49-F238E27FC236}">
                <a16:creationId xmlns:a16="http://schemas.microsoft.com/office/drawing/2014/main" id="{E4465AB4-073E-4C6C-819D-43AEB603858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199918184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20"/>
                                        <p:tgtEl>
                                          <p:spTgt spid="1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par>
                                <p:cTn id="38" presetID="10" presetClass="entr" presetSubtype="0" accel="50000" decel="5000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childTnLst>
                                </p:cTn>
                              </p:par>
                              <p:par>
                                <p:cTn id="41" presetID="10" presetClass="entr" presetSubtype="0" accel="50000" decel="5000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20"/>
                                        <p:tgtEl>
                                          <p:spTgt spid="13"/>
                                        </p:tgtEl>
                                      </p:cBhvr>
                                    </p:animEffect>
                                  </p:childTnLst>
                                </p:cTn>
                              </p:par>
                              <p:par>
                                <p:cTn id="44" presetID="10" presetClass="entr" presetSubtype="0" accel="50000" decel="5000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20"/>
                                        <p:tgtEl>
                                          <p:spTgt spid="14"/>
                                        </p:tgtEl>
                                      </p:cBhvr>
                                    </p:animEffect>
                                  </p:childTnLst>
                                </p:cTn>
                              </p:par>
                              <p:par>
                                <p:cTn id="47" presetID="10" presetClass="entr" presetSubtype="0" accel="50000" decel="5000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3" name="editable-כלים בתוך Gemini">
            <a:extLst>
              <a:ext uri="{FF2B5EF4-FFF2-40B4-BE49-F238E27FC236}">
                <a16:creationId xmlns:a16="http://schemas.microsoft.com/office/drawing/2014/main" id="{908C826F-66E2-45E6-B6F9-66E6A7E9445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כלים בתוך Gemini</a:t>
            </a:r>
          </a:p>
        </p:txBody>
      </p:sp>
      <p:pic>
        <p:nvPicPr>
          <p:cNvPr id="2" name="תמונה 1">
            <a:extLst>
              <a:ext uri="{FF2B5EF4-FFF2-40B4-BE49-F238E27FC236}">
                <a16:creationId xmlns:a16="http://schemas.microsoft.com/office/drawing/2014/main" id="{132951BB-868F-4EDB-A82B-84BF2B1067E1}"/>
              </a:ext>
            </a:extLst>
          </p:cNvPr>
          <p:cNvPicPr>
            <a:picLocks noChangeAspect="1"/>
          </p:cNvPicPr>
          <p:nvPr/>
        </p:nvPicPr>
        <p:blipFill>
          <a:blip r:embed="rId3"/>
          <a:stretch/>
        </p:blipFill>
        <p:spPr>
          <a:xfrm>
            <a:off x="857250" y="956009"/>
            <a:ext cx="2333625" cy="526382"/>
          </a:xfrm>
          <a:prstGeom prst="rect">
            <a:avLst/>
          </a:prstGeom>
        </p:spPr>
      </p:pic>
      <p:sp>
        <p:nvSpPr>
          <p:cNvPr id="3" name="editable-המודל מייצר. הכלי קובע את דרך העבוד">
            <a:extLst>
              <a:ext uri="{FF2B5EF4-FFF2-40B4-BE49-F238E27FC236}">
                <a16:creationId xmlns:a16="http://schemas.microsoft.com/office/drawing/2014/main" id="{35A018C8-EEAC-4561-8098-DBBC8CF0B00B}"/>
              </a:ext>
            </a:extLst>
          </p:cNvPr>
          <p:cNvSpPr>
            <a:spLocks noGrp="1"/>
          </p:cNvSpPr>
          <p:nvPr/>
        </p:nvSpPr>
        <p:spPr>
          <a:xfrm>
            <a:off x="857250" y="2133600"/>
            <a:ext cx="10477500" cy="66675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המודל מייצר. הכלי קובע את דרך העבודה.</a:t>
            </a:r>
          </a:p>
        </p:txBody>
      </p:sp>
      <p:sp>
        <p:nvSpPr>
          <p:cNvPr id="4" name="editable-Canvas">
            <a:extLst>
              <a:ext uri="{FF2B5EF4-FFF2-40B4-BE49-F238E27FC236}">
                <a16:creationId xmlns:a16="http://schemas.microsoft.com/office/drawing/2014/main" id="{FA57AB38-0B63-4D73-B7F5-68D43467F9E9}"/>
              </a:ext>
            </a:extLst>
          </p:cNvPr>
          <p:cNvSpPr>
            <a:spLocks noGrp="1"/>
          </p:cNvSpPr>
          <p:nvPr/>
        </p:nvSpPr>
        <p:spPr>
          <a:xfrm>
            <a:off x="6572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Canvas</a:t>
            </a:r>
          </a:p>
        </p:txBody>
      </p:sp>
      <p:sp>
        <p:nvSpPr>
          <p:cNvPr id="5" name="editable-מסמך שאפשר לערוך ולשפר">
            <a:extLst>
              <a:ext uri="{FF2B5EF4-FFF2-40B4-BE49-F238E27FC236}">
                <a16:creationId xmlns:a16="http://schemas.microsoft.com/office/drawing/2014/main" id="{DFCA515C-B891-4AA1-95EA-4D9B6B05E40B}"/>
              </a:ext>
            </a:extLst>
          </p:cNvPr>
          <p:cNvSpPr>
            <a:spLocks noGrp="1"/>
          </p:cNvSpPr>
          <p:nvPr/>
        </p:nvSpPr>
        <p:spPr>
          <a:xfrm>
            <a:off x="6572250" y="3781425"/>
            <a:ext cx="4762500" cy="552450"/>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מסמך שאפשר לערוך ולשפר</a:t>
            </a:r>
          </a:p>
        </p:txBody>
      </p:sp>
      <p:sp>
        <p:nvSpPr>
          <p:cNvPr id="6" name="editable-״צור דף הדרכה של עמוד אחד&#10;מתוך מסמך">
            <a:extLst>
              <a:ext uri="{FF2B5EF4-FFF2-40B4-BE49-F238E27FC236}">
                <a16:creationId xmlns:a16="http://schemas.microsoft.com/office/drawing/2014/main" id="{FC2BE845-15E3-40EF-879C-AB3518F37D8B}"/>
              </a:ext>
            </a:extLst>
          </p:cNvPr>
          <p:cNvSpPr>
            <a:spLocks noGrp="1"/>
          </p:cNvSpPr>
          <p:nvPr/>
        </p:nvSpPr>
        <p:spPr>
          <a:xfrm>
            <a:off x="6572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דף הדרכה של עמוד אחד</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מתוך מסמך א בלבד.״</a:t>
            </a:r>
          </a:p>
        </p:txBody>
      </p:sp>
      <p:sp>
        <p:nvSpPr>
          <p:cNvPr id="7" name="editable-יצירת תמונות">
            <a:extLst>
              <a:ext uri="{FF2B5EF4-FFF2-40B4-BE49-F238E27FC236}">
                <a16:creationId xmlns:a16="http://schemas.microsoft.com/office/drawing/2014/main" id="{1E9B98BD-E422-4ECE-9669-E363D1DD9A68}"/>
              </a:ext>
            </a:extLst>
          </p:cNvPr>
          <p:cNvSpPr>
            <a:spLocks noGrp="1"/>
          </p:cNvSpPr>
          <p:nvPr/>
        </p:nvSpPr>
        <p:spPr>
          <a:xfrm>
            <a:off x="857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rtl="1">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יצירת תמונות</a:t>
            </a:r>
          </a:p>
        </p:txBody>
      </p:sp>
      <p:sp>
        <p:nvSpPr>
          <p:cNvPr id="8" name="editable-איור לפי תיאור, סגנון וקומפוזיציה">
            <a:extLst>
              <a:ext uri="{FF2B5EF4-FFF2-40B4-BE49-F238E27FC236}">
                <a16:creationId xmlns:a16="http://schemas.microsoft.com/office/drawing/2014/main" id="{2E2894C2-881E-4A65-8CB2-365CDCFA01F8}"/>
              </a:ext>
            </a:extLst>
          </p:cNvPr>
          <p:cNvSpPr>
            <a:spLocks noGrp="1"/>
          </p:cNvSpPr>
          <p:nvPr/>
        </p:nvSpPr>
        <p:spPr>
          <a:xfrm>
            <a:off x="857250" y="3781425"/>
            <a:ext cx="4762500" cy="552450"/>
          </a:xfrm>
          <a:prstGeom prst="rect">
            <a:avLst/>
          </a:prstGeom>
          <a:noFill/>
          <a:ln w="0">
            <a:noFill/>
          </a:ln>
        </p:spPr>
        <p:txBody>
          <a:bodyPr lIns="0" tIns="0" rIns="0" bIns="0" anchor="ctr">
            <a:noAutofit/>
          </a:bodyPr>
          <a:lstStyle>
            <a:defPPr algn="r">
              <a:defRPr sz="2025" b="0">
                <a:solidFill>
                  <a:srgbClr val="191B2B"/>
                </a:solidFill>
                <a:latin typeface="Arial"/>
                <a:ea typeface="Arial"/>
                <a:cs typeface="Arial"/>
              </a:defRPr>
            </a:defPPr>
          </a:lstStyle>
          <a:p>
            <a:pPr algn="r" rtl="1">
              <a:defRPr sz="2025" b="0">
                <a:solidFill>
                  <a:srgbClr val="191B2B"/>
                </a:solidFill>
                <a:latin typeface="Arial"/>
                <a:ea typeface="Arial"/>
                <a:cs typeface="Arial"/>
              </a:defRPr>
            </a:pPr>
            <a:r>
              <a:rPr sz="2025" b="0">
                <a:solidFill>
                  <a:srgbClr val="191B2B"/>
                </a:solidFill>
                <a:latin typeface="Arial"/>
                <a:ea typeface="Arial"/>
                <a:cs typeface="Arial"/>
              </a:rPr>
              <a:t>איור לפי תיאור, סגנון וקומפוזיציה</a:t>
            </a:r>
          </a:p>
        </p:txBody>
      </p:sp>
      <p:sp>
        <p:nvSpPr>
          <p:cNvPr id="9" name="editable-״צור איור לצוות ביום הדרכה.&#10;השאר מק">
            <a:extLst>
              <a:ext uri="{FF2B5EF4-FFF2-40B4-BE49-F238E27FC236}">
                <a16:creationId xmlns:a16="http://schemas.microsoft.com/office/drawing/2014/main" id="{AB8A10C4-9A72-4F1D-8823-479F3C6D1EC2}"/>
              </a:ext>
            </a:extLst>
          </p:cNvPr>
          <p:cNvSpPr>
            <a:spLocks noGrp="1"/>
          </p:cNvSpPr>
          <p:nvPr/>
        </p:nvSpPr>
        <p:spPr>
          <a:xfrm>
            <a:off x="857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איור לצוות ביום הדרכה.</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השאר מקום לכותרת בצד ימין.״</a:t>
            </a:r>
          </a:p>
        </p:txBody>
      </p:sp>
      <p:sp>
        <p:nvSpPr>
          <p:cNvPr id="10" name="editable-הפרומפטים המלאים מוכנים להעתקה בדף ">
            <a:extLst>
              <a:ext uri="{FF2B5EF4-FFF2-40B4-BE49-F238E27FC236}">
                <a16:creationId xmlns:a16="http://schemas.microsoft.com/office/drawing/2014/main" id="{857E05CA-BCCB-4465-83CD-73AD340B6209}"/>
              </a:ext>
            </a:extLst>
          </p:cNvPr>
          <p:cNvSpPr>
            <a:spLocks noGrp="1"/>
          </p:cNvSpPr>
          <p:nvPr/>
        </p:nvSpPr>
        <p:spPr>
          <a:xfrm>
            <a:off x="857250" y="5791200"/>
            <a:ext cx="10477500" cy="419100"/>
          </a:xfrm>
          <a:prstGeom prst="rect">
            <a:avLst/>
          </a:prstGeom>
          <a:noFill/>
          <a:ln w="0">
            <a:noFill/>
          </a:ln>
        </p:spPr>
        <p:txBody>
          <a:bodyPr lIns="0" tIns="0" rIns="0" bIns="0" anchor="ctr">
            <a:noAutofit/>
          </a:bodyPr>
          <a:lstStyle>
            <a:defPPr algn="ctr">
              <a:defRPr sz="1725" b="0">
                <a:solidFill>
                  <a:srgbClr val="5D647C"/>
                </a:solidFill>
                <a:latin typeface="Arial"/>
                <a:ea typeface="Arial"/>
                <a:cs typeface="Arial"/>
              </a:defRPr>
            </a:defPPr>
          </a:lstStyle>
          <a:p>
            <a:pPr algn="ctr" rtl="1">
              <a:defRPr sz="1725" b="0">
                <a:solidFill>
                  <a:srgbClr val="5D647C"/>
                </a:solidFill>
                <a:latin typeface="Arial"/>
                <a:ea typeface="Arial"/>
                <a:cs typeface="Arial"/>
              </a:defRPr>
            </a:pPr>
            <a:r>
              <a:rPr sz="1725" b="0">
                <a:solidFill>
                  <a:srgbClr val="5D647C"/>
                </a:solidFill>
                <a:latin typeface="Arial"/>
                <a:ea typeface="Arial"/>
                <a:cs typeface="Arial"/>
              </a:rPr>
              <a:t>הפרומפטים המלאים מוכנים להעתקה בדף התרגול</a:t>
            </a:r>
          </a:p>
        </p:txBody>
      </p:sp>
      <p:sp>
        <p:nvSpPr>
          <p:cNvPr id="11" name="editable-P18 / P19">
            <a:extLst>
              <a:ext uri="{FF2B5EF4-FFF2-40B4-BE49-F238E27FC236}">
                <a16:creationId xmlns:a16="http://schemas.microsoft.com/office/drawing/2014/main" id="{24D0D27F-32ED-431A-BD12-5257BADA300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P18 / P19</a:t>
            </a:r>
          </a:p>
        </p:txBody>
      </p:sp>
      <p:sp>
        <p:nvSpPr>
          <p:cNvPr id="12" name="editable-12">
            <a:extLst>
              <a:ext uri="{FF2B5EF4-FFF2-40B4-BE49-F238E27FC236}">
                <a16:creationId xmlns:a16="http://schemas.microsoft.com/office/drawing/2014/main" id="{FD566E3E-57F5-41C7-B9D1-0445D4E9CC0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178420597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20"/>
                                        <p:tgtEl>
                                          <p:spTgt spid="13"/>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6" name="editable-בקשה שאפשר לבדוק">
            <a:extLst>
              <a:ext uri="{FF2B5EF4-FFF2-40B4-BE49-F238E27FC236}">
                <a16:creationId xmlns:a16="http://schemas.microsoft.com/office/drawing/2014/main" id="{BAC9DAD2-BF60-4DD2-8D48-F295D60FED4A}"/>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בקשה שאפשר לבדוק</a:t>
            </a:r>
          </a:p>
        </p:txBody>
      </p:sp>
      <p:sp>
        <p:nvSpPr>
          <p:cNvPr id="2" name="editable-המקור והקהל">
            <a:extLst>
              <a:ext uri="{FF2B5EF4-FFF2-40B4-BE49-F238E27FC236}">
                <a16:creationId xmlns:a16="http://schemas.microsoft.com/office/drawing/2014/main" id="{C98BE7EA-A460-4B96-8AB6-77BFBAE7B819}"/>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המקור והקהל</a:t>
            </a:r>
          </a:p>
        </p:txBody>
      </p:sp>
      <p:sp>
        <p:nvSpPr>
          <p:cNvPr id="3" name="editable-התוצר והאורך">
            <a:extLst>
              <a:ext uri="{FF2B5EF4-FFF2-40B4-BE49-F238E27FC236}">
                <a16:creationId xmlns:a16="http://schemas.microsoft.com/office/drawing/2014/main" id="{BBB4FF14-2B24-45DB-BBD7-46CC1C50C1F5}"/>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התוצר והאורך</a:t>
            </a:r>
          </a:p>
        </p:txBody>
      </p:sp>
      <p:sp>
        <p:nvSpPr>
          <p:cNvPr id="4" name="editable-מה אסור להשלים">
            <a:extLst>
              <a:ext uri="{FF2B5EF4-FFF2-40B4-BE49-F238E27FC236}">
                <a16:creationId xmlns:a16="http://schemas.microsoft.com/office/drawing/2014/main" id="{82249751-230E-42F2-859A-A05BAD7F6327}"/>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אסור להשלים</a:t>
            </a:r>
          </a:p>
        </p:txBody>
      </p:sp>
      <p:sp>
        <p:nvSpPr>
          <p:cNvPr id="5" name="editable-13">
            <a:extLst>
              <a:ext uri="{FF2B5EF4-FFF2-40B4-BE49-F238E27FC236}">
                <a16:creationId xmlns:a16="http://schemas.microsoft.com/office/drawing/2014/main" id="{1EB1DA7F-6638-42A2-9264-D3207CC5F43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51554074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7" name="editable-הודעה למטופלים">
            <a:extLst>
              <a:ext uri="{FF2B5EF4-FFF2-40B4-BE49-F238E27FC236}">
                <a16:creationId xmlns:a16="http://schemas.microsoft.com/office/drawing/2014/main" id="{15B82968-A920-485C-877C-F47C76F87B45}"/>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הודעה למטופלים</a:t>
            </a:r>
          </a:p>
        </p:txBody>
      </p:sp>
      <p:pic>
        <p:nvPicPr>
          <p:cNvPr id="2" name="תמונה 1">
            <a:extLst>
              <a:ext uri="{FF2B5EF4-FFF2-40B4-BE49-F238E27FC236}">
                <a16:creationId xmlns:a16="http://schemas.microsoft.com/office/drawing/2014/main" id="{5340F5FC-7EAA-4D41-83DD-3FC794DAC5FF}"/>
              </a:ext>
            </a:extLst>
          </p:cNvPr>
          <p:cNvPicPr>
            <a:picLocks noChangeAspect="1"/>
          </p:cNvPicPr>
          <p:nvPr/>
        </p:nvPicPr>
        <p:blipFill>
          <a:blip r:embed="rId3"/>
          <a:stretch/>
        </p:blipFill>
        <p:spPr>
          <a:xfrm>
            <a:off x="987743" y="914400"/>
            <a:ext cx="2072640" cy="609600"/>
          </a:xfrm>
          <a:prstGeom prst="rect">
            <a:avLst/>
          </a:prstGeom>
        </p:spPr>
      </p:pic>
      <p:sp>
        <p:nvSpPr>
          <p:cNvPr id="3" name="editable-מתוך מסמך א בלבד, נסח הודעה קצרה למ">
            <a:extLst>
              <a:ext uri="{FF2B5EF4-FFF2-40B4-BE49-F238E27FC236}">
                <a16:creationId xmlns:a16="http://schemas.microsoft.com/office/drawing/2014/main" id="{24E50885-0BE8-4A23-A23E-7E8C49F64CC9}"/>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נסח הודעה קצרה למטופלים ולמלווים. כלול שעה, חדר, הגעה ומה להביא. השתמש בעברית פשוטה. סמן פרט חסר ואל תשלים הוראות רפואיות או פרטי קשר.</a:t>
            </a:r>
          </a:p>
        </p:txBody>
      </p:sp>
      <p:sp>
        <p:nvSpPr>
          <p:cNvPr id="4" name="editable-הפרומפט המלא עם המקור מוכן להעתקה ב">
            <a:extLst>
              <a:ext uri="{FF2B5EF4-FFF2-40B4-BE49-F238E27FC236}">
                <a16:creationId xmlns:a16="http://schemas.microsoft.com/office/drawing/2014/main" id="{564B9F4B-13DB-4748-8B9A-9DD5EE3F281F}"/>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2">
            <a:extLst>
              <a:ext uri="{FF2B5EF4-FFF2-40B4-BE49-F238E27FC236}">
                <a16:creationId xmlns:a16="http://schemas.microsoft.com/office/drawing/2014/main" id="{916EB358-4D24-4A1E-AD7A-5A8E1BC466D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6" name="editable-14">
            <a:extLst>
              <a:ext uri="{FF2B5EF4-FFF2-40B4-BE49-F238E27FC236}">
                <a16:creationId xmlns:a16="http://schemas.microsoft.com/office/drawing/2014/main" id="{21686601-63BE-4546-A13A-9F497136E1E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91148058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רשימת בדיקות לצוות">
            <a:extLst>
              <a:ext uri="{FF2B5EF4-FFF2-40B4-BE49-F238E27FC236}">
                <a16:creationId xmlns:a16="http://schemas.microsoft.com/office/drawing/2014/main" id="{5336EDB5-446F-46AE-A3FD-12A6DB80D6A2}"/>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רשימת בדיקות לצוות</a:t>
            </a:r>
          </a:p>
        </p:txBody>
      </p:sp>
      <p:pic>
        <p:nvPicPr>
          <p:cNvPr id="2" name="תמונה 1">
            <a:extLst>
              <a:ext uri="{FF2B5EF4-FFF2-40B4-BE49-F238E27FC236}">
                <a16:creationId xmlns:a16="http://schemas.microsoft.com/office/drawing/2014/main" id="{31AC59AF-2383-4412-AB85-D2EB0FEEF4E8}"/>
              </a:ext>
            </a:extLst>
          </p:cNvPr>
          <p:cNvPicPr>
            <a:picLocks noChangeAspect="1"/>
          </p:cNvPicPr>
          <p:nvPr/>
        </p:nvPicPr>
        <p:blipFill>
          <a:blip r:embed="rId3"/>
          <a:stretch/>
        </p:blipFill>
        <p:spPr>
          <a:xfrm>
            <a:off x="857250" y="966461"/>
            <a:ext cx="2333625" cy="505478"/>
          </a:xfrm>
          <a:prstGeom prst="rect">
            <a:avLst/>
          </a:prstGeom>
        </p:spPr>
      </p:pic>
      <p:sp>
        <p:nvSpPr>
          <p:cNvPr id="3" name="editable-מתוך מסמך ג בלבד, הפק רשימת בדיקות ">
            <a:extLst>
              <a:ext uri="{FF2B5EF4-FFF2-40B4-BE49-F238E27FC236}">
                <a16:creationId xmlns:a16="http://schemas.microsoft.com/office/drawing/2014/main" id="{5235DD71-7559-4692-9ADD-408DF0E27FA9}"/>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הפק רשימת בדיקות לקראת יום ההדרכה. לכל בדיקה ציין אחראי ועיתוי אם נכתבו במקור. הפרד פרטים שחסרים לבירור. אל תמציא תקציב או זמן תגובה.</a:t>
            </a:r>
          </a:p>
        </p:txBody>
      </p:sp>
      <p:sp>
        <p:nvSpPr>
          <p:cNvPr id="4" name="editable-הפרומפט המלא עם המקור מוכן להעתקה ב">
            <a:extLst>
              <a:ext uri="{FF2B5EF4-FFF2-40B4-BE49-F238E27FC236}">
                <a16:creationId xmlns:a16="http://schemas.microsoft.com/office/drawing/2014/main" id="{5DD70FCF-1A36-41E7-956A-7F91E62D76C1}"/>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3">
            <a:extLst>
              <a:ext uri="{FF2B5EF4-FFF2-40B4-BE49-F238E27FC236}">
                <a16:creationId xmlns:a16="http://schemas.microsoft.com/office/drawing/2014/main" id="{E06E4EB3-6AAC-4225-ABF1-78EB57B66E0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P03</a:t>
            </a:r>
          </a:p>
        </p:txBody>
      </p:sp>
      <p:sp>
        <p:nvSpPr>
          <p:cNvPr id="6" name="editable-15">
            <a:extLst>
              <a:ext uri="{FF2B5EF4-FFF2-40B4-BE49-F238E27FC236}">
                <a16:creationId xmlns:a16="http://schemas.microsoft.com/office/drawing/2014/main" id="{FFF36F96-809E-4C7C-9AFE-E034A11203C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100566186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אלות להבנת מסמך">
            <a:extLst>
              <a:ext uri="{FF2B5EF4-FFF2-40B4-BE49-F238E27FC236}">
                <a16:creationId xmlns:a16="http://schemas.microsoft.com/office/drawing/2014/main" id="{08B757DE-C412-4F76-A5CC-7072FCBBB5DE}"/>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שאלות להבנת מסמך</a:t>
            </a:r>
          </a:p>
        </p:txBody>
      </p:sp>
      <p:pic>
        <p:nvPicPr>
          <p:cNvPr id="2" name="תמונה 1">
            <a:extLst>
              <a:ext uri="{FF2B5EF4-FFF2-40B4-BE49-F238E27FC236}">
                <a16:creationId xmlns:a16="http://schemas.microsoft.com/office/drawing/2014/main" id="{97471A2B-2526-4573-97FB-220EF48A7ABD}"/>
              </a:ext>
            </a:extLst>
          </p:cNvPr>
          <p:cNvPicPr>
            <a:picLocks noChangeAspect="1"/>
          </p:cNvPicPr>
          <p:nvPr/>
        </p:nvPicPr>
        <p:blipFill>
          <a:blip r:embed="rId3"/>
          <a:stretch/>
        </p:blipFill>
        <p:spPr>
          <a:xfrm>
            <a:off x="857250" y="956009"/>
            <a:ext cx="2333625" cy="526382"/>
          </a:xfrm>
          <a:prstGeom prst="rect">
            <a:avLst/>
          </a:prstGeom>
        </p:spPr>
      </p:pic>
      <p:sp>
        <p:nvSpPr>
          <p:cNvPr id="3" name="editable-מתוך מסמך א בלבד, כתוב ארבע שאלות ה">
            <a:extLst>
              <a:ext uri="{FF2B5EF4-FFF2-40B4-BE49-F238E27FC236}">
                <a16:creationId xmlns:a16="http://schemas.microsoft.com/office/drawing/2014/main" id="{70EB9BD3-50F6-4ACD-9C0F-8AB33D5784A3}"/>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כתוב ארבע שאלות הבנה לצוות חדש. לכל שאלה צרף תשובה קצרה ואת סעיף המקור. הוסף שאלה אחת שאין עליה תשובה במסמך וסמן זאת במפורש.</a:t>
            </a:r>
          </a:p>
        </p:txBody>
      </p:sp>
      <p:sp>
        <p:nvSpPr>
          <p:cNvPr id="4" name="editable-הפרומפט המלא עם המקור מוכן להעתקה ב">
            <a:extLst>
              <a:ext uri="{FF2B5EF4-FFF2-40B4-BE49-F238E27FC236}">
                <a16:creationId xmlns:a16="http://schemas.microsoft.com/office/drawing/2014/main" id="{B92D184E-9A99-4F62-A334-C781CF610C79}"/>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4">
            <a:extLst>
              <a:ext uri="{FF2B5EF4-FFF2-40B4-BE49-F238E27FC236}">
                <a16:creationId xmlns:a16="http://schemas.microsoft.com/office/drawing/2014/main" id="{77524364-996D-4A1C-9F35-28B6C8B5B1AC}"/>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P04</a:t>
            </a:r>
          </a:p>
        </p:txBody>
      </p:sp>
      <p:sp>
        <p:nvSpPr>
          <p:cNvPr id="6" name="editable-16">
            <a:extLst>
              <a:ext uri="{FF2B5EF4-FFF2-40B4-BE49-F238E27FC236}">
                <a16:creationId xmlns:a16="http://schemas.microsoft.com/office/drawing/2014/main" id="{6B70D793-B2DD-4BF1-94BD-4AD1E531CB3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104180716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278651B7-E9CD-4B59-B2C2-DCB276448970}"/>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166948AB-6D14-4857-89A6-32BE1472E4AB}"/>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4C2C1F62-FE4C-442F-867B-03257C27D8FB}"/>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דוגמה אחת&#10;הפיקו טיוטה ושפרו או">
            <a:extLst>
              <a:ext uri="{FF2B5EF4-FFF2-40B4-BE49-F238E27FC236}">
                <a16:creationId xmlns:a16="http://schemas.microsoft.com/office/drawing/2014/main" id="{78F1F431-423E-4DC0-BC57-08E9FAE7D46F}"/>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דוגמה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הפיקו טיוטה ושפרו אותה</a:t>
            </a:r>
          </a:p>
        </p:txBody>
      </p:sp>
      <p:sp>
        <p:nvSpPr>
          <p:cNvPr id="5" name="editable-הפרומפט המלא בדף התרגול">
            <a:extLst>
              <a:ext uri="{FF2B5EF4-FFF2-40B4-BE49-F238E27FC236}">
                <a16:creationId xmlns:a16="http://schemas.microsoft.com/office/drawing/2014/main" id="{15F379B7-8559-4C22-AEE2-7565EF359314}"/>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2245A92E-9E20-4824-A5D7-C47AD2E2D69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17">
            <a:extLst>
              <a:ext uri="{FF2B5EF4-FFF2-40B4-BE49-F238E27FC236}">
                <a16:creationId xmlns:a16="http://schemas.microsoft.com/office/drawing/2014/main" id="{140A5EBA-8F63-4C06-A390-46B399ADA25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76653103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A005F515-B05D-4EB7-A3CC-E3435633AF35}"/>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במקור?">
            <a:extLst>
              <a:ext uri="{FF2B5EF4-FFF2-40B4-BE49-F238E27FC236}">
                <a16:creationId xmlns:a16="http://schemas.microsoft.com/office/drawing/2014/main" id="{E75F1EFE-E9D1-4958-80FA-A82ABE76E23F}"/>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מה נתמך במקור?</a:t>
            </a:r>
          </a:p>
        </p:txBody>
      </p:sp>
      <p:sp>
        <p:nvSpPr>
          <p:cNvPr id="3" name="editable-מה נוסף בלי מקור?">
            <a:extLst>
              <a:ext uri="{FF2B5EF4-FFF2-40B4-BE49-F238E27FC236}">
                <a16:creationId xmlns:a16="http://schemas.microsoft.com/office/drawing/2014/main" id="{79ABE312-AC5A-463A-8059-EA4D3AB11BBA}"/>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נוסף בלי מקור?</a:t>
            </a:r>
          </a:p>
        </p:txBody>
      </p:sp>
      <p:sp>
        <p:nvSpPr>
          <p:cNvPr id="4" name="editable-מה תיקנתם?">
            <a:extLst>
              <a:ext uri="{FF2B5EF4-FFF2-40B4-BE49-F238E27FC236}">
                <a16:creationId xmlns:a16="http://schemas.microsoft.com/office/drawing/2014/main" id="{1275FF5E-A1F6-4844-BB59-4979B728ED28}"/>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תיקנתם?</a:t>
            </a:r>
          </a:p>
        </p:txBody>
      </p:sp>
      <p:sp>
        <p:nvSpPr>
          <p:cNvPr id="5" name="editable-18">
            <a:extLst>
              <a:ext uri="{FF2B5EF4-FFF2-40B4-BE49-F238E27FC236}">
                <a16:creationId xmlns:a16="http://schemas.microsoft.com/office/drawing/2014/main" id="{CAE5E908-DDBB-40A6-9B31-43298FF9D8E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201576213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3791F178-AD4B-43D0-AB99-EE3A23B45F0F}"/>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978A9186-E38C-4FDA-BD3E-131A8ECB25DE}"/>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BC6588E6-51A8-4C14-A623-AB05B35ED56B}"/>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19">
            <a:extLst>
              <a:ext uri="{FF2B5EF4-FFF2-40B4-BE49-F238E27FC236}">
                <a16:creationId xmlns:a16="http://schemas.microsoft.com/office/drawing/2014/main" id="{F77622C5-BFDB-42D2-A097-64C156A9CB1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28582106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חיפוש מידע">
            <a:extLst>
              <a:ext uri="{FF2B5EF4-FFF2-40B4-BE49-F238E27FC236}">
                <a16:creationId xmlns:a16="http://schemas.microsoft.com/office/drawing/2014/main" id="{42D37061-B223-4FF3-9EAD-022A3CC1FD8E}"/>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מידע</a:t>
            </a:r>
          </a:p>
        </p:txBody>
      </p:sp>
      <p:sp>
        <p:nvSpPr>
          <p:cNvPr id="2" name="editable-שאלה, תשובה וקישורים למקורות">
            <a:extLst>
              <a:ext uri="{FF2B5EF4-FFF2-40B4-BE49-F238E27FC236}">
                <a16:creationId xmlns:a16="http://schemas.microsoft.com/office/drawing/2014/main" id="{676E1754-1249-47C7-9DA7-7B538E012590}"/>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pic>
        <p:nvPicPr>
          <p:cNvPr id="3" name="גרפיקה 2">
            <a:extLst>
              <a:ext uri="{FF2B5EF4-FFF2-40B4-BE49-F238E27FC236}">
                <a16:creationId xmlns:a16="http://schemas.microsoft.com/office/drawing/2014/main" id="{C6D9D36F-9000-451D-B651-73F7A83E233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2286000"/>
            <a:ext cx="4524375" cy="1428750"/>
          </a:xfrm>
          <a:prstGeom prst="rect">
            <a:avLst/>
          </a:prstGeom>
        </p:spPr>
      </p:pic>
      <p:sp>
        <p:nvSpPr>
          <p:cNvPr id="4" name="editable-פתיחת Perplexity">
            <a:extLst>
              <a:ext uri="{FF2B5EF4-FFF2-40B4-BE49-F238E27FC236}">
                <a16:creationId xmlns:a16="http://schemas.microsoft.com/office/drawing/2014/main" id="{333B1BDA-1673-483C-BDDE-4C735612943E}"/>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Perplexity</a:t>
            </a:r>
          </a:p>
        </p:txBody>
      </p:sp>
      <p:sp>
        <p:nvSpPr>
          <p:cNvPr id="5" name="editable-20">
            <a:extLst>
              <a:ext uri="{FF2B5EF4-FFF2-40B4-BE49-F238E27FC236}">
                <a16:creationId xmlns:a16="http://schemas.microsoft.com/office/drawing/2014/main" id="{5BA369F3-2585-44CC-9C13-0B1BB0B1447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163367630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ני מקורות שנפתחו">
            <a:extLst>
              <a:ext uri="{FF2B5EF4-FFF2-40B4-BE49-F238E27FC236}">
                <a16:creationId xmlns:a16="http://schemas.microsoft.com/office/drawing/2014/main" id="{EA355606-A526-4519-837D-C5B91800C6AA}"/>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שני מקורות שנפתחו</a:t>
            </a:r>
          </a:p>
        </p:txBody>
      </p:sp>
      <p:pic>
        <p:nvPicPr>
          <p:cNvPr id="2" name="גרפיקה 1">
            <a:extLst>
              <a:ext uri="{FF2B5EF4-FFF2-40B4-BE49-F238E27FC236}">
                <a16:creationId xmlns:a16="http://schemas.microsoft.com/office/drawing/2014/main" id="{BB1D9D89-29E0-4952-8C8A-273DD699C0C6}"/>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914400"/>
            <a:ext cx="2333625" cy="609600"/>
          </a:xfrm>
          <a:prstGeom prst="rect">
            <a:avLst/>
          </a:prstGeom>
        </p:spPr>
      </p:pic>
      <p:sp>
        <p:nvSpPr>
          <p:cNvPr id="3" name="editable-אתר שני מקורות רשמיים בנושא היגיינת">
            <a:extLst>
              <a:ext uri="{FF2B5EF4-FFF2-40B4-BE49-F238E27FC236}">
                <a16:creationId xmlns:a16="http://schemas.microsoft.com/office/drawing/2014/main" id="{9F9DA833-EE2B-4107-A530-CC84F4093A76}"/>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אתר שני מקורות רשמיים בנושא היגיינת ידיים. לכל מקור ציין גוף מפרסם, תאריך וקישור ישיר. הבחֵן בין הנחיה, סקירה ותקציר. אל תמציא עדכון ואל תיתן המלצה טיפולית.</a:t>
            </a:r>
          </a:p>
        </p:txBody>
      </p:sp>
      <p:sp>
        <p:nvSpPr>
          <p:cNvPr id="4" name="editable-הפרומפט המלא עם המקור מוכן להעתקה ב">
            <a:extLst>
              <a:ext uri="{FF2B5EF4-FFF2-40B4-BE49-F238E27FC236}">
                <a16:creationId xmlns:a16="http://schemas.microsoft.com/office/drawing/2014/main" id="{C80BA8C4-EFCE-48B5-9FD5-808A6F865211}"/>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8 / P09">
            <a:extLst>
              <a:ext uri="{FF2B5EF4-FFF2-40B4-BE49-F238E27FC236}">
                <a16:creationId xmlns:a16="http://schemas.microsoft.com/office/drawing/2014/main" id="{661C6460-09FB-4EDA-9A2A-9B3D7160573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21">
            <a:extLst>
              <a:ext uri="{FF2B5EF4-FFF2-40B4-BE49-F238E27FC236}">
                <a16:creationId xmlns:a16="http://schemas.microsoft.com/office/drawing/2014/main" id="{E515B12C-9BC7-4A5E-AF3F-8E66F755DA9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206969550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4BFA016C-917C-4963-92D1-8CF14C6EDBE0}"/>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1F2A1DC7-D1FC-4CBE-B9B1-058ED383D310}"/>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2B2D4D6E-0670-493B-AFF1-D4FBB4B4DCB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64CC7B7F-A28F-43DE-AA3E-87C61AD104AE}"/>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41DE5D13-6C16-43EB-AC12-527957751CE5}"/>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F74A783D-3891-4676-879B-DB26845E5CE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22">
            <a:extLst>
              <a:ext uri="{FF2B5EF4-FFF2-40B4-BE49-F238E27FC236}">
                <a16:creationId xmlns:a16="http://schemas.microsoft.com/office/drawing/2014/main" id="{20C60A94-2FF3-426C-9B29-4226DC4319B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130483729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ניתוח המקורות שלכם">
            <a:extLst>
              <a:ext uri="{FF2B5EF4-FFF2-40B4-BE49-F238E27FC236}">
                <a16:creationId xmlns:a16="http://schemas.microsoft.com/office/drawing/2014/main" id="{122BA255-1DF8-4FFD-89A6-6A4075442320}"/>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ניתוח המקורות שלכם</a:t>
            </a:r>
          </a:p>
        </p:txBody>
      </p:sp>
      <p:sp>
        <p:nvSpPr>
          <p:cNvPr id="2" name="editable-שאלות על המקורות שלכם">
            <a:extLst>
              <a:ext uri="{FF2B5EF4-FFF2-40B4-BE49-F238E27FC236}">
                <a16:creationId xmlns:a16="http://schemas.microsoft.com/office/drawing/2014/main" id="{DA0B9B69-7BE0-41AC-8A5D-031EC095406D}"/>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9D7655E7-A7AC-4DDD-AD2A-088C8B34BC46}"/>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CA000180-E0F2-49DE-BB98-25369A05D85C}"/>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23">
            <a:extLst>
              <a:ext uri="{FF2B5EF4-FFF2-40B4-BE49-F238E27FC236}">
                <a16:creationId xmlns:a16="http://schemas.microsoft.com/office/drawing/2014/main" id="{4469978D-0377-48AA-982D-135987DC65B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170333507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124668C0-39EB-41A5-938F-CCC1FD9AEF82}"/>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3BA898BB-564B-456A-876E-B4F27E2AF72C}"/>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32584356-7CE1-4A99-994D-748DD78B8350}"/>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00F503E7-17EF-4B7F-ABFF-231167C6F8EB}"/>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60DBAFF0-21A6-40EB-93FF-D108305F8FFE}"/>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36481D43-3CCA-4B7C-A070-5702DB610791}"/>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DF4F35C0-94F6-4610-A359-B3046F879D4F}"/>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24">
            <a:extLst>
              <a:ext uri="{FF2B5EF4-FFF2-40B4-BE49-F238E27FC236}">
                <a16:creationId xmlns:a16="http://schemas.microsoft.com/office/drawing/2014/main" id="{8C005AD7-0637-4655-B64F-0C12F6257F7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33580760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תירה, ציטוט וחסר">
            <a:extLst>
              <a:ext uri="{FF2B5EF4-FFF2-40B4-BE49-F238E27FC236}">
                <a16:creationId xmlns:a16="http://schemas.microsoft.com/office/drawing/2014/main" id="{9ACD1AAD-9A19-486A-9B67-295DC7F56438}"/>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סתירה, ציטוט וחסר</a:t>
            </a:r>
          </a:p>
        </p:txBody>
      </p:sp>
      <p:pic>
        <p:nvPicPr>
          <p:cNvPr id="2" name="תמונה 1">
            <a:extLst>
              <a:ext uri="{FF2B5EF4-FFF2-40B4-BE49-F238E27FC236}">
                <a16:creationId xmlns:a16="http://schemas.microsoft.com/office/drawing/2014/main" id="{CBF05EB0-DFAC-4E37-968A-26717CE303D2}"/>
              </a:ext>
            </a:extLst>
          </p:cNvPr>
          <p:cNvPicPr>
            <a:picLocks noChangeAspect="1"/>
          </p:cNvPicPr>
          <p:nvPr/>
        </p:nvPicPr>
        <p:blipFill>
          <a:blip r:embed="rId3"/>
          <a:stretch/>
        </p:blipFill>
        <p:spPr>
          <a:xfrm>
            <a:off x="857250" y="1094777"/>
            <a:ext cx="2333625" cy="248846"/>
          </a:xfrm>
          <a:prstGeom prst="rect">
            <a:avLst/>
          </a:prstGeom>
        </p:spPr>
      </p:pic>
      <p:sp>
        <p:nvSpPr>
          <p:cNvPr id="3" name="editable-על בסיס מסמכים א וב בלבד: מתי המפגש">
            <a:extLst>
              <a:ext uri="{FF2B5EF4-FFF2-40B4-BE49-F238E27FC236}">
                <a16:creationId xmlns:a16="http://schemas.microsoft.com/office/drawing/2014/main" id="{60ED1C0E-75B9-407C-A0E0-C69266785C25}"/>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על בסיס מסמכים א וב בלבד: מתי המפגש, באיזה חדר ומתי מגיעים? ציין מקור וסעיף לכל פרט. הסבר איזה משפט מכריע את הסתירה. אם מידע חסר, כתוב שלא נמצא.</a:t>
            </a:r>
          </a:p>
        </p:txBody>
      </p:sp>
      <p:sp>
        <p:nvSpPr>
          <p:cNvPr id="4" name="editable-הפרומפט המלא עם המקור מוכן להעתקה ב">
            <a:extLst>
              <a:ext uri="{FF2B5EF4-FFF2-40B4-BE49-F238E27FC236}">
                <a16:creationId xmlns:a16="http://schemas.microsoft.com/office/drawing/2014/main" id="{0228BBE0-797B-4DCC-B7AA-C24A81755BC8}"/>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0 / P11">
            <a:extLst>
              <a:ext uri="{FF2B5EF4-FFF2-40B4-BE49-F238E27FC236}">
                <a16:creationId xmlns:a16="http://schemas.microsoft.com/office/drawing/2014/main" id="{0AA85C01-A741-4C4F-B449-F88B8E3B622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a:t>
            </a:r>
          </a:p>
        </p:txBody>
      </p:sp>
      <p:sp>
        <p:nvSpPr>
          <p:cNvPr id="6" name="editable-25">
            <a:extLst>
              <a:ext uri="{FF2B5EF4-FFF2-40B4-BE49-F238E27FC236}">
                <a16:creationId xmlns:a16="http://schemas.microsoft.com/office/drawing/2014/main" id="{0C8A35AC-79B9-4394-B85F-59568AFE433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173193041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C2494C5C-0783-4F84-9137-D901A9DBE19B}"/>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BE8D8D04-4C2E-43B6-87C8-8FFE11C3AED5}"/>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252A3FAD-AF4F-468F-839F-4762DE2886A3}"/>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0C4A5EBA-AA72-4AAA-8474-AA9304841817}"/>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DFBCDCAC-A040-4DF4-ADDB-DE3857221C10}"/>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534556EF-345B-4477-B0F0-995A0F26151B}"/>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26">
            <a:extLst>
              <a:ext uri="{FF2B5EF4-FFF2-40B4-BE49-F238E27FC236}">
                <a16:creationId xmlns:a16="http://schemas.microsoft.com/office/drawing/2014/main" id="{4C1800A8-08D1-4106-A0CD-F15B309D216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107618211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בודה עם סוכן">
            <a:extLst>
              <a:ext uri="{FF2B5EF4-FFF2-40B4-BE49-F238E27FC236}">
                <a16:creationId xmlns:a16="http://schemas.microsoft.com/office/drawing/2014/main" id="{B734C0BE-0FF2-4688-B819-1A0C66CF7FDB}"/>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עבודה עם סוכן</a:t>
            </a:r>
          </a:p>
        </p:txBody>
      </p:sp>
      <p:sp>
        <p:nvSpPr>
          <p:cNvPr id="2" name="editable-מצ׳אט שמנסח תשובה&#10;לכלי שמתקדם לעבר ">
            <a:extLst>
              <a:ext uri="{FF2B5EF4-FFF2-40B4-BE49-F238E27FC236}">
                <a16:creationId xmlns:a16="http://schemas.microsoft.com/office/drawing/2014/main" id="{8F624177-965A-46A0-94EB-561D8491AF10}"/>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מצ׳אט שמנסח תשובה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לכלי שמתקדם לעבר מטרה</a:t>
            </a:r>
          </a:p>
        </p:txBody>
      </p:sp>
      <p:sp>
        <p:nvSpPr>
          <p:cNvPr id="3" name="editable-27">
            <a:extLst>
              <a:ext uri="{FF2B5EF4-FFF2-40B4-BE49-F238E27FC236}">
                <a16:creationId xmlns:a16="http://schemas.microsoft.com/office/drawing/2014/main" id="{D8DDA281-812B-49FA-A392-40312887AB6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27</a:t>
            </a:r>
          </a:p>
        </p:txBody>
      </p:sp>
    </p:spTree>
    <p:extLst>
      <p:ext uri="{BB962C8B-B14F-4D97-AF65-F5344CB8AC3E}">
        <p14:creationId xmlns:p14="http://schemas.microsoft.com/office/powerpoint/2010/main" val="114048967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מטרה אחת.&#10;כמה תוצרים.">
            <a:extLst>
              <a:ext uri="{FF2B5EF4-FFF2-40B4-BE49-F238E27FC236}">
                <a16:creationId xmlns:a16="http://schemas.microsoft.com/office/drawing/2014/main" id="{C40114BB-CEEB-49B1-8152-9F8E70B6A962}"/>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מטרה אחת.</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כמה תוצרים.</a:t>
            </a:r>
          </a:p>
        </p:txBody>
      </p:sp>
      <p:sp>
        <p:nvSpPr>
          <p:cNvPr id="2" name="editable-משימת היערכות ליום הדרכה">
            <a:extLst>
              <a:ext uri="{FF2B5EF4-FFF2-40B4-BE49-F238E27FC236}">
                <a16:creationId xmlns:a16="http://schemas.microsoft.com/office/drawing/2014/main" id="{1DD5924B-8B36-4A20-8EDE-C52B42C0A433}"/>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31112354-D5FA-4473-95BF-8553B8BE6ECC}"/>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3248FF39-C80A-499B-A1DF-90A2B53C739E}"/>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86C35146-E70C-4157-98D3-9DA26BFEDF3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8">
            <a:extLst>
              <a:ext uri="{FF2B5EF4-FFF2-40B4-BE49-F238E27FC236}">
                <a16:creationId xmlns:a16="http://schemas.microsoft.com/office/drawing/2014/main" id="{6D7EE95F-0A54-4F8C-A4DF-9303CCBBFB9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28</a:t>
            </a:r>
          </a:p>
        </p:txBody>
      </p:sp>
    </p:spTree>
    <p:extLst>
      <p:ext uri="{BB962C8B-B14F-4D97-AF65-F5344CB8AC3E}">
        <p14:creationId xmlns:p14="http://schemas.microsoft.com/office/powerpoint/2010/main" val="928450664"/>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הכנת יום הדרכה">
            <a:extLst>
              <a:ext uri="{FF2B5EF4-FFF2-40B4-BE49-F238E27FC236}">
                <a16:creationId xmlns:a16="http://schemas.microsoft.com/office/drawing/2014/main" id="{F39163DA-DBB8-4D34-8AA2-19652EF127AD}"/>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להכנת יום הדרכה</a:t>
            </a:r>
          </a:p>
        </p:txBody>
      </p:sp>
      <p:pic>
        <p:nvPicPr>
          <p:cNvPr id="2" name="תמונה 1">
            <a:extLst>
              <a:ext uri="{FF2B5EF4-FFF2-40B4-BE49-F238E27FC236}">
                <a16:creationId xmlns:a16="http://schemas.microsoft.com/office/drawing/2014/main" id="{9F2D3372-2CA9-48CE-B6E1-5A7578ACB326}"/>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ך ג בלבד, הכן תוכנית עבודה,">
            <a:extLst>
              <a:ext uri="{FF2B5EF4-FFF2-40B4-BE49-F238E27FC236}">
                <a16:creationId xmlns:a16="http://schemas.microsoft.com/office/drawing/2014/main" id="{C96AD3EF-A3D6-46D2-BA89-E28FEB277188}"/>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הכן תוכנית עבודה, רשימת בדיקות, חלוקת אחריות וטיוטת הודעה. בדוק שהתוצרים עקביים זה עם זה. סמן פרטים חסרים. אל תשלח, תפרסם או תרכוש דבר; עצור לאישור שלי.</a:t>
            </a:r>
          </a:p>
        </p:txBody>
      </p:sp>
      <p:sp>
        <p:nvSpPr>
          <p:cNvPr id="4" name="editable-הפרומפט המלא עם המקור מוכן להעתקה ב">
            <a:extLst>
              <a:ext uri="{FF2B5EF4-FFF2-40B4-BE49-F238E27FC236}">
                <a16:creationId xmlns:a16="http://schemas.microsoft.com/office/drawing/2014/main" id="{E0661E69-B143-4FCB-8723-4AC0D72A85FA}"/>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3">
            <a:extLst>
              <a:ext uri="{FF2B5EF4-FFF2-40B4-BE49-F238E27FC236}">
                <a16:creationId xmlns:a16="http://schemas.microsoft.com/office/drawing/2014/main" id="{55C975F8-A623-4460-901E-682858E1D29C}"/>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9">
            <a:extLst>
              <a:ext uri="{FF2B5EF4-FFF2-40B4-BE49-F238E27FC236}">
                <a16:creationId xmlns:a16="http://schemas.microsoft.com/office/drawing/2014/main" id="{BBAB7FC0-DD18-4638-97A6-5F29F9C86FE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175698821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ערכת הדרכה">
            <a:extLst>
              <a:ext uri="{FF2B5EF4-FFF2-40B4-BE49-F238E27FC236}">
                <a16:creationId xmlns:a16="http://schemas.microsoft.com/office/drawing/2014/main" id="{C8919619-01E7-457D-AFAE-F1A6CBFA0608}"/>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לערכת הדרכה</a:t>
            </a:r>
          </a:p>
        </p:txBody>
      </p:sp>
      <p:pic>
        <p:nvPicPr>
          <p:cNvPr id="2" name="תמונה 1">
            <a:extLst>
              <a:ext uri="{FF2B5EF4-FFF2-40B4-BE49-F238E27FC236}">
                <a16:creationId xmlns:a16="http://schemas.microsoft.com/office/drawing/2014/main" id="{755A193A-D82B-497D-B368-87771109FDD2}"/>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כים א וב, הכן דף שאלות למטו">
            <a:extLst>
              <a:ext uri="{FF2B5EF4-FFF2-40B4-BE49-F238E27FC236}">
                <a16:creationId xmlns:a16="http://schemas.microsoft.com/office/drawing/2014/main" id="{F94D0152-4729-4C9F-B3C7-D0393A0390AD}"/>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מסמכים א וב, הכן דף שאלות למטופלים, רשימת בדיקות לרכזת וטיוטת הודעה. השתמש בפרטים המעודכנים וציין מקורות. בדוק עקביות בין שלושת התוצרים. השאר פרטים חסרים לבירור ועצור לפני פרסום.</a:t>
            </a:r>
          </a:p>
        </p:txBody>
      </p:sp>
      <p:sp>
        <p:nvSpPr>
          <p:cNvPr id="4" name="editable-הפרומפט המלא עם המקור מוכן להעתקה ב">
            <a:extLst>
              <a:ext uri="{FF2B5EF4-FFF2-40B4-BE49-F238E27FC236}">
                <a16:creationId xmlns:a16="http://schemas.microsoft.com/office/drawing/2014/main" id="{5BA471F2-0C55-4CAA-9083-2B38EAB8F8C7}"/>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5">
            <a:extLst>
              <a:ext uri="{FF2B5EF4-FFF2-40B4-BE49-F238E27FC236}">
                <a16:creationId xmlns:a16="http://schemas.microsoft.com/office/drawing/2014/main" id="{CF491675-FAFF-4D3C-B1DC-36677ABCC76B}"/>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P15</a:t>
            </a:r>
          </a:p>
        </p:txBody>
      </p:sp>
      <p:sp>
        <p:nvSpPr>
          <p:cNvPr id="6" name="editable-30">
            <a:extLst>
              <a:ext uri="{FF2B5EF4-FFF2-40B4-BE49-F238E27FC236}">
                <a16:creationId xmlns:a16="http://schemas.microsoft.com/office/drawing/2014/main" id="{DEEDBCBF-5828-407B-B772-999B039643B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120697630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77F85DB1-4620-4C6B-B211-0B0808A94C30}"/>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CFFC4B76-CCCD-4DC8-865E-02460EEB98AA}"/>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31">
            <a:extLst>
              <a:ext uri="{FF2B5EF4-FFF2-40B4-BE49-F238E27FC236}">
                <a16:creationId xmlns:a16="http://schemas.microsoft.com/office/drawing/2014/main" id="{55123721-B83E-40AB-8349-9F1353D53CB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31</a:t>
            </a:r>
          </a:p>
        </p:txBody>
      </p:sp>
    </p:spTree>
    <p:extLst>
      <p:ext uri="{BB962C8B-B14F-4D97-AF65-F5344CB8AC3E}">
        <p14:creationId xmlns:p14="http://schemas.microsoft.com/office/powerpoint/2010/main" val="24327277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79783084-133D-4DAE-85A7-46F2A4091263}"/>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469A0F5B-0829-444E-B6CF-1A3DC87E6201}"/>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6ED1D42E-D482-4082-836E-8B71DC54EECC}"/>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בחרו משימה אחת&#10;בדקו שלושה תוצרים&#10;שפ">
            <a:extLst>
              <a:ext uri="{FF2B5EF4-FFF2-40B4-BE49-F238E27FC236}">
                <a16:creationId xmlns:a16="http://schemas.microsoft.com/office/drawing/2014/main" id="{6A9119B0-7C20-48E4-BCD8-6243CF10D870}"/>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משימה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בדקו שלושה תוצרים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שפרו לפני אישור</a:t>
            </a:r>
          </a:p>
        </p:txBody>
      </p:sp>
      <p:sp>
        <p:nvSpPr>
          <p:cNvPr id="5" name="editable-הפרומפט המלא בדף התרגול">
            <a:extLst>
              <a:ext uri="{FF2B5EF4-FFF2-40B4-BE49-F238E27FC236}">
                <a16:creationId xmlns:a16="http://schemas.microsoft.com/office/drawing/2014/main" id="{4FF24701-B5C9-48FD-8470-2D82561BB59F}"/>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 P15">
            <a:extLst>
              <a:ext uri="{FF2B5EF4-FFF2-40B4-BE49-F238E27FC236}">
                <a16:creationId xmlns:a16="http://schemas.microsoft.com/office/drawing/2014/main" id="{049A0FC6-09BA-4B54-B9A2-E007878E34C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 / P15</a:t>
            </a:r>
          </a:p>
        </p:txBody>
      </p:sp>
      <p:sp>
        <p:nvSpPr>
          <p:cNvPr id="7" name="editable-32">
            <a:extLst>
              <a:ext uri="{FF2B5EF4-FFF2-40B4-BE49-F238E27FC236}">
                <a16:creationId xmlns:a16="http://schemas.microsoft.com/office/drawing/2014/main" id="{AC4B00FB-BAD2-46F9-AA72-C2923111B0F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p:txBody>
      </p:sp>
    </p:spTree>
    <p:extLst>
      <p:ext uri="{BB962C8B-B14F-4D97-AF65-F5344CB8AC3E}">
        <p14:creationId xmlns:p14="http://schemas.microsoft.com/office/powerpoint/2010/main" val="155314385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מעבר לחלון הצ׳אט">
            <a:extLst>
              <a:ext uri="{FF2B5EF4-FFF2-40B4-BE49-F238E27FC236}">
                <a16:creationId xmlns:a16="http://schemas.microsoft.com/office/drawing/2014/main" id="{4FD67327-1AE2-4E60-8C91-80A6E282FA34}"/>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מעבר לחלון הצ׳אט</a:t>
            </a:r>
          </a:p>
        </p:txBody>
      </p:sp>
      <p:sp>
        <p:nvSpPr>
          <p:cNvPr id="2" name="editable-שלוש הצצות מההרצאה המקורית">
            <a:extLst>
              <a:ext uri="{FF2B5EF4-FFF2-40B4-BE49-F238E27FC236}">
                <a16:creationId xmlns:a16="http://schemas.microsoft.com/office/drawing/2014/main" id="{0A216E46-C26D-4D0E-B938-98E0C514CEEF}"/>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שלוש הצצות מההרצאה המקורית</a:t>
            </a:r>
          </a:p>
        </p:txBody>
      </p:sp>
      <p:sp>
        <p:nvSpPr>
          <p:cNvPr id="3" name="editable-33">
            <a:extLst>
              <a:ext uri="{FF2B5EF4-FFF2-40B4-BE49-F238E27FC236}">
                <a16:creationId xmlns:a16="http://schemas.microsoft.com/office/drawing/2014/main" id="{59532400-9A01-4973-BA31-F02E0120558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33</a:t>
            </a:r>
          </a:p>
        </p:txBody>
      </p:sp>
    </p:spTree>
    <p:extLst>
      <p:ext uri="{BB962C8B-B14F-4D97-AF65-F5344CB8AC3E}">
        <p14:creationId xmlns:p14="http://schemas.microsoft.com/office/powerpoint/2010/main" val="948661204"/>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חיזוי מבני חלבונים">
            <a:extLst>
              <a:ext uri="{FF2B5EF4-FFF2-40B4-BE49-F238E27FC236}">
                <a16:creationId xmlns:a16="http://schemas.microsoft.com/office/drawing/2014/main" id="{16E23750-9007-4AF3-8BFD-9EC3919A4AD3}"/>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חיזוי מבני חלבונים</a:t>
            </a:r>
          </a:p>
        </p:txBody>
      </p:sp>
      <p:sp>
        <p:nvSpPr>
          <p:cNvPr id="2" name="editable-פרס נובל בכימיה 2024">
            <a:extLst>
              <a:ext uri="{FF2B5EF4-FFF2-40B4-BE49-F238E27FC236}">
                <a16:creationId xmlns:a16="http://schemas.microsoft.com/office/drawing/2014/main" id="{C84BDC37-8857-45F8-8422-7DF27B705D87}"/>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פרס נובל בכימיה 2024</a:t>
            </a:r>
          </a:p>
        </p:txBody>
      </p:sp>
      <p:pic>
        <p:nvPicPr>
          <p:cNvPr id="3" name="תמונה 2">
            <a:extLst>
              <a:ext uri="{FF2B5EF4-FFF2-40B4-BE49-F238E27FC236}">
                <a16:creationId xmlns:a16="http://schemas.microsoft.com/office/drawing/2014/main" id="{30234EEA-9EA8-4502-BCA5-CEA76E2A7B36}"/>
              </a:ext>
            </a:extLst>
          </p:cNvPr>
          <p:cNvPicPr>
            <a:picLocks noChangeAspect="1"/>
          </p:cNvPicPr>
          <p:nvPr/>
        </p:nvPicPr>
        <p:blipFill>
          <a:blip r:embed="rId3"/>
          <a:stretch/>
        </p:blipFill>
        <p:spPr>
          <a:xfrm>
            <a:off x="2156448" y="1866900"/>
            <a:ext cx="7879104" cy="4248150"/>
          </a:xfrm>
          <a:prstGeom prst="rect">
            <a:avLst/>
          </a:prstGeom>
        </p:spPr>
      </p:pic>
      <p:sp>
        <p:nvSpPr>
          <p:cNvPr id="4" name="editable-34">
            <a:extLst>
              <a:ext uri="{FF2B5EF4-FFF2-40B4-BE49-F238E27FC236}">
                <a16:creationId xmlns:a16="http://schemas.microsoft.com/office/drawing/2014/main" id="{8DFB566B-1C79-4FEA-99BD-20480B8FFDD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p:txBody>
      </p:sp>
    </p:spTree>
    <p:extLst>
      <p:ext uri="{BB962C8B-B14F-4D97-AF65-F5344CB8AC3E}">
        <p14:creationId xmlns:p14="http://schemas.microsoft.com/office/powerpoint/2010/main" val="43082009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המסך לעולם הפיזי">
            <a:extLst>
              <a:ext uri="{FF2B5EF4-FFF2-40B4-BE49-F238E27FC236}">
                <a16:creationId xmlns:a16="http://schemas.microsoft.com/office/drawing/2014/main" id="{F8A8CDEC-A0C5-4628-939D-B7A0D6B93FE6}"/>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מהמסך לעולם הפיזי</a:t>
            </a:r>
          </a:p>
        </p:txBody>
      </p:sp>
      <p:sp>
        <p:nvSpPr>
          <p:cNvPr id="2" name="editable-הדגמת חברה בסביבה ביתית">
            <a:extLst>
              <a:ext uri="{FF2B5EF4-FFF2-40B4-BE49-F238E27FC236}">
                <a16:creationId xmlns:a16="http://schemas.microsoft.com/office/drawing/2014/main" id="{8E37C3FD-CBC6-49F1-882E-B653F84E5CBC}"/>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הדגמת חברה בסביבה ביתית</a:t>
            </a:r>
          </a:p>
        </p:txBody>
      </p:sp>
      <p:pic>
        <p:nvPicPr>
          <p:cNvPr id="3" name="תמונה 2">
            <a:extLst>
              <a:ext uri="{FF2B5EF4-FFF2-40B4-BE49-F238E27FC236}">
                <a16:creationId xmlns:a16="http://schemas.microsoft.com/office/drawing/2014/main" id="{BFAE57C1-8680-469B-9172-6BEDAFD254E8}"/>
              </a:ext>
            </a:extLst>
          </p:cNvPr>
          <p:cNvPicPr>
            <a:picLocks noChangeAspect="1"/>
          </p:cNvPicPr>
          <p:nvPr/>
        </p:nvPicPr>
        <p:blipFill>
          <a:blip r:embed="rId3"/>
          <a:stretch/>
        </p:blipFill>
        <p:spPr>
          <a:xfrm>
            <a:off x="2095500" y="1866900"/>
            <a:ext cx="8001000" cy="4500563"/>
          </a:xfrm>
          <a:prstGeom prst="rect">
            <a:avLst/>
          </a:prstGeom>
        </p:spPr>
      </p:pic>
      <p:sp>
        <p:nvSpPr>
          <p:cNvPr id="4" name="editable-הפעלת הסרטון">
            <a:extLst>
              <a:ext uri="{FF2B5EF4-FFF2-40B4-BE49-F238E27FC236}">
                <a16:creationId xmlns:a16="http://schemas.microsoft.com/office/drawing/2014/main" id="{42816C0F-ED1A-4534-953B-F48DD40B1E7C}"/>
              </a:ext>
            </a:extLst>
          </p:cNvPr>
          <p:cNvSpPr>
            <a:spLocks noGrp="1"/>
          </p:cNvSpPr>
          <p:nvPr/>
        </p:nvSpPr>
        <p:spPr>
          <a:xfrm>
            <a:off x="857250" y="6438900"/>
            <a:ext cx="2476500" cy="304800"/>
          </a:xfrm>
          <a:prstGeom prst="rect">
            <a:avLst/>
          </a:prstGeom>
          <a:noFill/>
          <a:ln w="0">
            <a:noFill/>
          </a:ln>
        </p:spPr>
        <p:txBody>
          <a:bodyPr lIns="0" tIns="0" rIns="0" bIns="0" anchor="ctr">
            <a:noAutofit/>
          </a:bodyPr>
          <a:lstStyle>
            <a:defPPr algn="r">
              <a:defRPr sz="1800" b="0">
                <a:solidFill>
                  <a:srgbClr val="4378AB"/>
                </a:solidFill>
                <a:latin typeface="Arial"/>
                <a:ea typeface="Arial"/>
                <a:cs typeface="Arial"/>
              </a:defRPr>
            </a:defPPr>
          </a:lstStyle>
          <a:p>
            <a:pPr algn="r" rtl="1">
              <a:defRPr sz="1800" b="0">
                <a:solidFill>
                  <a:srgbClr val="4378AB"/>
                </a:solidFill>
                <a:latin typeface="Arial"/>
                <a:ea typeface="Arial"/>
                <a:cs typeface="Arial"/>
              </a:defRPr>
            </a:pPr>
            <a:r>
              <a:rPr sz="1800" b="0">
                <a:solidFill>
                  <a:srgbClr val="4378AB"/>
                </a:solidFill>
                <a:latin typeface="Arial"/>
                <a:ea typeface="Arial"/>
                <a:cs typeface="Arial"/>
                <a:hlinkClick r:id="rId4"/>
              </a:rPr>
              <a:t>הפעלת הסרטון</a:t>
            </a:r>
          </a:p>
        </p:txBody>
      </p:sp>
      <p:sp>
        <p:nvSpPr>
          <p:cNvPr id="5" name="editable-35">
            <a:extLst>
              <a:ext uri="{FF2B5EF4-FFF2-40B4-BE49-F238E27FC236}">
                <a16:creationId xmlns:a16="http://schemas.microsoft.com/office/drawing/2014/main" id="{DDDF82AA-89D3-44B9-BBBF-5233DAFD12C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181235599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הייתם בודקים?">
            <a:extLst>
              <a:ext uri="{FF2B5EF4-FFF2-40B4-BE49-F238E27FC236}">
                <a16:creationId xmlns:a16="http://schemas.microsoft.com/office/drawing/2014/main" id="{B604421C-DE8C-4497-A6DE-9EFB29483157}"/>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איך הייתם בודקים?</a:t>
            </a:r>
          </a:p>
        </p:txBody>
      </p:sp>
      <p:sp>
        <p:nvSpPr>
          <p:cNvPr id="2" name="editable-גם תמונה משכנעת דורשת בדיקה">
            <a:extLst>
              <a:ext uri="{FF2B5EF4-FFF2-40B4-BE49-F238E27FC236}">
                <a16:creationId xmlns:a16="http://schemas.microsoft.com/office/drawing/2014/main" id="{9DC8C99C-DF41-41E2-B7CF-307DBB3A8AE7}"/>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גם תמונה משכנעת דורשת בדיקה</a:t>
            </a:r>
          </a:p>
        </p:txBody>
      </p:sp>
      <p:pic>
        <p:nvPicPr>
          <p:cNvPr id="3" name="תמונה 2">
            <a:extLst>
              <a:ext uri="{FF2B5EF4-FFF2-40B4-BE49-F238E27FC236}">
                <a16:creationId xmlns:a16="http://schemas.microsoft.com/office/drawing/2014/main" id="{A5B2406D-A5EB-4DB6-9766-6D8430FF4B72}"/>
              </a:ext>
            </a:extLst>
          </p:cNvPr>
          <p:cNvPicPr>
            <a:picLocks noChangeAspect="1"/>
          </p:cNvPicPr>
          <p:nvPr/>
        </p:nvPicPr>
        <p:blipFill>
          <a:blip r:embed="rId3"/>
          <a:stretch/>
        </p:blipFill>
        <p:spPr>
          <a:xfrm>
            <a:off x="3263900" y="1866900"/>
            <a:ext cx="5664200" cy="4248150"/>
          </a:xfrm>
          <a:prstGeom prst="rect">
            <a:avLst/>
          </a:prstGeom>
        </p:spPr>
      </p:pic>
      <p:sp>
        <p:nvSpPr>
          <p:cNvPr id="4" name="editable-36">
            <a:extLst>
              <a:ext uri="{FF2B5EF4-FFF2-40B4-BE49-F238E27FC236}">
                <a16:creationId xmlns:a16="http://schemas.microsoft.com/office/drawing/2014/main" id="{A7B9B133-2CEC-4817-976B-79E96B27120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36</a:t>
            </a:r>
          </a:p>
        </p:txBody>
      </p:sp>
    </p:spTree>
    <p:extLst>
      <p:ext uri="{BB962C8B-B14F-4D97-AF65-F5344CB8AC3E}">
        <p14:creationId xmlns:p14="http://schemas.microsoft.com/office/powerpoint/2010/main" val="200457677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4AB90C2F-F69C-4000-96DD-C929E8A4AC1F}"/>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EC701CC6-664F-40BC-818B-E0D5A342F63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30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37">
            <a:extLst>
              <a:ext uri="{FF2B5EF4-FFF2-40B4-BE49-F238E27FC236}">
                <a16:creationId xmlns:a16="http://schemas.microsoft.com/office/drawing/2014/main" id="{ACD0E471-3DA0-4D6D-995A-11F5E1DE9B8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196073622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6D19BFC9-7E15-4DFF-8975-EA05A5BF444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EAD1993B-0909-40B7-AF23-E8044D4FA08E}"/>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EA903F4E-2716-4853-B0BA-5E3C68DA9B4F}"/>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F81A696D-9BB5-48E6-A9A2-A48F1440F4B3}"/>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4848AADF-0CD7-451F-B4B2-1D490CCA361D}"/>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38">
            <a:extLst>
              <a:ext uri="{FF2B5EF4-FFF2-40B4-BE49-F238E27FC236}">
                <a16:creationId xmlns:a16="http://schemas.microsoft.com/office/drawing/2014/main" id="{2C653D09-3AAF-4C9B-97EB-242E4E3CEB5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p:txBody>
      </p:sp>
    </p:spTree>
    <p:extLst>
      <p:ext uri="{BB962C8B-B14F-4D97-AF65-F5344CB8AC3E}">
        <p14:creationId xmlns:p14="http://schemas.microsoft.com/office/powerpoint/2010/main" val="154054596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10005</Words>
  <Application>Microsoft Office PowerPoint</Application>
  <DocSecurity>0</DocSecurity>
  <PresentationFormat>מסך רחב</PresentationFormat>
  <Paragraphs>771</Paragraphs>
  <Slides>38</Slides>
  <Notes>38</Notes>
  <HiddenSlides>2</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38</vt:i4>
      </vt:variant>
    </vt:vector>
  </HeadingPairs>
  <TitlesOfParts>
    <vt:vector size="41"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2</cp:revision>
  <dcterms:created xsi:type="dcterms:W3CDTF">2026-10-14T05:50:07Z</dcterms:created>
  <dcterms:modified xsi:type="dcterms:W3CDTF">2026-10-14T05:50:25Z</dcterms:modified>
</cp:coreProperties>
</file>